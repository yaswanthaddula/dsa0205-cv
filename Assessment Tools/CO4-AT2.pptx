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6" r:id="rId3"/>
    <p:sldId id="258" r:id="rId4"/>
  </p:sldIdLst>
  <p:sldSz cx="13990638" cy="9966325"/>
  <p:notesSz cx="9966325" cy="13990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9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747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5CC238EC-7089-A042-4E3B-29227612C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EE94794-BE84-5A14-3CFB-9D2199E6AAD7}"/>
              </a:ext>
            </a:extLst>
          </p:cNvPr>
          <p:cNvSpPr txBox="1"/>
          <p:nvPr/>
        </p:nvSpPr>
        <p:spPr>
          <a:xfrm>
            <a:off x="3735887" y="4441748"/>
            <a:ext cx="6995786" cy="1938992"/>
          </a:xfrm>
          <a:prstGeom prst="rect">
            <a:avLst/>
          </a:prstGeom>
          <a:noFill/>
        </p:spPr>
        <p:txBody>
          <a:bodyPr wrap="square">
            <a:spAutoFit/>
          </a:bodyPr>
          <a:lstStyle/>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DSA0205-Computer Vision with Open CV</a:t>
            </a:r>
          </a:p>
          <a:p>
            <a:pPr algn="ctr"/>
            <a:endParaRPr lang="en-IN" sz="3000"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Guided By</a:t>
            </a: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Dr. </a:t>
            </a:r>
            <a:r>
              <a:rPr lang="en-IN" sz="3000" dirty="0" err="1">
                <a:latin typeface="Times New Roman" panose="02020603050405020304" pitchFamily="18" charset="0"/>
                <a:ea typeface="Tahoma" panose="020B0604030504040204" pitchFamily="34" charset="0"/>
                <a:cs typeface="Times New Roman" panose="02020603050405020304" pitchFamily="18" charset="0"/>
              </a:rPr>
              <a:t>Narenthira</a:t>
            </a:r>
            <a:r>
              <a:rPr lang="en-IN" sz="3000" dirty="0">
                <a:latin typeface="Times New Roman" panose="02020603050405020304" pitchFamily="18" charset="0"/>
                <a:ea typeface="Tahoma" panose="020B0604030504040204" pitchFamily="34" charset="0"/>
                <a:cs typeface="Times New Roman" panose="02020603050405020304" pitchFamily="18" charset="0"/>
              </a:rPr>
              <a:t> Kumar A</a:t>
            </a:r>
            <a:endParaRPr lang="en-IN" sz="1800" dirty="0"/>
          </a:p>
        </p:txBody>
      </p:sp>
      <p:sp>
        <p:nvSpPr>
          <p:cNvPr id="6" name="TextBox 5">
            <a:extLst>
              <a:ext uri="{FF2B5EF4-FFF2-40B4-BE49-F238E27FC236}">
                <a16:creationId xmlns:a16="http://schemas.microsoft.com/office/drawing/2014/main" id="{3A7DF9C0-E8A5-96C1-78A7-63A97F2248CB}"/>
              </a:ext>
            </a:extLst>
          </p:cNvPr>
          <p:cNvSpPr txBox="1"/>
          <p:nvPr/>
        </p:nvSpPr>
        <p:spPr>
          <a:xfrm>
            <a:off x="7866345" y="8013422"/>
            <a:ext cx="6425852" cy="1692771"/>
          </a:xfrm>
          <a:prstGeom prst="rect">
            <a:avLst/>
          </a:prstGeom>
          <a:noFill/>
        </p:spPr>
        <p:txBody>
          <a:bodyPr wrap="square" rtlCol="0">
            <a:spAutoFit/>
          </a:bodyPr>
          <a:lstStyle/>
          <a:p>
            <a:r>
              <a:rPr lang="en-IN" sz="2600" b="1" dirty="0">
                <a:latin typeface="Times New Roman" panose="02020603050405020304" pitchFamily="18" charset="0"/>
                <a:ea typeface="Tahoma" panose="020B0604030504040204" pitchFamily="34" charset="0"/>
                <a:cs typeface="Times New Roman" panose="02020603050405020304" pitchFamily="18" charset="0"/>
              </a:rPr>
              <a:t>Name: A. Yaswanth</a:t>
            </a:r>
          </a:p>
          <a:p>
            <a:r>
              <a:rPr lang="en-IN" sz="2600" b="1" dirty="0">
                <a:latin typeface="Times New Roman" panose="02020603050405020304" pitchFamily="18" charset="0"/>
                <a:ea typeface="Tahoma" panose="020B0604030504040204" pitchFamily="34" charset="0"/>
                <a:cs typeface="Times New Roman" panose="02020603050405020304" pitchFamily="18" charset="0"/>
              </a:rPr>
              <a:t>Reg. No: 192324179</a:t>
            </a:r>
          </a:p>
          <a:p>
            <a:r>
              <a:rPr lang="en-IN" sz="2600" b="1" dirty="0">
                <a:latin typeface="Times New Roman" panose="02020603050405020304" pitchFamily="18" charset="0"/>
                <a:ea typeface="Tahoma" panose="020B0604030504040204" pitchFamily="34" charset="0"/>
                <a:cs typeface="Times New Roman" panose="02020603050405020304" pitchFamily="18" charset="0"/>
              </a:rPr>
              <a:t>Artificial Intelligence and Data Science</a:t>
            </a:r>
          </a:p>
          <a:p>
            <a:endParaRPr lang="en-IN" sz="2600" dirty="0"/>
          </a:p>
        </p:txBody>
      </p:sp>
      <p:sp>
        <p:nvSpPr>
          <p:cNvPr id="7" name="TextBox 6">
            <a:extLst>
              <a:ext uri="{FF2B5EF4-FFF2-40B4-BE49-F238E27FC236}">
                <a16:creationId xmlns:a16="http://schemas.microsoft.com/office/drawing/2014/main" id="{D8756C06-30F3-6EBD-B96A-083DCAA97308}"/>
              </a:ext>
            </a:extLst>
          </p:cNvPr>
          <p:cNvSpPr txBox="1"/>
          <p:nvPr/>
        </p:nvSpPr>
        <p:spPr>
          <a:xfrm>
            <a:off x="2912300" y="2727840"/>
            <a:ext cx="8642959" cy="113877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GMM-Based Foreground Extraction for Green-Screen-Free Video Compositing</a:t>
            </a:r>
            <a:endParaRPr lang="en-IN" sz="3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354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73152"/>
            <a:ext cx="13990320" cy="777240"/>
          </a:xfrm>
          <a:prstGeom prst="rect">
            <a:avLst/>
          </a:prstGeom>
          <a:noFill/>
          <a:ln/>
        </p:spPr>
        <p:txBody>
          <a:bodyPr wrap="square" rtlCol="0" anchor="ctr"/>
          <a:lstStyle/>
          <a:p>
            <a:pPr marL="0" indent="0" algn="ctr">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GMM-Based Foreground Extraction for</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a:p>
            <a:pPr marL="0" indent="0" algn="ctr">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Green-Screen-Free Video Compositing</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Shape 1"/>
          <p:cNvSpPr/>
          <p:nvPr/>
        </p:nvSpPr>
        <p:spPr>
          <a:xfrm>
            <a:off x="137160" y="960120"/>
            <a:ext cx="2148840" cy="4617720"/>
          </a:xfrm>
          <a:prstGeom prst="roundRect">
            <a:avLst>
              <a:gd name="adj" fmla="val 2128"/>
            </a:avLst>
          </a:prstGeom>
          <a:solidFill>
            <a:srgbClr val="FFFFFF"/>
          </a:solidFill>
          <a:ln w="19050">
            <a:solidFill>
              <a:srgbClr val="3D85C6"/>
            </a:solidFill>
            <a:prstDash val="solid"/>
          </a:ln>
        </p:spPr>
      </p:sp>
      <p:sp>
        <p:nvSpPr>
          <p:cNvPr id="4" name="Shape 2"/>
          <p:cNvSpPr/>
          <p:nvPr/>
        </p:nvSpPr>
        <p:spPr>
          <a:xfrm>
            <a:off x="137160" y="960120"/>
            <a:ext cx="2148840" cy="365760"/>
          </a:xfrm>
          <a:prstGeom prst="roundRect">
            <a:avLst>
              <a:gd name="adj" fmla="val 15000"/>
            </a:avLst>
          </a:prstGeom>
          <a:solidFill>
            <a:srgbClr val="CFE2F3"/>
          </a:solidFill>
          <a:ln w="15875">
            <a:solidFill>
              <a:srgbClr val="3D85C6"/>
            </a:solidFill>
            <a:prstDash val="solid"/>
          </a:ln>
        </p:spPr>
      </p:sp>
      <p:sp>
        <p:nvSpPr>
          <p:cNvPr id="5" name="Text 3"/>
          <p:cNvSpPr/>
          <p:nvPr/>
        </p:nvSpPr>
        <p:spPr>
          <a:xfrm>
            <a:off x="137160" y="960120"/>
            <a:ext cx="214884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1. Video Input</a:t>
            </a:r>
            <a:endParaRPr lang="en-US" sz="1250" dirty="0">
              <a:latin typeface="Times New Roman" panose="02020603050405020304" pitchFamily="18" charset="0"/>
              <a:cs typeface="Times New Roman" panose="02020603050405020304" pitchFamily="18" charset="0"/>
            </a:endParaRPr>
          </a:p>
        </p:txBody>
      </p:sp>
      <p:sp>
        <p:nvSpPr>
          <p:cNvPr id="6" name="Shape 4"/>
          <p:cNvSpPr/>
          <p:nvPr/>
        </p:nvSpPr>
        <p:spPr>
          <a:xfrm>
            <a:off x="2395728" y="960120"/>
            <a:ext cx="2011680" cy="4617720"/>
          </a:xfrm>
          <a:prstGeom prst="roundRect">
            <a:avLst>
              <a:gd name="adj" fmla="val 2273"/>
            </a:avLst>
          </a:prstGeom>
          <a:solidFill>
            <a:srgbClr val="FFFFFF"/>
          </a:solidFill>
          <a:ln w="19050">
            <a:solidFill>
              <a:srgbClr val="6AA84F"/>
            </a:solidFill>
            <a:prstDash val="solid"/>
          </a:ln>
        </p:spPr>
      </p:sp>
      <p:sp>
        <p:nvSpPr>
          <p:cNvPr id="7" name="Shape 5"/>
          <p:cNvSpPr/>
          <p:nvPr/>
        </p:nvSpPr>
        <p:spPr>
          <a:xfrm>
            <a:off x="2395728" y="960120"/>
            <a:ext cx="2011680" cy="365760"/>
          </a:xfrm>
          <a:prstGeom prst="roundRect">
            <a:avLst>
              <a:gd name="adj" fmla="val 15000"/>
            </a:avLst>
          </a:prstGeom>
          <a:solidFill>
            <a:srgbClr val="D9EAD3"/>
          </a:solidFill>
          <a:ln w="15875">
            <a:solidFill>
              <a:srgbClr val="6AA84F"/>
            </a:solidFill>
            <a:prstDash val="solid"/>
          </a:ln>
        </p:spPr>
      </p:sp>
      <p:sp>
        <p:nvSpPr>
          <p:cNvPr id="8" name="Text 6"/>
          <p:cNvSpPr/>
          <p:nvPr/>
        </p:nvSpPr>
        <p:spPr>
          <a:xfrm>
            <a:off x="2395728" y="960120"/>
            <a:ext cx="201168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2. Preprocessing</a:t>
            </a:r>
            <a:endParaRPr lang="en-US" sz="1250" dirty="0">
              <a:latin typeface="Times New Roman" panose="02020603050405020304" pitchFamily="18" charset="0"/>
              <a:cs typeface="Times New Roman" panose="02020603050405020304" pitchFamily="18" charset="0"/>
            </a:endParaRPr>
          </a:p>
        </p:txBody>
      </p:sp>
      <p:sp>
        <p:nvSpPr>
          <p:cNvPr id="9" name="Shape 7"/>
          <p:cNvSpPr/>
          <p:nvPr/>
        </p:nvSpPr>
        <p:spPr>
          <a:xfrm>
            <a:off x="4517136" y="960120"/>
            <a:ext cx="2331720" cy="4617720"/>
          </a:xfrm>
          <a:prstGeom prst="roundRect">
            <a:avLst>
              <a:gd name="adj" fmla="val 1961"/>
            </a:avLst>
          </a:prstGeom>
          <a:solidFill>
            <a:srgbClr val="FFFFFF"/>
          </a:solidFill>
          <a:ln w="19050">
            <a:solidFill>
              <a:srgbClr val="BF9000"/>
            </a:solidFill>
            <a:prstDash val="solid"/>
          </a:ln>
        </p:spPr>
      </p:sp>
      <p:sp>
        <p:nvSpPr>
          <p:cNvPr id="10" name="Shape 8"/>
          <p:cNvSpPr/>
          <p:nvPr/>
        </p:nvSpPr>
        <p:spPr>
          <a:xfrm>
            <a:off x="4517136" y="960120"/>
            <a:ext cx="2331720" cy="365760"/>
          </a:xfrm>
          <a:prstGeom prst="roundRect">
            <a:avLst>
              <a:gd name="adj" fmla="val 15000"/>
            </a:avLst>
          </a:prstGeom>
          <a:solidFill>
            <a:srgbClr val="FFF2CC"/>
          </a:solidFill>
          <a:ln w="15875">
            <a:solidFill>
              <a:srgbClr val="BF9000"/>
            </a:solidFill>
            <a:prstDash val="solid"/>
          </a:ln>
        </p:spPr>
      </p:sp>
      <p:sp>
        <p:nvSpPr>
          <p:cNvPr id="11" name="Text 9"/>
          <p:cNvSpPr/>
          <p:nvPr/>
        </p:nvSpPr>
        <p:spPr>
          <a:xfrm>
            <a:off x="4517136" y="960120"/>
            <a:ext cx="233172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3. GMM Background Modeling</a:t>
            </a:r>
            <a:endParaRPr lang="en-US" sz="1250" dirty="0">
              <a:latin typeface="Times New Roman" panose="02020603050405020304" pitchFamily="18" charset="0"/>
              <a:cs typeface="Times New Roman" panose="02020603050405020304" pitchFamily="18" charset="0"/>
            </a:endParaRPr>
          </a:p>
        </p:txBody>
      </p:sp>
      <p:sp>
        <p:nvSpPr>
          <p:cNvPr id="12" name="Shape 10"/>
          <p:cNvSpPr/>
          <p:nvPr/>
        </p:nvSpPr>
        <p:spPr>
          <a:xfrm>
            <a:off x="6958584" y="960120"/>
            <a:ext cx="2240280" cy="4617720"/>
          </a:xfrm>
          <a:prstGeom prst="roundRect">
            <a:avLst>
              <a:gd name="adj" fmla="val 2041"/>
            </a:avLst>
          </a:prstGeom>
          <a:solidFill>
            <a:srgbClr val="FFFFFF"/>
          </a:solidFill>
          <a:ln w="19050">
            <a:solidFill>
              <a:srgbClr val="8E5FC5"/>
            </a:solidFill>
            <a:prstDash val="solid"/>
          </a:ln>
        </p:spPr>
      </p:sp>
      <p:sp>
        <p:nvSpPr>
          <p:cNvPr id="13" name="Shape 11"/>
          <p:cNvSpPr/>
          <p:nvPr/>
        </p:nvSpPr>
        <p:spPr>
          <a:xfrm>
            <a:off x="6958584" y="960120"/>
            <a:ext cx="2240280" cy="365760"/>
          </a:xfrm>
          <a:prstGeom prst="roundRect">
            <a:avLst>
              <a:gd name="adj" fmla="val 15000"/>
            </a:avLst>
          </a:prstGeom>
          <a:solidFill>
            <a:srgbClr val="E5D8F0"/>
          </a:solidFill>
          <a:ln w="15875">
            <a:solidFill>
              <a:srgbClr val="8E5FC5"/>
            </a:solidFill>
            <a:prstDash val="solid"/>
          </a:ln>
        </p:spPr>
      </p:sp>
      <p:sp>
        <p:nvSpPr>
          <p:cNvPr id="14" name="Text 12"/>
          <p:cNvSpPr/>
          <p:nvPr/>
        </p:nvSpPr>
        <p:spPr>
          <a:xfrm>
            <a:off x="6958584" y="960120"/>
            <a:ext cx="224028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4. Mask Refinement</a:t>
            </a:r>
            <a:endParaRPr lang="en-US" sz="1250" dirty="0">
              <a:latin typeface="Times New Roman" panose="02020603050405020304" pitchFamily="18" charset="0"/>
              <a:cs typeface="Times New Roman" panose="02020603050405020304" pitchFamily="18" charset="0"/>
            </a:endParaRPr>
          </a:p>
        </p:txBody>
      </p:sp>
      <p:sp>
        <p:nvSpPr>
          <p:cNvPr id="15" name="Shape 13"/>
          <p:cNvSpPr/>
          <p:nvPr/>
        </p:nvSpPr>
        <p:spPr>
          <a:xfrm>
            <a:off x="9308592" y="960120"/>
            <a:ext cx="2240280" cy="4617720"/>
          </a:xfrm>
          <a:prstGeom prst="roundRect">
            <a:avLst>
              <a:gd name="adj" fmla="val 2041"/>
            </a:avLst>
          </a:prstGeom>
          <a:solidFill>
            <a:srgbClr val="FFFFFF"/>
          </a:solidFill>
          <a:ln w="19050">
            <a:solidFill>
              <a:srgbClr val="E69138"/>
            </a:solidFill>
            <a:prstDash val="solid"/>
          </a:ln>
        </p:spPr>
      </p:sp>
      <p:sp>
        <p:nvSpPr>
          <p:cNvPr id="16" name="Shape 14"/>
          <p:cNvSpPr/>
          <p:nvPr/>
        </p:nvSpPr>
        <p:spPr>
          <a:xfrm>
            <a:off x="9308592" y="960120"/>
            <a:ext cx="2240280" cy="365760"/>
          </a:xfrm>
          <a:prstGeom prst="roundRect">
            <a:avLst>
              <a:gd name="adj" fmla="val 15000"/>
            </a:avLst>
          </a:prstGeom>
          <a:solidFill>
            <a:srgbClr val="FCE5CD"/>
          </a:solidFill>
          <a:ln w="15875">
            <a:solidFill>
              <a:srgbClr val="E69138"/>
            </a:solidFill>
            <a:prstDash val="solid"/>
          </a:ln>
        </p:spPr>
      </p:sp>
      <p:sp>
        <p:nvSpPr>
          <p:cNvPr id="17" name="Text 15"/>
          <p:cNvSpPr/>
          <p:nvPr/>
        </p:nvSpPr>
        <p:spPr>
          <a:xfrm>
            <a:off x="9308592" y="960120"/>
            <a:ext cx="224028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5. Compositing Module</a:t>
            </a:r>
            <a:endParaRPr lang="en-US" sz="1250" dirty="0">
              <a:latin typeface="Times New Roman" panose="02020603050405020304" pitchFamily="18" charset="0"/>
              <a:cs typeface="Times New Roman" panose="02020603050405020304" pitchFamily="18" charset="0"/>
            </a:endParaRPr>
          </a:p>
        </p:txBody>
      </p:sp>
      <p:sp>
        <p:nvSpPr>
          <p:cNvPr id="18" name="Shape 16"/>
          <p:cNvSpPr/>
          <p:nvPr/>
        </p:nvSpPr>
        <p:spPr>
          <a:xfrm>
            <a:off x="11658600" y="960120"/>
            <a:ext cx="2194560" cy="4617720"/>
          </a:xfrm>
          <a:prstGeom prst="roundRect">
            <a:avLst>
              <a:gd name="adj" fmla="val 2083"/>
            </a:avLst>
          </a:prstGeom>
          <a:solidFill>
            <a:srgbClr val="FFFFFF"/>
          </a:solidFill>
          <a:ln w="19050">
            <a:solidFill>
              <a:srgbClr val="3D6FA5"/>
            </a:solidFill>
            <a:prstDash val="solid"/>
          </a:ln>
        </p:spPr>
      </p:sp>
      <p:sp>
        <p:nvSpPr>
          <p:cNvPr id="19" name="Shape 17"/>
          <p:cNvSpPr/>
          <p:nvPr/>
        </p:nvSpPr>
        <p:spPr>
          <a:xfrm>
            <a:off x="11658600" y="960120"/>
            <a:ext cx="2194560" cy="365760"/>
          </a:xfrm>
          <a:prstGeom prst="roundRect">
            <a:avLst>
              <a:gd name="adj" fmla="val 15000"/>
            </a:avLst>
          </a:prstGeom>
          <a:solidFill>
            <a:srgbClr val="DCE9F7"/>
          </a:solidFill>
          <a:ln w="15875">
            <a:solidFill>
              <a:srgbClr val="3D6FA5"/>
            </a:solidFill>
            <a:prstDash val="solid"/>
          </a:ln>
        </p:spPr>
      </p:sp>
      <p:sp>
        <p:nvSpPr>
          <p:cNvPr id="20" name="Text 18"/>
          <p:cNvSpPr/>
          <p:nvPr/>
        </p:nvSpPr>
        <p:spPr>
          <a:xfrm>
            <a:off x="11658600" y="960120"/>
            <a:ext cx="2194560" cy="365760"/>
          </a:xfrm>
          <a:prstGeom prst="rect">
            <a:avLst/>
          </a:prstGeom>
          <a:noFill/>
          <a:ln/>
        </p:spPr>
        <p:txBody>
          <a:bodyPr wrap="square" rtlCol="0" anchor="ctr"/>
          <a:lstStyle/>
          <a:p>
            <a:pPr marL="0" indent="0" algn="ctr">
              <a:buNone/>
            </a:pPr>
            <a:r>
              <a:rPr lang="en-US" sz="1250" b="1" dirty="0">
                <a:solidFill>
                  <a:srgbClr val="111111"/>
                </a:solidFill>
                <a:latin typeface="Times New Roman" panose="02020603050405020304" pitchFamily="18" charset="0"/>
                <a:ea typeface="Calibri" pitchFamily="34" charset="-122"/>
                <a:cs typeface="Times New Roman" panose="02020603050405020304" pitchFamily="18" charset="0"/>
              </a:rPr>
              <a:t>6. Output</a:t>
            </a:r>
            <a:endParaRPr lang="en-US" sz="1250" dirty="0">
              <a:latin typeface="Times New Roman" panose="02020603050405020304" pitchFamily="18" charset="0"/>
              <a:cs typeface="Times New Roman" panose="02020603050405020304" pitchFamily="18" charset="0"/>
            </a:endParaRPr>
          </a:p>
        </p:txBody>
      </p:sp>
      <p:sp>
        <p:nvSpPr>
          <p:cNvPr id="21" name="Text 19"/>
          <p:cNvSpPr/>
          <p:nvPr/>
        </p:nvSpPr>
        <p:spPr>
          <a:xfrm>
            <a:off x="137160" y="1399032"/>
            <a:ext cx="2148840" cy="320040"/>
          </a:xfrm>
          <a:prstGeom prst="rect">
            <a:avLst/>
          </a:prstGeom>
          <a:noFill/>
          <a:ln/>
        </p:spPr>
        <p:txBody>
          <a:bodyPr wrap="square" rtlCol="0" anchor="ctr"/>
          <a:lstStyle/>
          <a:p>
            <a:pPr marL="0" indent="0" algn="ctr">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Capture Video Stream</a:t>
            </a:r>
            <a:endParaRPr lang="en-US" sz="1150" dirty="0">
              <a:latin typeface="Times New Roman" panose="02020603050405020304" pitchFamily="18" charset="0"/>
              <a:cs typeface="Times New Roman" panose="02020603050405020304" pitchFamily="18" charset="0"/>
            </a:endParaRPr>
          </a:p>
        </p:txBody>
      </p:sp>
      <p:pic>
        <p:nvPicPr>
          <p:cNvPr id="22" name="Image 0" descr="frame_input.png"/>
          <p:cNvPicPr>
            <a:picLocks noChangeAspect="1"/>
          </p:cNvPicPr>
          <p:nvPr/>
        </p:nvPicPr>
        <p:blipFill>
          <a:blip r:embed="rId3"/>
          <a:stretch>
            <a:fillRect/>
          </a:stretch>
        </p:blipFill>
        <p:spPr>
          <a:xfrm>
            <a:off x="320040" y="1783080"/>
            <a:ext cx="1783080" cy="1234440"/>
          </a:xfrm>
          <a:prstGeom prst="rect">
            <a:avLst/>
          </a:prstGeom>
        </p:spPr>
      </p:pic>
      <p:sp>
        <p:nvSpPr>
          <p:cNvPr id="23" name="Text 20"/>
          <p:cNvSpPr/>
          <p:nvPr/>
        </p:nvSpPr>
        <p:spPr>
          <a:xfrm>
            <a:off x="137160" y="3044952"/>
            <a:ext cx="2148840" cy="274320"/>
          </a:xfrm>
          <a:prstGeom prst="rect">
            <a:avLst/>
          </a:prstGeom>
          <a:noFill/>
          <a:ln/>
        </p:spPr>
        <p:txBody>
          <a:bodyPr wrap="square" rtlCol="0" anchor="ctr"/>
          <a:lstStyle/>
          <a:p>
            <a:pPr marL="0" indent="0" algn="ctr">
              <a:buNone/>
            </a:pPr>
            <a:r>
              <a:rPr lang="en-US" sz="950" i="1" dirty="0">
                <a:solidFill>
                  <a:srgbClr val="555555"/>
                </a:solidFill>
                <a:latin typeface="Calibri" pitchFamily="34" charset="0"/>
                <a:ea typeface="Calibri" pitchFamily="34" charset="-122"/>
                <a:cs typeface="Calibri" pitchFamily="34" charset="-120"/>
              </a:rPr>
              <a:t>Sample Video Frame</a:t>
            </a:r>
            <a:endParaRPr lang="en-US" sz="950" dirty="0"/>
          </a:p>
        </p:txBody>
      </p:sp>
      <p:pic>
        <p:nvPicPr>
          <p:cNvPr id="24" name="Image 1" descr="icons/video.png"/>
          <p:cNvPicPr>
            <a:picLocks noChangeAspect="1"/>
          </p:cNvPicPr>
          <p:nvPr/>
        </p:nvPicPr>
        <p:blipFill>
          <a:blip r:embed="rId4"/>
          <a:stretch>
            <a:fillRect/>
          </a:stretch>
        </p:blipFill>
        <p:spPr>
          <a:xfrm>
            <a:off x="411480" y="3474720"/>
            <a:ext cx="457200" cy="457200"/>
          </a:xfrm>
          <a:prstGeom prst="rect">
            <a:avLst/>
          </a:prstGeom>
        </p:spPr>
      </p:pic>
      <p:pic>
        <p:nvPicPr>
          <p:cNvPr id="25" name="Image 2" descr="icons/folder.png"/>
          <p:cNvPicPr>
            <a:picLocks noChangeAspect="1"/>
          </p:cNvPicPr>
          <p:nvPr/>
        </p:nvPicPr>
        <p:blipFill>
          <a:blip r:embed="rId5"/>
          <a:stretch>
            <a:fillRect/>
          </a:stretch>
        </p:blipFill>
        <p:spPr>
          <a:xfrm>
            <a:off x="1554480" y="3474720"/>
            <a:ext cx="457200" cy="457200"/>
          </a:xfrm>
          <a:prstGeom prst="rect">
            <a:avLst/>
          </a:prstGeom>
        </p:spPr>
      </p:pic>
      <p:sp>
        <p:nvSpPr>
          <p:cNvPr id="26" name="Text 21"/>
          <p:cNvSpPr/>
          <p:nvPr/>
        </p:nvSpPr>
        <p:spPr>
          <a:xfrm>
            <a:off x="137160" y="4023360"/>
            <a:ext cx="2148840" cy="274320"/>
          </a:xfrm>
          <a:prstGeom prst="rect">
            <a:avLst/>
          </a:prstGeom>
          <a:noFill/>
          <a:ln/>
        </p:spPr>
        <p:txBody>
          <a:bodyPr wrap="square" rtlCol="0" anchor="ctr"/>
          <a:lstStyle/>
          <a:p>
            <a:pPr marL="0" indent="0" algn="ctr">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Webcam / Video File</a:t>
            </a:r>
            <a:endParaRPr lang="en-US" sz="1000" dirty="0">
              <a:latin typeface="Times New Roman" panose="02020603050405020304" pitchFamily="18" charset="0"/>
              <a:cs typeface="Times New Roman" panose="02020603050405020304" pitchFamily="18" charset="0"/>
            </a:endParaRPr>
          </a:p>
        </p:txBody>
      </p:sp>
      <p:sp>
        <p:nvSpPr>
          <p:cNvPr id="27" name="Text 22"/>
          <p:cNvSpPr/>
          <p:nvPr/>
        </p:nvSpPr>
        <p:spPr>
          <a:xfrm>
            <a:off x="228600" y="4389120"/>
            <a:ext cx="1965960" cy="594360"/>
          </a:xfrm>
          <a:prstGeom prst="rect">
            <a:avLst/>
          </a:prstGeom>
          <a:noFill/>
          <a:ln/>
        </p:spPr>
        <p:txBody>
          <a:bodyPr wrap="square" rtlCol="0" anchor="ctr"/>
          <a:lstStyle/>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Frame-by-Frame</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Extraction (OpenCV)</a:t>
            </a:r>
            <a:endParaRPr lang="en-US" sz="1000" dirty="0">
              <a:latin typeface="Times New Roman" panose="02020603050405020304" pitchFamily="18" charset="0"/>
              <a:cs typeface="Times New Roman" panose="02020603050405020304" pitchFamily="18" charset="0"/>
            </a:endParaRPr>
          </a:p>
        </p:txBody>
      </p:sp>
      <p:sp>
        <p:nvSpPr>
          <p:cNvPr id="28" name="Shape 23"/>
          <p:cNvSpPr/>
          <p:nvPr/>
        </p:nvSpPr>
        <p:spPr>
          <a:xfrm>
            <a:off x="2505456" y="1463040"/>
            <a:ext cx="1792224" cy="777240"/>
          </a:xfrm>
          <a:prstGeom prst="roundRect">
            <a:avLst>
              <a:gd name="adj" fmla="val 7059"/>
            </a:avLst>
          </a:prstGeom>
          <a:solidFill>
            <a:srgbClr val="FFFFFF"/>
          </a:solidFill>
          <a:ln w="15875">
            <a:solidFill>
              <a:srgbClr val="6AA84F"/>
            </a:solidFill>
            <a:prstDash val="solid"/>
          </a:ln>
        </p:spPr>
      </p:sp>
      <p:pic>
        <p:nvPicPr>
          <p:cNvPr id="29" name="Image 3" descr="icons/resize.png"/>
          <p:cNvPicPr>
            <a:picLocks noChangeAspect="1"/>
          </p:cNvPicPr>
          <p:nvPr/>
        </p:nvPicPr>
        <p:blipFill>
          <a:blip r:embed="rId6"/>
          <a:stretch>
            <a:fillRect/>
          </a:stretch>
        </p:blipFill>
        <p:spPr>
          <a:xfrm>
            <a:off x="2587752" y="1545336"/>
            <a:ext cx="612648" cy="612648"/>
          </a:xfrm>
          <a:prstGeom prst="rect">
            <a:avLst/>
          </a:prstGeom>
        </p:spPr>
      </p:pic>
      <p:sp>
        <p:nvSpPr>
          <p:cNvPr id="30" name="Text 24"/>
          <p:cNvSpPr/>
          <p:nvPr/>
        </p:nvSpPr>
        <p:spPr>
          <a:xfrm>
            <a:off x="3291840" y="1463040"/>
            <a:ext cx="950976" cy="777240"/>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Frame Resize
</a:t>
            </a:r>
            <a:r>
              <a:rPr lang="en-US" sz="830" dirty="0">
                <a:solidFill>
                  <a:srgbClr val="444444"/>
                </a:solidFill>
                <a:latin typeface="Times New Roman" panose="02020603050405020304" pitchFamily="18" charset="0"/>
                <a:ea typeface="Calibri" pitchFamily="34" charset="-122"/>
                <a:cs typeface="Times New Roman" panose="02020603050405020304" pitchFamily="18" charset="0"/>
              </a:rPr>
              <a:t>(Standardize Resolution)</a:t>
            </a:r>
            <a:endParaRPr lang="en-US" sz="1000" dirty="0">
              <a:latin typeface="Times New Roman" panose="02020603050405020304" pitchFamily="18" charset="0"/>
              <a:cs typeface="Times New Roman" panose="02020603050405020304" pitchFamily="18" charset="0"/>
            </a:endParaRPr>
          </a:p>
        </p:txBody>
      </p:sp>
      <p:sp>
        <p:nvSpPr>
          <p:cNvPr id="31" name="Shape 25"/>
          <p:cNvSpPr/>
          <p:nvPr/>
        </p:nvSpPr>
        <p:spPr>
          <a:xfrm>
            <a:off x="3401568" y="2240280"/>
            <a:ext cx="0" cy="128016"/>
          </a:xfrm>
          <a:prstGeom prst="line">
            <a:avLst/>
          </a:prstGeom>
          <a:noFill/>
          <a:ln w="22225">
            <a:solidFill>
              <a:srgbClr val="333333"/>
            </a:solidFill>
            <a:prstDash val="solid"/>
            <a:tailEnd type="triangle"/>
          </a:ln>
        </p:spPr>
      </p:sp>
      <p:sp>
        <p:nvSpPr>
          <p:cNvPr id="32" name="Shape 26"/>
          <p:cNvSpPr/>
          <p:nvPr/>
        </p:nvSpPr>
        <p:spPr>
          <a:xfrm>
            <a:off x="2505456" y="2368296"/>
            <a:ext cx="1792224" cy="777240"/>
          </a:xfrm>
          <a:prstGeom prst="roundRect">
            <a:avLst>
              <a:gd name="adj" fmla="val 7059"/>
            </a:avLst>
          </a:prstGeom>
          <a:solidFill>
            <a:srgbClr val="FFFFFF"/>
          </a:solidFill>
          <a:ln w="15875">
            <a:solidFill>
              <a:srgbClr val="6AA84F"/>
            </a:solidFill>
            <a:prstDash val="solid"/>
          </a:ln>
        </p:spPr>
      </p:sp>
      <p:pic>
        <p:nvPicPr>
          <p:cNvPr id="33" name="Image 4" descr="icons/colorswap.png"/>
          <p:cNvPicPr>
            <a:picLocks noChangeAspect="1"/>
          </p:cNvPicPr>
          <p:nvPr/>
        </p:nvPicPr>
        <p:blipFill>
          <a:blip r:embed="rId7"/>
          <a:stretch>
            <a:fillRect/>
          </a:stretch>
        </p:blipFill>
        <p:spPr>
          <a:xfrm>
            <a:off x="2587752" y="2450592"/>
            <a:ext cx="612648" cy="612648"/>
          </a:xfrm>
          <a:prstGeom prst="rect">
            <a:avLst/>
          </a:prstGeom>
        </p:spPr>
      </p:pic>
      <p:sp>
        <p:nvSpPr>
          <p:cNvPr id="34" name="Text 27"/>
          <p:cNvSpPr/>
          <p:nvPr/>
        </p:nvSpPr>
        <p:spPr>
          <a:xfrm>
            <a:off x="3291840" y="2368296"/>
            <a:ext cx="950976" cy="777240"/>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Color Space Conversion
</a:t>
            </a:r>
            <a:r>
              <a:rPr lang="en-US" sz="830" dirty="0">
                <a:solidFill>
                  <a:srgbClr val="444444"/>
                </a:solidFill>
                <a:latin typeface="Times New Roman" panose="02020603050405020304" pitchFamily="18" charset="0"/>
                <a:ea typeface="Calibri" pitchFamily="34" charset="-122"/>
                <a:cs typeface="Times New Roman" panose="02020603050405020304" pitchFamily="18" charset="0"/>
              </a:rPr>
              <a:t>(BGR to RGB)</a:t>
            </a:r>
            <a:endParaRPr lang="en-US" sz="1000" dirty="0">
              <a:latin typeface="Times New Roman" panose="02020603050405020304" pitchFamily="18" charset="0"/>
              <a:cs typeface="Times New Roman" panose="02020603050405020304" pitchFamily="18" charset="0"/>
            </a:endParaRPr>
          </a:p>
        </p:txBody>
      </p:sp>
      <p:sp>
        <p:nvSpPr>
          <p:cNvPr id="35" name="Shape 28"/>
          <p:cNvSpPr/>
          <p:nvPr/>
        </p:nvSpPr>
        <p:spPr>
          <a:xfrm>
            <a:off x="3401568" y="3145536"/>
            <a:ext cx="0" cy="128016"/>
          </a:xfrm>
          <a:prstGeom prst="line">
            <a:avLst/>
          </a:prstGeom>
          <a:noFill/>
          <a:ln w="22225">
            <a:solidFill>
              <a:srgbClr val="333333"/>
            </a:solidFill>
            <a:prstDash val="solid"/>
            <a:tailEnd type="triangle"/>
          </a:ln>
        </p:spPr>
      </p:sp>
      <p:sp>
        <p:nvSpPr>
          <p:cNvPr id="36" name="Shape 29"/>
          <p:cNvSpPr/>
          <p:nvPr/>
        </p:nvSpPr>
        <p:spPr>
          <a:xfrm>
            <a:off x="2505456" y="3273552"/>
            <a:ext cx="1792224" cy="777240"/>
          </a:xfrm>
          <a:prstGeom prst="roundRect">
            <a:avLst>
              <a:gd name="adj" fmla="val 7059"/>
            </a:avLst>
          </a:prstGeom>
          <a:solidFill>
            <a:srgbClr val="FFFFFF"/>
          </a:solidFill>
          <a:ln w="15875">
            <a:solidFill>
              <a:srgbClr val="6AA84F"/>
            </a:solidFill>
            <a:prstDash val="solid"/>
          </a:ln>
        </p:spPr>
      </p:sp>
      <p:pic>
        <p:nvPicPr>
          <p:cNvPr id="37" name="Image 5" descr="icons/blur.png"/>
          <p:cNvPicPr>
            <a:picLocks noChangeAspect="1"/>
          </p:cNvPicPr>
          <p:nvPr/>
        </p:nvPicPr>
        <p:blipFill>
          <a:blip r:embed="rId8"/>
          <a:stretch>
            <a:fillRect/>
          </a:stretch>
        </p:blipFill>
        <p:spPr>
          <a:xfrm>
            <a:off x="2587752" y="3355848"/>
            <a:ext cx="612648" cy="612648"/>
          </a:xfrm>
          <a:prstGeom prst="rect">
            <a:avLst/>
          </a:prstGeom>
        </p:spPr>
      </p:pic>
      <p:sp>
        <p:nvSpPr>
          <p:cNvPr id="38" name="Text 30"/>
          <p:cNvSpPr/>
          <p:nvPr/>
        </p:nvSpPr>
        <p:spPr>
          <a:xfrm>
            <a:off x="3291840" y="3273552"/>
            <a:ext cx="950976" cy="777240"/>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Noise Reduction
</a:t>
            </a:r>
            <a:r>
              <a:rPr lang="en-US" sz="830" dirty="0">
                <a:solidFill>
                  <a:srgbClr val="444444"/>
                </a:solidFill>
                <a:latin typeface="Times New Roman" panose="02020603050405020304" pitchFamily="18" charset="0"/>
                <a:ea typeface="Calibri" pitchFamily="34" charset="-122"/>
                <a:cs typeface="Times New Roman" panose="02020603050405020304" pitchFamily="18" charset="0"/>
              </a:rPr>
              <a:t>(Gaussian Blur)</a:t>
            </a:r>
            <a:endParaRPr lang="en-US" sz="1000" dirty="0">
              <a:latin typeface="Times New Roman" panose="02020603050405020304" pitchFamily="18" charset="0"/>
              <a:cs typeface="Times New Roman" panose="02020603050405020304" pitchFamily="18" charset="0"/>
            </a:endParaRPr>
          </a:p>
        </p:txBody>
      </p:sp>
      <p:sp>
        <p:nvSpPr>
          <p:cNvPr id="39" name="Shape 31"/>
          <p:cNvSpPr/>
          <p:nvPr/>
        </p:nvSpPr>
        <p:spPr>
          <a:xfrm>
            <a:off x="3401568" y="4050792"/>
            <a:ext cx="0" cy="128016"/>
          </a:xfrm>
          <a:prstGeom prst="line">
            <a:avLst/>
          </a:prstGeom>
          <a:noFill/>
          <a:ln w="22225">
            <a:solidFill>
              <a:srgbClr val="333333"/>
            </a:solidFill>
            <a:prstDash val="solid"/>
            <a:tailEnd type="triangle"/>
          </a:ln>
        </p:spPr>
      </p:sp>
      <p:sp>
        <p:nvSpPr>
          <p:cNvPr id="40" name="Shape 32"/>
          <p:cNvSpPr/>
          <p:nvPr/>
        </p:nvSpPr>
        <p:spPr>
          <a:xfrm>
            <a:off x="2505456" y="4178808"/>
            <a:ext cx="1792224" cy="777240"/>
          </a:xfrm>
          <a:prstGeom prst="roundRect">
            <a:avLst>
              <a:gd name="adj" fmla="val 7059"/>
            </a:avLst>
          </a:prstGeom>
          <a:solidFill>
            <a:srgbClr val="FFFFFF"/>
          </a:solidFill>
          <a:ln w="15875">
            <a:solidFill>
              <a:srgbClr val="6AA84F"/>
            </a:solidFill>
            <a:prstDash val="solid"/>
          </a:ln>
        </p:spPr>
      </p:sp>
      <p:pic>
        <p:nvPicPr>
          <p:cNvPr id="41" name="Image 6" descr="icons/stack.png"/>
          <p:cNvPicPr>
            <a:picLocks noChangeAspect="1"/>
          </p:cNvPicPr>
          <p:nvPr/>
        </p:nvPicPr>
        <p:blipFill>
          <a:blip r:embed="rId9"/>
          <a:stretch>
            <a:fillRect/>
          </a:stretch>
        </p:blipFill>
        <p:spPr>
          <a:xfrm>
            <a:off x="2587752" y="4261104"/>
            <a:ext cx="612648" cy="612648"/>
          </a:xfrm>
          <a:prstGeom prst="rect">
            <a:avLst/>
          </a:prstGeom>
        </p:spPr>
      </p:pic>
      <p:sp>
        <p:nvSpPr>
          <p:cNvPr id="42" name="Text 33"/>
          <p:cNvSpPr/>
          <p:nvPr/>
        </p:nvSpPr>
        <p:spPr>
          <a:xfrm>
            <a:off x="3291840" y="4178808"/>
            <a:ext cx="950976" cy="777240"/>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Frame Buffering
</a:t>
            </a:r>
            <a:r>
              <a:rPr lang="en-US" sz="830" dirty="0">
                <a:solidFill>
                  <a:srgbClr val="444444"/>
                </a:solidFill>
                <a:latin typeface="Times New Roman" panose="02020603050405020304" pitchFamily="18" charset="0"/>
                <a:ea typeface="Calibri" pitchFamily="34" charset="-122"/>
                <a:cs typeface="Times New Roman" panose="02020603050405020304" pitchFamily="18" charset="0"/>
              </a:rPr>
              <a:t>(Temporal Window)</a:t>
            </a:r>
            <a:endParaRPr lang="en-US" sz="1000" dirty="0">
              <a:latin typeface="Times New Roman" panose="02020603050405020304" pitchFamily="18" charset="0"/>
              <a:cs typeface="Times New Roman" panose="02020603050405020304" pitchFamily="18" charset="0"/>
            </a:endParaRPr>
          </a:p>
        </p:txBody>
      </p:sp>
      <p:sp>
        <p:nvSpPr>
          <p:cNvPr id="43" name="Text 34"/>
          <p:cNvSpPr/>
          <p:nvPr/>
        </p:nvSpPr>
        <p:spPr>
          <a:xfrm>
            <a:off x="4517136" y="1399032"/>
            <a:ext cx="2331720" cy="457200"/>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Mixture of Gaussians per Pixel</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(MOG2)</a:t>
            </a:r>
            <a:endParaRPr lang="en-US" sz="1100" dirty="0">
              <a:latin typeface="Times New Roman" panose="02020603050405020304" pitchFamily="18" charset="0"/>
              <a:cs typeface="Times New Roman" panose="02020603050405020304" pitchFamily="18" charset="0"/>
            </a:endParaRPr>
          </a:p>
        </p:txBody>
      </p:sp>
      <p:sp>
        <p:nvSpPr>
          <p:cNvPr id="44" name="Shape 35"/>
          <p:cNvSpPr/>
          <p:nvPr/>
        </p:nvSpPr>
        <p:spPr>
          <a:xfrm>
            <a:off x="4654296" y="1892808"/>
            <a:ext cx="2057400" cy="1234440"/>
          </a:xfrm>
          <a:prstGeom prst="roundRect">
            <a:avLst>
              <a:gd name="adj" fmla="val 3704"/>
            </a:avLst>
          </a:prstGeom>
          <a:solidFill>
            <a:srgbClr val="FFFFFF"/>
          </a:solidFill>
          <a:ln w="19050">
            <a:solidFill>
              <a:srgbClr val="BF9000"/>
            </a:solidFill>
            <a:prstDash val="solid"/>
          </a:ln>
        </p:spPr>
      </p:sp>
      <p:sp>
        <p:nvSpPr>
          <p:cNvPr id="45" name="Text 36"/>
          <p:cNvSpPr/>
          <p:nvPr/>
        </p:nvSpPr>
        <p:spPr>
          <a:xfrm>
            <a:off x="4654296" y="1920240"/>
            <a:ext cx="2057400" cy="32004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Per-Pixel Gaussian Distributions</a:t>
            </a:r>
            <a:endParaRPr lang="en-US" sz="950" dirty="0">
              <a:latin typeface="Times New Roman" panose="02020603050405020304" pitchFamily="18" charset="0"/>
              <a:cs typeface="Times New Roman" panose="02020603050405020304" pitchFamily="18" charset="0"/>
            </a:endParaRPr>
          </a:p>
        </p:txBody>
      </p:sp>
      <p:pic>
        <p:nvPicPr>
          <p:cNvPr id="46" name="Image 7" descr="gmm_curve.png"/>
          <p:cNvPicPr>
            <a:picLocks noChangeAspect="1"/>
          </p:cNvPicPr>
          <p:nvPr/>
        </p:nvPicPr>
        <p:blipFill>
          <a:blip r:embed="rId10"/>
          <a:stretch>
            <a:fillRect/>
          </a:stretch>
        </p:blipFill>
        <p:spPr>
          <a:xfrm>
            <a:off x="4773168" y="2240280"/>
            <a:ext cx="1819656" cy="822960"/>
          </a:xfrm>
          <a:prstGeom prst="rect">
            <a:avLst/>
          </a:prstGeom>
        </p:spPr>
      </p:pic>
      <p:sp>
        <p:nvSpPr>
          <p:cNvPr id="47" name="Shape 37"/>
          <p:cNvSpPr/>
          <p:nvPr/>
        </p:nvSpPr>
        <p:spPr>
          <a:xfrm>
            <a:off x="5682996" y="3127248"/>
            <a:ext cx="0" cy="146304"/>
          </a:xfrm>
          <a:prstGeom prst="line">
            <a:avLst/>
          </a:prstGeom>
          <a:noFill/>
          <a:ln w="22225">
            <a:solidFill>
              <a:srgbClr val="333333"/>
            </a:solidFill>
            <a:prstDash val="solid"/>
            <a:tailEnd type="triangle"/>
          </a:ln>
        </p:spPr>
      </p:sp>
      <p:sp>
        <p:nvSpPr>
          <p:cNvPr id="48" name="Shape 38"/>
          <p:cNvSpPr/>
          <p:nvPr/>
        </p:nvSpPr>
        <p:spPr>
          <a:xfrm>
            <a:off x="4654296" y="3273552"/>
            <a:ext cx="2057400" cy="658368"/>
          </a:xfrm>
          <a:prstGeom prst="roundRect">
            <a:avLst>
              <a:gd name="adj" fmla="val 8333"/>
            </a:avLst>
          </a:prstGeom>
          <a:solidFill>
            <a:srgbClr val="FFFFFF"/>
          </a:solidFill>
          <a:ln w="15875">
            <a:solidFill>
              <a:srgbClr val="BF9000"/>
            </a:solidFill>
            <a:prstDash val="solid"/>
          </a:ln>
        </p:spPr>
      </p:sp>
      <p:pic>
        <p:nvPicPr>
          <p:cNvPr id="49" name="Image 8" descr="icons/target.png"/>
          <p:cNvPicPr>
            <a:picLocks noChangeAspect="1"/>
          </p:cNvPicPr>
          <p:nvPr/>
        </p:nvPicPr>
        <p:blipFill>
          <a:blip r:embed="rId11"/>
          <a:stretch>
            <a:fillRect/>
          </a:stretch>
        </p:blipFill>
        <p:spPr>
          <a:xfrm>
            <a:off x="4736592" y="3355848"/>
            <a:ext cx="493776" cy="493776"/>
          </a:xfrm>
          <a:prstGeom prst="rect">
            <a:avLst/>
          </a:prstGeom>
        </p:spPr>
      </p:pic>
      <p:sp>
        <p:nvSpPr>
          <p:cNvPr id="50" name="Text 39"/>
          <p:cNvSpPr/>
          <p:nvPr/>
        </p:nvSpPr>
        <p:spPr>
          <a:xfrm>
            <a:off x="5321808" y="3273552"/>
            <a:ext cx="1335024" cy="658368"/>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Weight &amp; Variance
Threshold Test
</a:t>
            </a:r>
            <a:endParaRPr lang="en-US" sz="1000" dirty="0">
              <a:latin typeface="Times New Roman" panose="02020603050405020304" pitchFamily="18" charset="0"/>
              <a:cs typeface="Times New Roman" panose="02020603050405020304" pitchFamily="18" charset="0"/>
            </a:endParaRPr>
          </a:p>
        </p:txBody>
      </p:sp>
      <p:sp>
        <p:nvSpPr>
          <p:cNvPr id="51" name="Shape 40"/>
          <p:cNvSpPr/>
          <p:nvPr/>
        </p:nvSpPr>
        <p:spPr>
          <a:xfrm>
            <a:off x="5682996" y="3931920"/>
            <a:ext cx="0" cy="109728"/>
          </a:xfrm>
          <a:prstGeom prst="line">
            <a:avLst/>
          </a:prstGeom>
          <a:noFill/>
          <a:ln w="22225">
            <a:solidFill>
              <a:srgbClr val="333333"/>
            </a:solidFill>
            <a:prstDash val="solid"/>
            <a:tailEnd type="triangle"/>
          </a:ln>
        </p:spPr>
      </p:sp>
      <p:sp>
        <p:nvSpPr>
          <p:cNvPr id="52" name="Shape 41"/>
          <p:cNvSpPr/>
          <p:nvPr/>
        </p:nvSpPr>
        <p:spPr>
          <a:xfrm>
            <a:off x="4654296" y="4041648"/>
            <a:ext cx="2057400" cy="658368"/>
          </a:xfrm>
          <a:prstGeom prst="roundRect">
            <a:avLst>
              <a:gd name="adj" fmla="val 8333"/>
            </a:avLst>
          </a:prstGeom>
          <a:solidFill>
            <a:srgbClr val="FFFFFF"/>
          </a:solidFill>
          <a:ln w="15875">
            <a:solidFill>
              <a:srgbClr val="BF9000"/>
            </a:solidFill>
            <a:prstDash val="solid"/>
          </a:ln>
        </p:spPr>
      </p:sp>
      <p:pic>
        <p:nvPicPr>
          <p:cNvPr id="53" name="Image 9" descr="icons/trendingup.png"/>
          <p:cNvPicPr>
            <a:picLocks noChangeAspect="1"/>
          </p:cNvPicPr>
          <p:nvPr/>
        </p:nvPicPr>
        <p:blipFill>
          <a:blip r:embed="rId12"/>
          <a:stretch>
            <a:fillRect/>
          </a:stretch>
        </p:blipFill>
        <p:spPr>
          <a:xfrm>
            <a:off x="4736592" y="4123944"/>
            <a:ext cx="493776" cy="493776"/>
          </a:xfrm>
          <a:prstGeom prst="rect">
            <a:avLst/>
          </a:prstGeom>
        </p:spPr>
      </p:pic>
      <p:sp>
        <p:nvSpPr>
          <p:cNvPr id="54" name="Text 42"/>
          <p:cNvSpPr/>
          <p:nvPr/>
        </p:nvSpPr>
        <p:spPr>
          <a:xfrm>
            <a:off x="5321808" y="4041648"/>
            <a:ext cx="1335024" cy="658368"/>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Adaptive Learning
Rate (α) Update
</a:t>
            </a:r>
            <a:endParaRPr lang="en-US" sz="1000" dirty="0">
              <a:latin typeface="Times New Roman" panose="02020603050405020304" pitchFamily="18" charset="0"/>
              <a:cs typeface="Times New Roman" panose="02020603050405020304" pitchFamily="18" charset="0"/>
            </a:endParaRPr>
          </a:p>
        </p:txBody>
      </p:sp>
      <p:sp>
        <p:nvSpPr>
          <p:cNvPr id="55" name="Shape 43"/>
          <p:cNvSpPr/>
          <p:nvPr/>
        </p:nvSpPr>
        <p:spPr>
          <a:xfrm>
            <a:off x="5682996" y="4809744"/>
            <a:ext cx="0" cy="146304"/>
          </a:xfrm>
          <a:prstGeom prst="line">
            <a:avLst/>
          </a:prstGeom>
          <a:noFill/>
          <a:ln w="22225">
            <a:solidFill>
              <a:srgbClr val="333333"/>
            </a:solidFill>
            <a:prstDash val="solid"/>
            <a:tailEnd type="triangle"/>
          </a:ln>
        </p:spPr>
      </p:sp>
      <p:sp>
        <p:nvSpPr>
          <p:cNvPr id="56" name="Shape 44"/>
          <p:cNvSpPr/>
          <p:nvPr/>
        </p:nvSpPr>
        <p:spPr>
          <a:xfrm>
            <a:off x="4654296" y="4956048"/>
            <a:ext cx="2057400" cy="594360"/>
          </a:xfrm>
          <a:prstGeom prst="roundRect">
            <a:avLst>
              <a:gd name="adj" fmla="val 9231"/>
            </a:avLst>
          </a:prstGeom>
          <a:solidFill>
            <a:srgbClr val="FFFFFF"/>
          </a:solidFill>
          <a:ln w="15875">
            <a:solidFill>
              <a:srgbClr val="BF9000"/>
            </a:solidFill>
            <a:prstDash val="solid"/>
          </a:ln>
        </p:spPr>
      </p:sp>
      <p:sp>
        <p:nvSpPr>
          <p:cNvPr id="57" name="Text 45"/>
          <p:cNvSpPr/>
          <p:nvPr/>
        </p:nvSpPr>
        <p:spPr>
          <a:xfrm>
            <a:off x="4654296" y="4956048"/>
            <a:ext cx="2057400" cy="594360"/>
          </a:xfrm>
          <a:prstGeom prst="rect">
            <a:avLst/>
          </a:prstGeom>
          <a:noFill/>
          <a:ln/>
        </p:spPr>
        <p:txBody>
          <a:bodyPr wrap="square" rtlCol="0" anchor="ctr"/>
          <a:lstStyle/>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Background / Foreground</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Classification</a:t>
            </a:r>
            <a:endParaRPr lang="en-US" sz="1000" dirty="0">
              <a:latin typeface="Times New Roman" panose="02020603050405020304" pitchFamily="18" charset="0"/>
              <a:cs typeface="Times New Roman" panose="02020603050405020304" pitchFamily="18" charset="0"/>
            </a:endParaRPr>
          </a:p>
        </p:txBody>
      </p:sp>
      <p:sp>
        <p:nvSpPr>
          <p:cNvPr id="58" name="Text 46"/>
          <p:cNvSpPr/>
          <p:nvPr/>
        </p:nvSpPr>
        <p:spPr>
          <a:xfrm>
            <a:off x="6958584" y="1399032"/>
            <a:ext cx="2240280" cy="320040"/>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Refine Raw Foreground Mask</a:t>
            </a:r>
            <a:endParaRPr lang="en-US" sz="1100" dirty="0">
              <a:latin typeface="Times New Roman" panose="02020603050405020304" pitchFamily="18" charset="0"/>
              <a:cs typeface="Times New Roman" panose="02020603050405020304" pitchFamily="18" charset="0"/>
            </a:endParaRPr>
          </a:p>
        </p:txBody>
      </p:sp>
      <p:pic>
        <p:nvPicPr>
          <p:cNvPr id="59" name="Image 10" descr="frame_mask.png"/>
          <p:cNvPicPr>
            <a:picLocks noChangeAspect="1"/>
          </p:cNvPicPr>
          <p:nvPr/>
        </p:nvPicPr>
        <p:blipFill>
          <a:blip r:embed="rId13"/>
          <a:stretch>
            <a:fillRect/>
          </a:stretch>
        </p:blipFill>
        <p:spPr>
          <a:xfrm>
            <a:off x="7187184" y="1764792"/>
            <a:ext cx="1783080" cy="1005840"/>
          </a:xfrm>
          <a:prstGeom prst="rect">
            <a:avLst/>
          </a:prstGeom>
        </p:spPr>
      </p:pic>
      <p:sp>
        <p:nvSpPr>
          <p:cNvPr id="60" name="Text 47"/>
          <p:cNvSpPr/>
          <p:nvPr/>
        </p:nvSpPr>
        <p:spPr>
          <a:xfrm>
            <a:off x="6958584" y="2788920"/>
            <a:ext cx="2240280" cy="256032"/>
          </a:xfrm>
          <a:prstGeom prst="rect">
            <a:avLst/>
          </a:prstGeom>
          <a:noFill/>
          <a:ln/>
        </p:spPr>
        <p:txBody>
          <a:bodyPr wrap="square" rtlCol="0" anchor="ctr"/>
          <a:lstStyle/>
          <a:p>
            <a:pPr marL="0" indent="0" algn="ctr">
              <a:buNone/>
            </a:pPr>
            <a:r>
              <a:rPr lang="en-US" sz="950" i="1" dirty="0">
                <a:solidFill>
                  <a:srgbClr val="555555"/>
                </a:solidFill>
                <a:latin typeface="Times New Roman" panose="02020603050405020304" pitchFamily="18" charset="0"/>
                <a:ea typeface="Calibri" pitchFamily="34" charset="-122"/>
                <a:cs typeface="Times New Roman" panose="02020603050405020304" pitchFamily="18" charset="0"/>
              </a:rPr>
              <a:t>Binary Foreground Mask</a:t>
            </a:r>
            <a:endParaRPr lang="en-US" sz="950" dirty="0">
              <a:latin typeface="Times New Roman" panose="02020603050405020304" pitchFamily="18" charset="0"/>
              <a:cs typeface="Times New Roman" panose="02020603050405020304" pitchFamily="18" charset="0"/>
            </a:endParaRPr>
          </a:p>
        </p:txBody>
      </p:sp>
      <p:sp>
        <p:nvSpPr>
          <p:cNvPr id="61" name="Shape 48"/>
          <p:cNvSpPr/>
          <p:nvPr/>
        </p:nvSpPr>
        <p:spPr>
          <a:xfrm>
            <a:off x="7068312" y="3108960"/>
            <a:ext cx="2020824" cy="621792"/>
          </a:xfrm>
          <a:prstGeom prst="roundRect">
            <a:avLst>
              <a:gd name="adj" fmla="val 8824"/>
            </a:avLst>
          </a:prstGeom>
          <a:solidFill>
            <a:srgbClr val="FFFFFF"/>
          </a:solidFill>
          <a:ln w="15875">
            <a:solidFill>
              <a:srgbClr val="8E5FC5"/>
            </a:solidFill>
            <a:prstDash val="solid"/>
          </a:ln>
        </p:spPr>
      </p:sp>
      <p:pic>
        <p:nvPicPr>
          <p:cNvPr id="62" name="Image 11" descr="icons/contour.png"/>
          <p:cNvPicPr>
            <a:picLocks noChangeAspect="1"/>
          </p:cNvPicPr>
          <p:nvPr/>
        </p:nvPicPr>
        <p:blipFill>
          <a:blip r:embed="rId14"/>
          <a:stretch>
            <a:fillRect/>
          </a:stretch>
        </p:blipFill>
        <p:spPr>
          <a:xfrm>
            <a:off x="7150608" y="3191256"/>
            <a:ext cx="457200" cy="457200"/>
          </a:xfrm>
          <a:prstGeom prst="rect">
            <a:avLst/>
          </a:prstGeom>
        </p:spPr>
      </p:pic>
      <p:sp>
        <p:nvSpPr>
          <p:cNvPr id="63" name="Text 49"/>
          <p:cNvSpPr/>
          <p:nvPr/>
        </p:nvSpPr>
        <p:spPr>
          <a:xfrm>
            <a:off x="7699248" y="3108960"/>
            <a:ext cx="1335024" cy="62179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Morphological
Opening / Closing
</a:t>
            </a:r>
            <a:endParaRPr lang="en-US" sz="1000" dirty="0">
              <a:latin typeface="Times New Roman" panose="02020603050405020304" pitchFamily="18" charset="0"/>
              <a:cs typeface="Times New Roman" panose="02020603050405020304" pitchFamily="18" charset="0"/>
            </a:endParaRPr>
          </a:p>
        </p:txBody>
      </p:sp>
      <p:sp>
        <p:nvSpPr>
          <p:cNvPr id="64" name="Shape 50"/>
          <p:cNvSpPr/>
          <p:nvPr/>
        </p:nvSpPr>
        <p:spPr>
          <a:xfrm>
            <a:off x="8078724" y="3730752"/>
            <a:ext cx="0" cy="91440"/>
          </a:xfrm>
          <a:prstGeom prst="line">
            <a:avLst/>
          </a:prstGeom>
          <a:noFill/>
          <a:ln w="22225">
            <a:solidFill>
              <a:srgbClr val="333333"/>
            </a:solidFill>
            <a:prstDash val="solid"/>
            <a:tailEnd type="triangle"/>
          </a:ln>
        </p:spPr>
      </p:sp>
      <p:sp>
        <p:nvSpPr>
          <p:cNvPr id="65" name="Shape 51"/>
          <p:cNvSpPr/>
          <p:nvPr/>
        </p:nvSpPr>
        <p:spPr>
          <a:xfrm>
            <a:off x="7068312" y="3822192"/>
            <a:ext cx="2020824" cy="621792"/>
          </a:xfrm>
          <a:prstGeom prst="roundRect">
            <a:avLst>
              <a:gd name="adj" fmla="val 8824"/>
            </a:avLst>
          </a:prstGeom>
          <a:solidFill>
            <a:srgbClr val="FFFFFF"/>
          </a:solidFill>
          <a:ln w="15875">
            <a:solidFill>
              <a:srgbClr val="8E5FC5"/>
            </a:solidFill>
            <a:prstDash val="solid"/>
          </a:ln>
        </p:spPr>
      </p:sp>
      <p:pic>
        <p:nvPicPr>
          <p:cNvPr id="66" name="Image 12" descr="icons/cloud.png"/>
          <p:cNvPicPr>
            <a:picLocks noChangeAspect="1"/>
          </p:cNvPicPr>
          <p:nvPr/>
        </p:nvPicPr>
        <p:blipFill>
          <a:blip r:embed="rId15"/>
          <a:stretch>
            <a:fillRect/>
          </a:stretch>
        </p:blipFill>
        <p:spPr>
          <a:xfrm>
            <a:off x="7150608" y="3904488"/>
            <a:ext cx="457200" cy="457200"/>
          </a:xfrm>
          <a:prstGeom prst="rect">
            <a:avLst/>
          </a:prstGeom>
        </p:spPr>
      </p:pic>
      <p:sp>
        <p:nvSpPr>
          <p:cNvPr id="67" name="Text 52"/>
          <p:cNvSpPr/>
          <p:nvPr/>
        </p:nvSpPr>
        <p:spPr>
          <a:xfrm>
            <a:off x="7699248" y="3822192"/>
            <a:ext cx="1335024" cy="62179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Shadow
Suppression
</a:t>
            </a:r>
            <a:endParaRPr lang="en-US" sz="1000" dirty="0">
              <a:latin typeface="Times New Roman" panose="02020603050405020304" pitchFamily="18" charset="0"/>
              <a:cs typeface="Times New Roman" panose="02020603050405020304" pitchFamily="18" charset="0"/>
            </a:endParaRPr>
          </a:p>
        </p:txBody>
      </p:sp>
      <p:sp>
        <p:nvSpPr>
          <p:cNvPr id="68" name="Shape 53"/>
          <p:cNvSpPr/>
          <p:nvPr/>
        </p:nvSpPr>
        <p:spPr>
          <a:xfrm>
            <a:off x="8078724" y="4443984"/>
            <a:ext cx="0" cy="91440"/>
          </a:xfrm>
          <a:prstGeom prst="line">
            <a:avLst/>
          </a:prstGeom>
          <a:noFill/>
          <a:ln w="22225">
            <a:solidFill>
              <a:srgbClr val="333333"/>
            </a:solidFill>
            <a:prstDash val="solid"/>
            <a:tailEnd type="triangle"/>
          </a:ln>
        </p:spPr>
      </p:sp>
      <p:sp>
        <p:nvSpPr>
          <p:cNvPr id="69" name="Shape 54"/>
          <p:cNvSpPr/>
          <p:nvPr/>
        </p:nvSpPr>
        <p:spPr>
          <a:xfrm>
            <a:off x="7068312" y="4535424"/>
            <a:ext cx="2020824" cy="621792"/>
          </a:xfrm>
          <a:prstGeom prst="roundRect">
            <a:avLst>
              <a:gd name="adj" fmla="val 8824"/>
            </a:avLst>
          </a:prstGeom>
          <a:solidFill>
            <a:srgbClr val="FFFFFF"/>
          </a:solidFill>
          <a:ln w="15875">
            <a:solidFill>
              <a:srgbClr val="8E5FC5"/>
            </a:solidFill>
            <a:prstDash val="solid"/>
          </a:ln>
        </p:spPr>
      </p:sp>
      <p:pic>
        <p:nvPicPr>
          <p:cNvPr id="70" name="Image 13" descr="icons/droplet.png"/>
          <p:cNvPicPr>
            <a:picLocks noChangeAspect="1"/>
          </p:cNvPicPr>
          <p:nvPr/>
        </p:nvPicPr>
        <p:blipFill>
          <a:blip r:embed="rId16"/>
          <a:stretch>
            <a:fillRect/>
          </a:stretch>
        </p:blipFill>
        <p:spPr>
          <a:xfrm>
            <a:off x="7150608" y="4617720"/>
            <a:ext cx="457200" cy="457200"/>
          </a:xfrm>
          <a:prstGeom prst="rect">
            <a:avLst/>
          </a:prstGeom>
        </p:spPr>
      </p:pic>
      <p:sp>
        <p:nvSpPr>
          <p:cNvPr id="71" name="Text 55"/>
          <p:cNvSpPr/>
          <p:nvPr/>
        </p:nvSpPr>
        <p:spPr>
          <a:xfrm>
            <a:off x="7699248" y="4535424"/>
            <a:ext cx="1335024" cy="62179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Contour Smoothing
&amp; Hole Filling
</a:t>
            </a:r>
            <a:endParaRPr lang="en-US" sz="1000" dirty="0">
              <a:latin typeface="Times New Roman" panose="02020603050405020304" pitchFamily="18" charset="0"/>
              <a:cs typeface="Times New Roman" panose="02020603050405020304" pitchFamily="18" charset="0"/>
            </a:endParaRPr>
          </a:p>
        </p:txBody>
      </p:sp>
      <p:sp>
        <p:nvSpPr>
          <p:cNvPr id="72" name="Text 56"/>
          <p:cNvSpPr/>
          <p:nvPr/>
        </p:nvSpPr>
        <p:spPr>
          <a:xfrm>
            <a:off x="9308592" y="1399032"/>
            <a:ext cx="2240280" cy="320040"/>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Extract &amp; Blend Foreground</a:t>
            </a:r>
            <a:endParaRPr lang="en-US" sz="1100" dirty="0">
              <a:latin typeface="Times New Roman" panose="02020603050405020304" pitchFamily="18" charset="0"/>
              <a:cs typeface="Times New Roman" panose="02020603050405020304" pitchFamily="18" charset="0"/>
            </a:endParaRPr>
          </a:p>
        </p:txBody>
      </p:sp>
      <p:sp>
        <p:nvSpPr>
          <p:cNvPr id="73" name="Shape 57"/>
          <p:cNvSpPr/>
          <p:nvPr/>
        </p:nvSpPr>
        <p:spPr>
          <a:xfrm>
            <a:off x="9418320" y="1783080"/>
            <a:ext cx="2020824" cy="713232"/>
          </a:xfrm>
          <a:prstGeom prst="roundRect">
            <a:avLst>
              <a:gd name="adj" fmla="val 7692"/>
            </a:avLst>
          </a:prstGeom>
          <a:solidFill>
            <a:srgbClr val="FFFFFF"/>
          </a:solidFill>
          <a:ln w="15875">
            <a:solidFill>
              <a:srgbClr val="E69138"/>
            </a:solidFill>
            <a:prstDash val="solid"/>
          </a:ln>
        </p:spPr>
      </p:sp>
      <p:pic>
        <p:nvPicPr>
          <p:cNvPr id="74" name="Image 14" descr="icons/scissors.png"/>
          <p:cNvPicPr>
            <a:picLocks noChangeAspect="1"/>
          </p:cNvPicPr>
          <p:nvPr/>
        </p:nvPicPr>
        <p:blipFill>
          <a:blip r:embed="rId17"/>
          <a:stretch>
            <a:fillRect/>
          </a:stretch>
        </p:blipFill>
        <p:spPr>
          <a:xfrm>
            <a:off x="9500616" y="1865376"/>
            <a:ext cx="548640" cy="548640"/>
          </a:xfrm>
          <a:prstGeom prst="rect">
            <a:avLst/>
          </a:prstGeom>
        </p:spPr>
      </p:pic>
      <p:sp>
        <p:nvSpPr>
          <p:cNvPr id="75" name="Text 58"/>
          <p:cNvSpPr/>
          <p:nvPr/>
        </p:nvSpPr>
        <p:spPr>
          <a:xfrm>
            <a:off x="10140696" y="1783080"/>
            <a:ext cx="1243584" cy="71323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Foreground
Extraction (Matting)
</a:t>
            </a:r>
            <a:endParaRPr lang="en-US" sz="1000" dirty="0">
              <a:latin typeface="Times New Roman" panose="02020603050405020304" pitchFamily="18" charset="0"/>
              <a:cs typeface="Times New Roman" panose="02020603050405020304" pitchFamily="18" charset="0"/>
            </a:endParaRPr>
          </a:p>
        </p:txBody>
      </p:sp>
      <p:sp>
        <p:nvSpPr>
          <p:cNvPr id="76" name="Shape 59"/>
          <p:cNvSpPr/>
          <p:nvPr/>
        </p:nvSpPr>
        <p:spPr>
          <a:xfrm>
            <a:off x="10428732" y="2496312"/>
            <a:ext cx="0" cy="109728"/>
          </a:xfrm>
          <a:prstGeom prst="line">
            <a:avLst/>
          </a:prstGeom>
          <a:noFill/>
          <a:ln w="22225">
            <a:solidFill>
              <a:srgbClr val="333333"/>
            </a:solidFill>
            <a:prstDash val="solid"/>
            <a:tailEnd type="triangle"/>
          </a:ln>
        </p:spPr>
      </p:sp>
      <p:sp>
        <p:nvSpPr>
          <p:cNvPr id="77" name="Shape 60"/>
          <p:cNvSpPr/>
          <p:nvPr/>
        </p:nvSpPr>
        <p:spPr>
          <a:xfrm>
            <a:off x="9418320" y="2606040"/>
            <a:ext cx="2020824" cy="713232"/>
          </a:xfrm>
          <a:prstGeom prst="roundRect">
            <a:avLst>
              <a:gd name="adj" fmla="val 7692"/>
            </a:avLst>
          </a:prstGeom>
          <a:solidFill>
            <a:srgbClr val="FFFFFF"/>
          </a:solidFill>
          <a:ln w="15875">
            <a:solidFill>
              <a:srgbClr val="E69138"/>
            </a:solidFill>
            <a:prstDash val="solid"/>
          </a:ln>
        </p:spPr>
      </p:sp>
      <p:pic>
        <p:nvPicPr>
          <p:cNvPr id="78" name="Image 15" descr="icons/blend.png"/>
          <p:cNvPicPr>
            <a:picLocks noChangeAspect="1"/>
          </p:cNvPicPr>
          <p:nvPr/>
        </p:nvPicPr>
        <p:blipFill>
          <a:blip r:embed="rId18"/>
          <a:stretch>
            <a:fillRect/>
          </a:stretch>
        </p:blipFill>
        <p:spPr>
          <a:xfrm>
            <a:off x="9500616" y="2688336"/>
            <a:ext cx="548640" cy="548640"/>
          </a:xfrm>
          <a:prstGeom prst="rect">
            <a:avLst/>
          </a:prstGeom>
        </p:spPr>
      </p:pic>
      <p:sp>
        <p:nvSpPr>
          <p:cNvPr id="79" name="Text 61"/>
          <p:cNvSpPr/>
          <p:nvPr/>
        </p:nvSpPr>
        <p:spPr>
          <a:xfrm>
            <a:off x="10140696" y="2606040"/>
            <a:ext cx="1243584" cy="71323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Alpha Edge
Feathering
</a:t>
            </a:r>
            <a:endParaRPr lang="en-US" sz="1000" dirty="0">
              <a:latin typeface="Times New Roman" panose="02020603050405020304" pitchFamily="18" charset="0"/>
              <a:cs typeface="Times New Roman" panose="02020603050405020304" pitchFamily="18" charset="0"/>
            </a:endParaRPr>
          </a:p>
        </p:txBody>
      </p:sp>
      <p:sp>
        <p:nvSpPr>
          <p:cNvPr id="80" name="Shape 62"/>
          <p:cNvSpPr/>
          <p:nvPr/>
        </p:nvSpPr>
        <p:spPr>
          <a:xfrm>
            <a:off x="10428732" y="3319272"/>
            <a:ext cx="0" cy="109728"/>
          </a:xfrm>
          <a:prstGeom prst="line">
            <a:avLst/>
          </a:prstGeom>
          <a:noFill/>
          <a:ln w="22225">
            <a:solidFill>
              <a:srgbClr val="333333"/>
            </a:solidFill>
            <a:prstDash val="solid"/>
            <a:tailEnd type="triangle"/>
          </a:ln>
        </p:spPr>
      </p:sp>
      <p:sp>
        <p:nvSpPr>
          <p:cNvPr id="81" name="Shape 63"/>
          <p:cNvSpPr/>
          <p:nvPr/>
        </p:nvSpPr>
        <p:spPr>
          <a:xfrm>
            <a:off x="9418320" y="3429000"/>
            <a:ext cx="2020824" cy="713232"/>
          </a:xfrm>
          <a:prstGeom prst="roundRect">
            <a:avLst>
              <a:gd name="adj" fmla="val 7692"/>
            </a:avLst>
          </a:prstGeom>
          <a:solidFill>
            <a:srgbClr val="FFFFFF"/>
          </a:solidFill>
          <a:ln w="15875">
            <a:solidFill>
              <a:srgbClr val="E69138"/>
            </a:solidFill>
            <a:prstDash val="solid"/>
          </a:ln>
        </p:spPr>
      </p:sp>
      <p:pic>
        <p:nvPicPr>
          <p:cNvPr id="82" name="Image 16" descr="icons/image.png"/>
          <p:cNvPicPr>
            <a:picLocks noChangeAspect="1"/>
          </p:cNvPicPr>
          <p:nvPr/>
        </p:nvPicPr>
        <p:blipFill>
          <a:blip r:embed="rId19"/>
          <a:stretch>
            <a:fillRect/>
          </a:stretch>
        </p:blipFill>
        <p:spPr>
          <a:xfrm>
            <a:off x="9500616" y="3511296"/>
            <a:ext cx="548640" cy="548640"/>
          </a:xfrm>
          <a:prstGeom prst="rect">
            <a:avLst/>
          </a:prstGeom>
        </p:spPr>
      </p:pic>
      <p:sp>
        <p:nvSpPr>
          <p:cNvPr id="83" name="Text 64"/>
          <p:cNvSpPr/>
          <p:nvPr/>
        </p:nvSpPr>
        <p:spPr>
          <a:xfrm>
            <a:off x="10140696" y="3429000"/>
            <a:ext cx="1243584" cy="713232"/>
          </a:xfrm>
          <a:prstGeom prst="rect">
            <a:avLst/>
          </a:prstGeom>
          <a:noFill/>
          <a:ln/>
        </p:spPr>
        <p:txBody>
          <a:bodyPr wrap="square" rtlCol="0" anchor="ctr"/>
          <a:lstStyle/>
          <a:p>
            <a:pPr marL="0" indent="0" algn="l">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Composite with
New Background
</a:t>
            </a:r>
            <a:endParaRPr lang="en-US" sz="1000" dirty="0">
              <a:latin typeface="Times New Roman" panose="02020603050405020304" pitchFamily="18" charset="0"/>
              <a:cs typeface="Times New Roman" panose="02020603050405020304" pitchFamily="18" charset="0"/>
            </a:endParaRPr>
          </a:p>
        </p:txBody>
      </p:sp>
      <p:sp>
        <p:nvSpPr>
          <p:cNvPr id="84" name="Shape 65"/>
          <p:cNvSpPr/>
          <p:nvPr/>
        </p:nvSpPr>
        <p:spPr>
          <a:xfrm>
            <a:off x="10428732" y="4251960"/>
            <a:ext cx="0" cy="137160"/>
          </a:xfrm>
          <a:prstGeom prst="line">
            <a:avLst/>
          </a:prstGeom>
          <a:noFill/>
          <a:ln w="22225">
            <a:solidFill>
              <a:srgbClr val="333333"/>
            </a:solidFill>
            <a:prstDash val="solid"/>
            <a:tailEnd type="triangle"/>
          </a:ln>
        </p:spPr>
      </p:sp>
      <p:pic>
        <p:nvPicPr>
          <p:cNvPr id="85" name="Image 17" descr="frame_composite.png"/>
          <p:cNvPicPr>
            <a:picLocks noChangeAspect="1"/>
          </p:cNvPicPr>
          <p:nvPr/>
        </p:nvPicPr>
        <p:blipFill>
          <a:blip r:embed="rId20"/>
          <a:stretch>
            <a:fillRect/>
          </a:stretch>
        </p:blipFill>
        <p:spPr>
          <a:xfrm>
            <a:off x="9537192" y="4407408"/>
            <a:ext cx="1783080" cy="914400"/>
          </a:xfrm>
          <a:prstGeom prst="rect">
            <a:avLst/>
          </a:prstGeom>
        </p:spPr>
      </p:pic>
      <p:sp>
        <p:nvSpPr>
          <p:cNvPr id="86" name="Text 66"/>
          <p:cNvSpPr/>
          <p:nvPr/>
        </p:nvSpPr>
        <p:spPr>
          <a:xfrm>
            <a:off x="9308592" y="5349240"/>
            <a:ext cx="2240280" cy="237744"/>
          </a:xfrm>
          <a:prstGeom prst="rect">
            <a:avLst/>
          </a:prstGeom>
          <a:noFill/>
          <a:ln/>
        </p:spPr>
        <p:txBody>
          <a:bodyPr wrap="square" rtlCol="0" anchor="ctr"/>
          <a:lstStyle/>
          <a:p>
            <a:pPr marL="0" indent="0" algn="ctr">
              <a:buNone/>
            </a:pPr>
            <a:r>
              <a:rPr lang="en-US" sz="950" i="1" dirty="0">
                <a:solidFill>
                  <a:srgbClr val="555555"/>
                </a:solidFill>
                <a:latin typeface="Times New Roman" panose="02020603050405020304" pitchFamily="18" charset="0"/>
                <a:ea typeface="Calibri" pitchFamily="34" charset="-122"/>
                <a:cs typeface="Times New Roman" panose="02020603050405020304" pitchFamily="18" charset="0"/>
              </a:rPr>
              <a:t>Composited Preview</a:t>
            </a:r>
            <a:endParaRPr lang="en-US" sz="950" dirty="0">
              <a:latin typeface="Times New Roman" panose="02020603050405020304" pitchFamily="18" charset="0"/>
              <a:cs typeface="Times New Roman" panose="02020603050405020304" pitchFamily="18" charset="0"/>
            </a:endParaRPr>
          </a:p>
        </p:txBody>
      </p:sp>
      <p:pic>
        <p:nvPicPr>
          <p:cNvPr id="87" name="Image 18" descr="frame_composite.png"/>
          <p:cNvPicPr>
            <a:picLocks noChangeAspect="1"/>
          </p:cNvPicPr>
          <p:nvPr/>
        </p:nvPicPr>
        <p:blipFill>
          <a:blip r:embed="rId20"/>
          <a:stretch>
            <a:fillRect/>
          </a:stretch>
        </p:blipFill>
        <p:spPr>
          <a:xfrm>
            <a:off x="11841480" y="1417320"/>
            <a:ext cx="1828800" cy="1234440"/>
          </a:xfrm>
          <a:prstGeom prst="rect">
            <a:avLst/>
          </a:prstGeom>
        </p:spPr>
      </p:pic>
      <p:sp>
        <p:nvSpPr>
          <p:cNvPr id="88" name="Text 67"/>
          <p:cNvSpPr/>
          <p:nvPr/>
        </p:nvSpPr>
        <p:spPr>
          <a:xfrm>
            <a:off x="11658600" y="2715768"/>
            <a:ext cx="2194560" cy="457200"/>
          </a:xfrm>
          <a:prstGeom prst="rect">
            <a:avLst/>
          </a:prstGeom>
          <a:noFill/>
          <a:ln/>
        </p:spPr>
        <p:txBody>
          <a:bodyPr wrap="square" rtlCol="0" anchor="ctr"/>
          <a:lstStyle/>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Green-Screen-Free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Composited Output</a:t>
            </a:r>
            <a:endParaRPr lang="en-US" sz="1100" dirty="0">
              <a:latin typeface="Times New Roman" panose="02020603050405020304" pitchFamily="18" charset="0"/>
              <a:cs typeface="Times New Roman" panose="02020603050405020304" pitchFamily="18" charset="0"/>
            </a:endParaRPr>
          </a:p>
        </p:txBody>
      </p:sp>
      <p:pic>
        <p:nvPicPr>
          <p:cNvPr id="89" name="Image 19" descr="icons/check.png"/>
          <p:cNvPicPr>
            <a:picLocks noChangeAspect="1"/>
          </p:cNvPicPr>
          <p:nvPr/>
        </p:nvPicPr>
        <p:blipFill>
          <a:blip r:embed="rId21"/>
          <a:stretch>
            <a:fillRect/>
          </a:stretch>
        </p:blipFill>
        <p:spPr>
          <a:xfrm>
            <a:off x="12499848" y="3246120"/>
            <a:ext cx="512064" cy="512064"/>
          </a:xfrm>
          <a:prstGeom prst="rect">
            <a:avLst/>
          </a:prstGeom>
        </p:spPr>
      </p:pic>
      <p:sp>
        <p:nvSpPr>
          <p:cNvPr id="90" name="Text 68"/>
          <p:cNvSpPr/>
          <p:nvPr/>
        </p:nvSpPr>
        <p:spPr>
          <a:xfrm>
            <a:off x="11750040" y="3886200"/>
            <a:ext cx="2011680" cy="548640"/>
          </a:xfrm>
          <a:prstGeom prst="rect">
            <a:avLst/>
          </a:prstGeom>
          <a:noFill/>
          <a:ln/>
        </p:spPr>
        <p:txBody>
          <a:bodyPr wrap="square" rtlCol="0" anchor="ctr"/>
          <a:lstStyle/>
          <a:p>
            <a:pPr marL="0" indent="0" algn="ctr">
              <a:buNone/>
            </a:pPr>
            <a:r>
              <a:rPr lang="en-US" sz="950" dirty="0">
                <a:solidFill>
                  <a:srgbClr val="000000"/>
                </a:solidFill>
                <a:latin typeface="Times New Roman" panose="02020603050405020304" pitchFamily="18" charset="0"/>
                <a:ea typeface="Calibri" pitchFamily="34" charset="-122"/>
                <a:cs typeface="Times New Roman" panose="02020603050405020304" pitchFamily="18" charset="0"/>
              </a:rPr>
              <a:t>Real-Time Video Frame</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dirty="0">
                <a:solidFill>
                  <a:srgbClr val="000000"/>
                </a:solidFill>
                <a:latin typeface="Times New Roman" panose="02020603050405020304" pitchFamily="18" charset="0"/>
                <a:ea typeface="Calibri" pitchFamily="34" charset="-122"/>
                <a:cs typeface="Times New Roman" panose="02020603050405020304" pitchFamily="18" charset="0"/>
              </a:rPr>
              <a:t>Ready for Broadcast / Streaming</a:t>
            </a:r>
            <a:endParaRPr lang="en-US" sz="950" dirty="0">
              <a:latin typeface="Times New Roman" panose="02020603050405020304" pitchFamily="18" charset="0"/>
              <a:cs typeface="Times New Roman" panose="02020603050405020304" pitchFamily="18" charset="0"/>
            </a:endParaRPr>
          </a:p>
        </p:txBody>
      </p:sp>
      <p:pic>
        <p:nvPicPr>
          <p:cNvPr id="91" name="Image 20" descr="icons/film.png"/>
          <p:cNvPicPr>
            <a:picLocks noChangeAspect="1"/>
          </p:cNvPicPr>
          <p:nvPr/>
        </p:nvPicPr>
        <p:blipFill>
          <a:blip r:embed="rId22"/>
          <a:stretch>
            <a:fillRect/>
          </a:stretch>
        </p:blipFill>
        <p:spPr>
          <a:xfrm>
            <a:off x="12499848" y="4480560"/>
            <a:ext cx="512064" cy="512064"/>
          </a:xfrm>
          <a:prstGeom prst="rect">
            <a:avLst/>
          </a:prstGeom>
        </p:spPr>
      </p:pic>
      <p:sp>
        <p:nvSpPr>
          <p:cNvPr id="92" name="Shape 69"/>
          <p:cNvSpPr/>
          <p:nvPr/>
        </p:nvSpPr>
        <p:spPr>
          <a:xfrm>
            <a:off x="2304288" y="2377440"/>
            <a:ext cx="73152" cy="0"/>
          </a:xfrm>
          <a:prstGeom prst="line">
            <a:avLst/>
          </a:prstGeom>
          <a:noFill/>
          <a:ln w="25400">
            <a:solidFill>
              <a:srgbClr val="3D85C6"/>
            </a:solidFill>
            <a:prstDash val="solid"/>
            <a:tailEnd type="triangle"/>
          </a:ln>
        </p:spPr>
      </p:sp>
      <p:sp>
        <p:nvSpPr>
          <p:cNvPr id="93" name="Shape 70"/>
          <p:cNvSpPr/>
          <p:nvPr/>
        </p:nvSpPr>
        <p:spPr>
          <a:xfrm>
            <a:off x="4425696" y="2377440"/>
            <a:ext cx="73152" cy="0"/>
          </a:xfrm>
          <a:prstGeom prst="line">
            <a:avLst/>
          </a:prstGeom>
          <a:noFill/>
          <a:ln w="25400">
            <a:solidFill>
              <a:srgbClr val="6AA84F"/>
            </a:solidFill>
            <a:prstDash val="solid"/>
            <a:tailEnd type="triangle"/>
          </a:ln>
        </p:spPr>
      </p:sp>
      <p:sp>
        <p:nvSpPr>
          <p:cNvPr id="94" name="Shape 71"/>
          <p:cNvSpPr/>
          <p:nvPr/>
        </p:nvSpPr>
        <p:spPr>
          <a:xfrm>
            <a:off x="6867144" y="2377440"/>
            <a:ext cx="73152" cy="0"/>
          </a:xfrm>
          <a:prstGeom prst="line">
            <a:avLst/>
          </a:prstGeom>
          <a:noFill/>
          <a:ln w="25400">
            <a:solidFill>
              <a:srgbClr val="BF9000"/>
            </a:solidFill>
            <a:prstDash val="solid"/>
            <a:tailEnd type="triangle"/>
          </a:ln>
        </p:spPr>
      </p:sp>
      <p:sp>
        <p:nvSpPr>
          <p:cNvPr id="95" name="Shape 72"/>
          <p:cNvSpPr/>
          <p:nvPr/>
        </p:nvSpPr>
        <p:spPr>
          <a:xfrm>
            <a:off x="9217152" y="2377440"/>
            <a:ext cx="73152" cy="0"/>
          </a:xfrm>
          <a:prstGeom prst="line">
            <a:avLst/>
          </a:prstGeom>
          <a:noFill/>
          <a:ln w="25400">
            <a:solidFill>
              <a:srgbClr val="8E5FC5"/>
            </a:solidFill>
            <a:prstDash val="solid"/>
            <a:tailEnd type="triangle"/>
          </a:ln>
        </p:spPr>
      </p:sp>
      <p:sp>
        <p:nvSpPr>
          <p:cNvPr id="96" name="Shape 73"/>
          <p:cNvSpPr/>
          <p:nvPr/>
        </p:nvSpPr>
        <p:spPr>
          <a:xfrm>
            <a:off x="11567160" y="2377440"/>
            <a:ext cx="73152" cy="0"/>
          </a:xfrm>
          <a:prstGeom prst="line">
            <a:avLst/>
          </a:prstGeom>
          <a:noFill/>
          <a:ln w="25400">
            <a:solidFill>
              <a:srgbClr val="E69138"/>
            </a:solidFill>
            <a:prstDash val="solid"/>
            <a:tailEnd type="triangle"/>
          </a:ln>
        </p:spPr>
      </p:sp>
      <p:sp>
        <p:nvSpPr>
          <p:cNvPr id="97" name="Shape 74"/>
          <p:cNvSpPr/>
          <p:nvPr/>
        </p:nvSpPr>
        <p:spPr>
          <a:xfrm>
            <a:off x="1371600" y="5852160"/>
            <a:ext cx="9966960" cy="1691640"/>
          </a:xfrm>
          <a:prstGeom prst="roundRect">
            <a:avLst>
              <a:gd name="adj" fmla="val 4324"/>
            </a:avLst>
          </a:prstGeom>
          <a:ln w="19050">
            <a:solidFill>
              <a:srgbClr val="1B3A6B"/>
            </a:solidFill>
            <a:prstDash val="dash"/>
          </a:ln>
        </p:spPr>
      </p:sp>
      <p:sp>
        <p:nvSpPr>
          <p:cNvPr id="98" name="Shape 75"/>
          <p:cNvSpPr/>
          <p:nvPr/>
        </p:nvSpPr>
        <p:spPr>
          <a:xfrm>
            <a:off x="4389120" y="5669280"/>
            <a:ext cx="3931920" cy="384048"/>
          </a:xfrm>
          <a:prstGeom prst="roundRect">
            <a:avLst>
              <a:gd name="adj" fmla="val 14286"/>
            </a:avLst>
          </a:prstGeom>
          <a:solidFill>
            <a:srgbClr val="FFFFFF"/>
          </a:solidFill>
          <a:ln w="15875">
            <a:solidFill>
              <a:srgbClr val="3D85C6"/>
            </a:solidFill>
            <a:prstDash val="solid"/>
          </a:ln>
        </p:spPr>
      </p:sp>
      <p:sp>
        <p:nvSpPr>
          <p:cNvPr id="99" name="Text 76"/>
          <p:cNvSpPr/>
          <p:nvPr/>
        </p:nvSpPr>
        <p:spPr>
          <a:xfrm>
            <a:off x="4389120" y="5669280"/>
            <a:ext cx="3931920" cy="384048"/>
          </a:xfrm>
          <a:prstGeom prst="rect">
            <a:avLst/>
          </a:prstGeom>
          <a:noFill/>
          <a:ln/>
        </p:spPr>
        <p:txBody>
          <a:bodyPr wrap="square" rtlCol="0" anchor="ctr"/>
          <a:lstStyle/>
          <a:p>
            <a:pPr marL="0" indent="0" algn="ctr">
              <a:buNone/>
            </a:pPr>
            <a:r>
              <a:rPr lang="en-US" sz="1050" b="1" dirty="0">
                <a:solidFill>
                  <a:srgbClr val="000000"/>
                </a:solidFill>
                <a:latin typeface="Times New Roman" panose="02020603050405020304" pitchFamily="18" charset="0"/>
                <a:ea typeface="Calibri" pitchFamily="34" charset="-122"/>
                <a:cs typeface="Times New Roman" panose="02020603050405020304" pitchFamily="18" charset="0"/>
              </a:rPr>
              <a:t>Adaptive Background Model Bank (Updated per Frame)</a:t>
            </a:r>
            <a:endParaRPr lang="en-US" sz="1050" dirty="0">
              <a:latin typeface="Times New Roman" panose="02020603050405020304" pitchFamily="18" charset="0"/>
              <a:cs typeface="Times New Roman" panose="02020603050405020304" pitchFamily="18" charset="0"/>
            </a:endParaRPr>
          </a:p>
        </p:txBody>
      </p:sp>
      <p:pic>
        <p:nvPicPr>
          <p:cNvPr id="100" name="Image 21" descr="icons/database.png"/>
          <p:cNvPicPr>
            <a:picLocks noChangeAspect="1"/>
          </p:cNvPicPr>
          <p:nvPr/>
        </p:nvPicPr>
        <p:blipFill>
          <a:blip r:embed="rId23"/>
          <a:stretch>
            <a:fillRect/>
          </a:stretch>
        </p:blipFill>
        <p:spPr>
          <a:xfrm>
            <a:off x="1508760" y="6263640"/>
            <a:ext cx="594360" cy="594360"/>
          </a:xfrm>
          <a:prstGeom prst="rect">
            <a:avLst/>
          </a:prstGeom>
        </p:spPr>
      </p:pic>
      <p:sp>
        <p:nvSpPr>
          <p:cNvPr id="101" name="Text 77"/>
          <p:cNvSpPr/>
          <p:nvPr/>
        </p:nvSpPr>
        <p:spPr>
          <a:xfrm>
            <a:off x="1261872" y="6876288"/>
            <a:ext cx="960120" cy="457200"/>
          </a:xfrm>
          <a:prstGeom prst="rect">
            <a:avLst/>
          </a:prstGeom>
          <a:noFill/>
          <a:ln/>
        </p:spPr>
        <p:txBody>
          <a:bodyPr wrap="square" rtlCol="0" anchor="ctr"/>
          <a:lstStyle/>
          <a:p>
            <a:pPr marL="0" indent="0" algn="ctr">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Model</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Store</a:t>
            </a:r>
            <a:endParaRPr lang="en-US" sz="1000" dirty="0">
              <a:latin typeface="Times New Roman" panose="02020603050405020304" pitchFamily="18" charset="0"/>
              <a:cs typeface="Times New Roman" panose="02020603050405020304" pitchFamily="18" charset="0"/>
            </a:endParaRPr>
          </a:p>
        </p:txBody>
      </p:sp>
      <p:sp>
        <p:nvSpPr>
          <p:cNvPr id="102" name="Shape 78"/>
          <p:cNvSpPr/>
          <p:nvPr/>
        </p:nvSpPr>
        <p:spPr>
          <a:xfrm>
            <a:off x="2148840" y="6565392"/>
            <a:ext cx="274320" cy="0"/>
          </a:xfrm>
          <a:prstGeom prst="line">
            <a:avLst/>
          </a:prstGeom>
          <a:noFill/>
          <a:ln w="25400">
            <a:solidFill>
              <a:srgbClr val="333333"/>
            </a:solidFill>
            <a:prstDash val="solid"/>
            <a:tailEnd type="triangle"/>
          </a:ln>
        </p:spPr>
      </p:sp>
      <p:sp>
        <p:nvSpPr>
          <p:cNvPr id="103" name="Shape 79"/>
          <p:cNvSpPr/>
          <p:nvPr/>
        </p:nvSpPr>
        <p:spPr>
          <a:xfrm>
            <a:off x="2560320" y="6309360"/>
            <a:ext cx="1691640" cy="777240"/>
          </a:xfrm>
          <a:prstGeom prst="rect">
            <a:avLst/>
          </a:prstGeom>
          <a:solidFill>
            <a:srgbClr val="EFEFEF"/>
          </a:solidFill>
          <a:ln w="12700">
            <a:solidFill>
              <a:srgbClr val="666666"/>
            </a:solidFill>
            <a:prstDash val="solid"/>
          </a:ln>
        </p:spPr>
      </p:sp>
      <p:pic>
        <p:nvPicPr>
          <p:cNvPr id="104" name="Image 22" descr="icons/gaussian.png"/>
          <p:cNvPicPr>
            <a:picLocks noChangeAspect="1"/>
          </p:cNvPicPr>
          <p:nvPr/>
        </p:nvPicPr>
        <p:blipFill>
          <a:blip r:embed="rId24"/>
          <a:stretch>
            <a:fillRect/>
          </a:stretch>
        </p:blipFill>
        <p:spPr>
          <a:xfrm>
            <a:off x="3204972" y="6382512"/>
            <a:ext cx="402336" cy="402336"/>
          </a:xfrm>
          <a:prstGeom prst="rect">
            <a:avLst/>
          </a:prstGeom>
        </p:spPr>
      </p:pic>
      <p:sp>
        <p:nvSpPr>
          <p:cNvPr id="105" name="Text 80"/>
          <p:cNvSpPr/>
          <p:nvPr/>
        </p:nvSpPr>
        <p:spPr>
          <a:xfrm>
            <a:off x="2560320" y="6784848"/>
            <a:ext cx="1691640" cy="256032"/>
          </a:xfrm>
          <a:prstGeom prst="rect">
            <a:avLst/>
          </a:prstGeom>
          <a:noFill/>
          <a:ln/>
        </p:spPr>
        <p:txBody>
          <a:bodyPr wrap="square" rtlCol="0" anchor="ctr"/>
          <a:lstStyle/>
          <a:p>
            <a:pPr marL="0" indent="0" algn="ctr">
              <a:buNone/>
            </a:pPr>
            <a:r>
              <a:rPr lang="en-US" sz="900" b="1" dirty="0">
                <a:solidFill>
                  <a:srgbClr val="000000"/>
                </a:solidFill>
                <a:latin typeface="Calibri" pitchFamily="34" charset="0"/>
                <a:ea typeface="Calibri" pitchFamily="34" charset="-122"/>
                <a:cs typeface="Calibri" pitchFamily="34" charset="-120"/>
              </a:rPr>
              <a:t>t − 3</a:t>
            </a:r>
            <a:endParaRPr lang="en-US" sz="900" dirty="0"/>
          </a:p>
        </p:txBody>
      </p:sp>
      <p:sp>
        <p:nvSpPr>
          <p:cNvPr id="106" name="Text 81"/>
          <p:cNvSpPr/>
          <p:nvPr/>
        </p:nvSpPr>
        <p:spPr>
          <a:xfrm>
            <a:off x="4270248" y="6492240"/>
            <a:ext cx="530352" cy="365760"/>
          </a:xfrm>
          <a:prstGeom prst="rect">
            <a:avLst/>
          </a:prstGeom>
          <a:noFill/>
          <a:ln/>
        </p:spPr>
        <p:txBody>
          <a:bodyPr wrap="square" rtlCol="0" anchor="ctr"/>
          <a:lstStyle/>
          <a:p>
            <a:pPr marL="0" indent="0" algn="ctr">
              <a:buNone/>
            </a:pPr>
            <a:r>
              <a:rPr lang="en-US" sz="1600" b="1" dirty="0">
                <a:solidFill>
                  <a:srgbClr val="000000"/>
                </a:solidFill>
              </a:rPr>
              <a:t>→</a:t>
            </a:r>
            <a:endParaRPr lang="en-US" sz="1600" dirty="0"/>
          </a:p>
        </p:txBody>
      </p:sp>
      <p:sp>
        <p:nvSpPr>
          <p:cNvPr id="107" name="Shape 82"/>
          <p:cNvSpPr/>
          <p:nvPr/>
        </p:nvSpPr>
        <p:spPr>
          <a:xfrm>
            <a:off x="4818888" y="6309360"/>
            <a:ext cx="1691640" cy="777240"/>
          </a:xfrm>
          <a:prstGeom prst="rect">
            <a:avLst/>
          </a:prstGeom>
          <a:solidFill>
            <a:srgbClr val="EFEFEF"/>
          </a:solidFill>
          <a:ln w="12700">
            <a:solidFill>
              <a:srgbClr val="666666"/>
            </a:solidFill>
            <a:prstDash val="solid"/>
          </a:ln>
        </p:spPr>
      </p:sp>
      <p:pic>
        <p:nvPicPr>
          <p:cNvPr id="108" name="Image 23" descr="icons/gaussian.png"/>
          <p:cNvPicPr>
            <a:picLocks noChangeAspect="1"/>
          </p:cNvPicPr>
          <p:nvPr/>
        </p:nvPicPr>
        <p:blipFill>
          <a:blip r:embed="rId24"/>
          <a:stretch>
            <a:fillRect/>
          </a:stretch>
        </p:blipFill>
        <p:spPr>
          <a:xfrm>
            <a:off x="5463540" y="6382512"/>
            <a:ext cx="402336" cy="402336"/>
          </a:xfrm>
          <a:prstGeom prst="rect">
            <a:avLst/>
          </a:prstGeom>
        </p:spPr>
      </p:pic>
      <p:sp>
        <p:nvSpPr>
          <p:cNvPr id="109" name="Text 83"/>
          <p:cNvSpPr/>
          <p:nvPr/>
        </p:nvSpPr>
        <p:spPr>
          <a:xfrm>
            <a:off x="4818888" y="6784848"/>
            <a:ext cx="1691640" cy="256032"/>
          </a:xfrm>
          <a:prstGeom prst="rect">
            <a:avLst/>
          </a:prstGeom>
          <a:noFill/>
          <a:ln/>
        </p:spPr>
        <p:txBody>
          <a:bodyPr wrap="square" rtlCol="0" anchor="ctr"/>
          <a:lstStyle/>
          <a:p>
            <a:pPr marL="0" indent="0" algn="ctr">
              <a:buNone/>
            </a:pPr>
            <a:r>
              <a:rPr lang="en-US" sz="900" b="1" dirty="0">
                <a:solidFill>
                  <a:srgbClr val="000000"/>
                </a:solidFill>
                <a:latin typeface="Calibri" pitchFamily="34" charset="0"/>
                <a:ea typeface="Calibri" pitchFamily="34" charset="-122"/>
                <a:cs typeface="Calibri" pitchFamily="34" charset="-120"/>
              </a:rPr>
              <a:t>t − 2</a:t>
            </a:r>
            <a:endParaRPr lang="en-US" sz="900" dirty="0"/>
          </a:p>
        </p:txBody>
      </p:sp>
      <p:sp>
        <p:nvSpPr>
          <p:cNvPr id="110" name="Text 84"/>
          <p:cNvSpPr/>
          <p:nvPr/>
        </p:nvSpPr>
        <p:spPr>
          <a:xfrm>
            <a:off x="6528816" y="6492240"/>
            <a:ext cx="530352" cy="365760"/>
          </a:xfrm>
          <a:prstGeom prst="rect">
            <a:avLst/>
          </a:prstGeom>
          <a:noFill/>
          <a:ln/>
        </p:spPr>
        <p:txBody>
          <a:bodyPr wrap="square" rtlCol="0" anchor="ctr"/>
          <a:lstStyle/>
          <a:p>
            <a:pPr marL="0" indent="0" algn="ctr">
              <a:buNone/>
            </a:pPr>
            <a:r>
              <a:rPr lang="en-US" sz="1600" b="1" dirty="0">
                <a:solidFill>
                  <a:srgbClr val="000000"/>
                </a:solidFill>
              </a:rPr>
              <a:t>→</a:t>
            </a:r>
            <a:endParaRPr lang="en-US" sz="1600" dirty="0"/>
          </a:p>
        </p:txBody>
      </p:sp>
      <p:sp>
        <p:nvSpPr>
          <p:cNvPr id="111" name="Shape 85"/>
          <p:cNvSpPr/>
          <p:nvPr/>
        </p:nvSpPr>
        <p:spPr>
          <a:xfrm>
            <a:off x="7077456" y="6309360"/>
            <a:ext cx="1691640" cy="777240"/>
          </a:xfrm>
          <a:prstGeom prst="rect">
            <a:avLst/>
          </a:prstGeom>
          <a:solidFill>
            <a:srgbClr val="EFEFEF"/>
          </a:solidFill>
          <a:ln w="12700">
            <a:solidFill>
              <a:srgbClr val="666666"/>
            </a:solidFill>
            <a:prstDash val="solid"/>
          </a:ln>
        </p:spPr>
      </p:sp>
      <p:pic>
        <p:nvPicPr>
          <p:cNvPr id="112" name="Image 24" descr="icons/gaussian.png"/>
          <p:cNvPicPr>
            <a:picLocks noChangeAspect="1"/>
          </p:cNvPicPr>
          <p:nvPr/>
        </p:nvPicPr>
        <p:blipFill>
          <a:blip r:embed="rId24"/>
          <a:stretch>
            <a:fillRect/>
          </a:stretch>
        </p:blipFill>
        <p:spPr>
          <a:xfrm>
            <a:off x="7722108" y="6382512"/>
            <a:ext cx="402336" cy="402336"/>
          </a:xfrm>
          <a:prstGeom prst="rect">
            <a:avLst/>
          </a:prstGeom>
        </p:spPr>
      </p:pic>
      <p:sp>
        <p:nvSpPr>
          <p:cNvPr id="113" name="Text 86"/>
          <p:cNvSpPr/>
          <p:nvPr/>
        </p:nvSpPr>
        <p:spPr>
          <a:xfrm>
            <a:off x="7077456" y="6784848"/>
            <a:ext cx="1691640" cy="256032"/>
          </a:xfrm>
          <a:prstGeom prst="rect">
            <a:avLst/>
          </a:prstGeom>
          <a:noFill/>
          <a:ln/>
        </p:spPr>
        <p:txBody>
          <a:bodyPr wrap="square" rtlCol="0" anchor="ctr"/>
          <a:lstStyle/>
          <a:p>
            <a:pPr marL="0" indent="0" algn="ctr">
              <a:buNone/>
            </a:pPr>
            <a:r>
              <a:rPr lang="en-US" sz="900" b="1" dirty="0">
                <a:solidFill>
                  <a:srgbClr val="000000"/>
                </a:solidFill>
                <a:latin typeface="Calibri" pitchFamily="34" charset="0"/>
                <a:ea typeface="Calibri" pitchFamily="34" charset="-122"/>
                <a:cs typeface="Calibri" pitchFamily="34" charset="-120"/>
              </a:rPr>
              <a:t>t − 1</a:t>
            </a:r>
            <a:endParaRPr lang="en-US" sz="900" dirty="0"/>
          </a:p>
        </p:txBody>
      </p:sp>
      <p:sp>
        <p:nvSpPr>
          <p:cNvPr id="114" name="Text 87"/>
          <p:cNvSpPr/>
          <p:nvPr/>
        </p:nvSpPr>
        <p:spPr>
          <a:xfrm>
            <a:off x="8787384" y="6492240"/>
            <a:ext cx="530352" cy="365760"/>
          </a:xfrm>
          <a:prstGeom prst="rect">
            <a:avLst/>
          </a:prstGeom>
          <a:noFill/>
          <a:ln/>
        </p:spPr>
        <p:txBody>
          <a:bodyPr wrap="square" rtlCol="0" anchor="ctr"/>
          <a:lstStyle/>
          <a:p>
            <a:pPr marL="0" indent="0" algn="ctr">
              <a:buNone/>
            </a:pPr>
            <a:r>
              <a:rPr lang="en-US" sz="1600" b="1" dirty="0">
                <a:solidFill>
                  <a:srgbClr val="000000"/>
                </a:solidFill>
              </a:rPr>
              <a:t>→</a:t>
            </a:r>
            <a:endParaRPr lang="en-US" sz="1600" dirty="0"/>
          </a:p>
        </p:txBody>
      </p:sp>
      <p:sp>
        <p:nvSpPr>
          <p:cNvPr id="115" name="Shape 88"/>
          <p:cNvSpPr/>
          <p:nvPr/>
        </p:nvSpPr>
        <p:spPr>
          <a:xfrm>
            <a:off x="9336024" y="6309360"/>
            <a:ext cx="1691640" cy="777240"/>
          </a:xfrm>
          <a:prstGeom prst="rect">
            <a:avLst/>
          </a:prstGeom>
          <a:solidFill>
            <a:srgbClr val="FDF3D0"/>
          </a:solidFill>
          <a:ln w="12700">
            <a:solidFill>
              <a:srgbClr val="666666"/>
            </a:solidFill>
            <a:prstDash val="solid"/>
          </a:ln>
        </p:spPr>
      </p:sp>
      <p:pic>
        <p:nvPicPr>
          <p:cNvPr id="116" name="Image 25" descr="icons/gaussian.png"/>
          <p:cNvPicPr>
            <a:picLocks noChangeAspect="1"/>
          </p:cNvPicPr>
          <p:nvPr/>
        </p:nvPicPr>
        <p:blipFill>
          <a:blip r:embed="rId24"/>
          <a:stretch>
            <a:fillRect/>
          </a:stretch>
        </p:blipFill>
        <p:spPr>
          <a:xfrm>
            <a:off x="9980676" y="6382512"/>
            <a:ext cx="402336" cy="402336"/>
          </a:xfrm>
          <a:prstGeom prst="rect">
            <a:avLst/>
          </a:prstGeom>
        </p:spPr>
      </p:pic>
      <p:sp>
        <p:nvSpPr>
          <p:cNvPr id="117" name="Text 89"/>
          <p:cNvSpPr/>
          <p:nvPr/>
        </p:nvSpPr>
        <p:spPr>
          <a:xfrm>
            <a:off x="9336024" y="6784848"/>
            <a:ext cx="1691640" cy="256032"/>
          </a:xfrm>
          <a:prstGeom prst="rect">
            <a:avLst/>
          </a:prstGeom>
          <a:noFill/>
          <a:ln/>
        </p:spPr>
        <p:txBody>
          <a:bodyPr wrap="square" rtlCol="0" anchor="ctr"/>
          <a:lstStyle/>
          <a:p>
            <a:pPr marL="0" indent="0" algn="ctr">
              <a:buNone/>
            </a:pPr>
            <a:r>
              <a:rPr lang="en-US" sz="900" b="1" dirty="0">
                <a:solidFill>
                  <a:srgbClr val="000000"/>
                </a:solidFill>
                <a:latin typeface="Calibri" pitchFamily="34" charset="0"/>
                <a:ea typeface="Calibri" pitchFamily="34" charset="-122"/>
                <a:cs typeface="Calibri" pitchFamily="34" charset="-120"/>
              </a:rPr>
              <a:t>t (Current)</a:t>
            </a:r>
            <a:endParaRPr lang="en-US" sz="900" dirty="0"/>
          </a:p>
        </p:txBody>
      </p:sp>
      <p:sp>
        <p:nvSpPr>
          <p:cNvPr id="118" name="Text 90"/>
          <p:cNvSpPr/>
          <p:nvPr/>
        </p:nvSpPr>
        <p:spPr>
          <a:xfrm>
            <a:off x="2468880" y="7132320"/>
            <a:ext cx="7863840" cy="292608"/>
          </a:xfrm>
          <a:prstGeom prst="rect">
            <a:avLst/>
          </a:prstGeom>
          <a:noFill/>
          <a:ln/>
        </p:spPr>
        <p:txBody>
          <a:bodyPr wrap="square" rtlCol="0" anchor="ctr"/>
          <a:lstStyle/>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Continuously Updated Gaussian Parameters (μ, σ², ω)</a:t>
            </a:r>
            <a:endParaRPr lang="en-US" sz="1000" dirty="0">
              <a:latin typeface="Times New Roman" panose="02020603050405020304" pitchFamily="18" charset="0"/>
              <a:cs typeface="Times New Roman" panose="02020603050405020304" pitchFamily="18" charset="0"/>
            </a:endParaRPr>
          </a:p>
        </p:txBody>
      </p:sp>
      <p:sp>
        <p:nvSpPr>
          <p:cNvPr id="119" name="Shape 91"/>
          <p:cNvSpPr/>
          <p:nvPr/>
        </p:nvSpPr>
        <p:spPr>
          <a:xfrm flipV="1">
            <a:off x="5682996" y="5596128"/>
            <a:ext cx="0" cy="237744"/>
          </a:xfrm>
          <a:prstGeom prst="line">
            <a:avLst/>
          </a:prstGeom>
          <a:noFill/>
          <a:ln w="19050">
            <a:solidFill>
              <a:srgbClr val="1B3A6B"/>
            </a:solidFill>
            <a:prstDash val="dash"/>
            <a:tailEnd type="triangle"/>
          </a:ln>
        </p:spPr>
      </p:sp>
      <p:sp>
        <p:nvSpPr>
          <p:cNvPr id="120" name="Shape 92"/>
          <p:cNvSpPr/>
          <p:nvPr/>
        </p:nvSpPr>
        <p:spPr>
          <a:xfrm>
            <a:off x="11567160" y="5852160"/>
            <a:ext cx="2286000" cy="365760"/>
          </a:xfrm>
          <a:prstGeom prst="roundRect">
            <a:avLst>
              <a:gd name="adj" fmla="val 15000"/>
            </a:avLst>
          </a:prstGeom>
          <a:solidFill>
            <a:srgbClr val="DCE9F7"/>
          </a:solidFill>
          <a:ln w="15875">
            <a:solidFill>
              <a:srgbClr val="3D6FA5"/>
            </a:solidFill>
            <a:prstDash val="solid"/>
          </a:ln>
        </p:spPr>
      </p:sp>
      <p:sp>
        <p:nvSpPr>
          <p:cNvPr id="121" name="Text 93"/>
          <p:cNvSpPr/>
          <p:nvPr/>
        </p:nvSpPr>
        <p:spPr>
          <a:xfrm>
            <a:off x="11567160" y="5852160"/>
            <a:ext cx="2286000" cy="365760"/>
          </a:xfrm>
          <a:prstGeom prst="rect">
            <a:avLst/>
          </a:prstGeom>
          <a:noFill/>
          <a:ln/>
        </p:spPr>
        <p:txBody>
          <a:bodyPr wrap="square" rtlCol="0" anchor="ctr"/>
          <a:lstStyle/>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Performance &amp; Logging</a:t>
            </a:r>
            <a:endParaRPr lang="en-US" sz="1100" dirty="0">
              <a:latin typeface="Times New Roman" panose="02020603050405020304" pitchFamily="18" charset="0"/>
              <a:cs typeface="Times New Roman" panose="02020603050405020304" pitchFamily="18" charset="0"/>
            </a:endParaRPr>
          </a:p>
        </p:txBody>
      </p:sp>
      <p:sp>
        <p:nvSpPr>
          <p:cNvPr id="122" name="Shape 94"/>
          <p:cNvSpPr/>
          <p:nvPr/>
        </p:nvSpPr>
        <p:spPr>
          <a:xfrm>
            <a:off x="11567160" y="6217920"/>
            <a:ext cx="2286000" cy="1325880"/>
          </a:xfrm>
          <a:prstGeom prst="roundRect">
            <a:avLst>
              <a:gd name="adj" fmla="val 3448"/>
            </a:avLst>
          </a:prstGeom>
          <a:solidFill>
            <a:srgbClr val="F4F9FD"/>
          </a:solidFill>
          <a:ln w="15875">
            <a:solidFill>
              <a:srgbClr val="3D6FA5"/>
            </a:solidFill>
            <a:prstDash val="solid"/>
          </a:ln>
        </p:spPr>
      </p:sp>
      <p:sp>
        <p:nvSpPr>
          <p:cNvPr id="123" name="Text 95"/>
          <p:cNvSpPr/>
          <p:nvPr/>
        </p:nvSpPr>
        <p:spPr>
          <a:xfrm>
            <a:off x="11704320" y="6281928"/>
            <a:ext cx="2011680" cy="237744"/>
          </a:xfrm>
          <a:prstGeom prst="rect">
            <a:avLst/>
          </a:prstGeom>
          <a:noFill/>
          <a:ln/>
        </p:spPr>
        <p:txBody>
          <a:bodyPr wrap="square" rtlCol="0" anchor="ctr"/>
          <a:lstStyle/>
          <a:p>
            <a:pPr marL="0" indent="0">
              <a:buNone/>
            </a:pPr>
            <a:r>
              <a:rPr lang="en-US" sz="970" dirty="0">
                <a:solidFill>
                  <a:srgbClr val="000000"/>
                </a:solidFill>
                <a:latin typeface="Times New Roman" panose="02020603050405020304" pitchFamily="18" charset="0"/>
                <a:ea typeface="Calibri" pitchFamily="34" charset="-122"/>
                <a:cs typeface="Times New Roman" panose="02020603050405020304" pitchFamily="18" charset="0"/>
              </a:rPr>
              <a:t>• Frames per Second (FPS)</a:t>
            </a:r>
            <a:endParaRPr lang="en-US" sz="970" dirty="0">
              <a:latin typeface="Times New Roman" panose="02020603050405020304" pitchFamily="18" charset="0"/>
              <a:cs typeface="Times New Roman" panose="02020603050405020304" pitchFamily="18" charset="0"/>
            </a:endParaRPr>
          </a:p>
        </p:txBody>
      </p:sp>
      <p:sp>
        <p:nvSpPr>
          <p:cNvPr id="124" name="Text 96"/>
          <p:cNvSpPr/>
          <p:nvPr/>
        </p:nvSpPr>
        <p:spPr>
          <a:xfrm>
            <a:off x="11704320" y="6524244"/>
            <a:ext cx="2011680" cy="237744"/>
          </a:xfrm>
          <a:prstGeom prst="rect">
            <a:avLst/>
          </a:prstGeom>
          <a:noFill/>
          <a:ln/>
        </p:spPr>
        <p:txBody>
          <a:bodyPr wrap="square" rtlCol="0" anchor="ctr"/>
          <a:lstStyle/>
          <a:p>
            <a:pPr marL="0" indent="0">
              <a:buNone/>
            </a:pPr>
            <a:r>
              <a:rPr lang="en-US" sz="970" dirty="0">
                <a:solidFill>
                  <a:srgbClr val="000000"/>
                </a:solidFill>
                <a:latin typeface="Times New Roman" panose="02020603050405020304" pitchFamily="18" charset="0"/>
                <a:ea typeface="Calibri" pitchFamily="34" charset="-122"/>
                <a:cs typeface="Times New Roman" panose="02020603050405020304" pitchFamily="18" charset="0"/>
              </a:rPr>
              <a:t>• Mask IoU / Accuracy</a:t>
            </a:r>
            <a:endParaRPr lang="en-US" sz="970" dirty="0">
              <a:latin typeface="Times New Roman" panose="02020603050405020304" pitchFamily="18" charset="0"/>
              <a:cs typeface="Times New Roman" panose="02020603050405020304" pitchFamily="18" charset="0"/>
            </a:endParaRPr>
          </a:p>
        </p:txBody>
      </p:sp>
      <p:sp>
        <p:nvSpPr>
          <p:cNvPr id="125" name="Text 97"/>
          <p:cNvSpPr/>
          <p:nvPr/>
        </p:nvSpPr>
        <p:spPr>
          <a:xfrm>
            <a:off x="11704320" y="6766560"/>
            <a:ext cx="2011680" cy="237744"/>
          </a:xfrm>
          <a:prstGeom prst="rect">
            <a:avLst/>
          </a:prstGeom>
          <a:noFill/>
          <a:ln/>
        </p:spPr>
        <p:txBody>
          <a:bodyPr wrap="square" rtlCol="0" anchor="ctr"/>
          <a:lstStyle/>
          <a:p>
            <a:pPr marL="0" indent="0">
              <a:buNone/>
            </a:pPr>
            <a:r>
              <a:rPr lang="en-US" sz="970" dirty="0">
                <a:solidFill>
                  <a:srgbClr val="000000"/>
                </a:solidFill>
                <a:latin typeface="Times New Roman" panose="02020603050405020304" pitchFamily="18" charset="0"/>
                <a:ea typeface="Calibri" pitchFamily="34" charset="-122"/>
                <a:cs typeface="Times New Roman" panose="02020603050405020304" pitchFamily="18" charset="0"/>
              </a:rPr>
              <a:t>• Processing Time / Frame</a:t>
            </a:r>
            <a:endParaRPr lang="en-US" sz="970" dirty="0">
              <a:latin typeface="Times New Roman" panose="02020603050405020304" pitchFamily="18" charset="0"/>
              <a:cs typeface="Times New Roman" panose="02020603050405020304" pitchFamily="18" charset="0"/>
            </a:endParaRPr>
          </a:p>
        </p:txBody>
      </p:sp>
      <p:sp>
        <p:nvSpPr>
          <p:cNvPr id="126" name="Text 98"/>
          <p:cNvSpPr/>
          <p:nvPr/>
        </p:nvSpPr>
        <p:spPr>
          <a:xfrm>
            <a:off x="11704320" y="7008876"/>
            <a:ext cx="2011680" cy="237744"/>
          </a:xfrm>
          <a:prstGeom prst="rect">
            <a:avLst/>
          </a:prstGeom>
          <a:noFill/>
          <a:ln/>
        </p:spPr>
        <p:txBody>
          <a:bodyPr wrap="square" rtlCol="0" anchor="ctr"/>
          <a:lstStyle/>
          <a:p>
            <a:pPr marL="0" indent="0">
              <a:buNone/>
            </a:pPr>
            <a:r>
              <a:rPr lang="en-US" sz="970" dirty="0">
                <a:solidFill>
                  <a:srgbClr val="000000"/>
                </a:solidFill>
                <a:latin typeface="Times New Roman" panose="02020603050405020304" pitchFamily="18" charset="0"/>
                <a:ea typeface="Calibri" pitchFamily="34" charset="-122"/>
                <a:cs typeface="Times New Roman" panose="02020603050405020304" pitchFamily="18" charset="0"/>
              </a:rPr>
              <a:t>• Model Update Count</a:t>
            </a:r>
            <a:endParaRPr lang="en-US" sz="970" dirty="0">
              <a:latin typeface="Times New Roman" panose="02020603050405020304" pitchFamily="18" charset="0"/>
              <a:cs typeface="Times New Roman" panose="02020603050405020304" pitchFamily="18" charset="0"/>
            </a:endParaRPr>
          </a:p>
        </p:txBody>
      </p:sp>
      <p:sp>
        <p:nvSpPr>
          <p:cNvPr id="127" name="Text 99"/>
          <p:cNvSpPr/>
          <p:nvPr/>
        </p:nvSpPr>
        <p:spPr>
          <a:xfrm>
            <a:off x="11704320" y="7251192"/>
            <a:ext cx="2011680" cy="237744"/>
          </a:xfrm>
          <a:prstGeom prst="rect">
            <a:avLst/>
          </a:prstGeom>
          <a:noFill/>
          <a:ln/>
        </p:spPr>
        <p:txBody>
          <a:bodyPr wrap="square" rtlCol="0" anchor="ctr"/>
          <a:lstStyle/>
          <a:p>
            <a:pPr marL="0" indent="0">
              <a:buNone/>
            </a:pPr>
            <a:r>
              <a:rPr lang="en-US" sz="970" dirty="0">
                <a:solidFill>
                  <a:srgbClr val="000000"/>
                </a:solidFill>
                <a:latin typeface="Times New Roman" panose="02020603050405020304" pitchFamily="18" charset="0"/>
                <a:ea typeface="Calibri" pitchFamily="34" charset="-122"/>
                <a:cs typeface="Times New Roman" panose="02020603050405020304" pitchFamily="18" charset="0"/>
              </a:rPr>
              <a:t>• Store Composited Frames</a:t>
            </a:r>
            <a:endParaRPr lang="en-US" sz="970" dirty="0">
              <a:latin typeface="Times New Roman" panose="02020603050405020304" pitchFamily="18" charset="0"/>
              <a:cs typeface="Times New Roman" panose="02020603050405020304" pitchFamily="18" charset="0"/>
            </a:endParaRPr>
          </a:p>
        </p:txBody>
      </p:sp>
      <p:sp>
        <p:nvSpPr>
          <p:cNvPr id="128" name="Shape 100"/>
          <p:cNvSpPr/>
          <p:nvPr/>
        </p:nvSpPr>
        <p:spPr>
          <a:xfrm flipH="1">
            <a:off x="12710160" y="5596128"/>
            <a:ext cx="45720" cy="237744"/>
          </a:xfrm>
          <a:prstGeom prst="line">
            <a:avLst/>
          </a:prstGeom>
          <a:noFill/>
          <a:ln w="19050">
            <a:solidFill>
              <a:srgbClr val="1B3A6B"/>
            </a:solidFill>
            <a:prstDash val="dash"/>
            <a:tailEnd type="triangle"/>
          </a:ln>
        </p:spPr>
      </p:sp>
      <p:sp>
        <p:nvSpPr>
          <p:cNvPr id="130" name="Text 102"/>
          <p:cNvSpPr/>
          <p:nvPr/>
        </p:nvSpPr>
        <p:spPr>
          <a:xfrm>
            <a:off x="274320" y="7891272"/>
            <a:ext cx="3017520" cy="274320"/>
          </a:xfrm>
          <a:prstGeom prst="rect">
            <a:avLst/>
          </a:prstGeom>
          <a:noFill/>
          <a:ln/>
        </p:spPr>
        <p:txBody>
          <a:bodyPr wrap="square" rtlCol="0" anchor="ctr"/>
          <a:lstStyle/>
          <a:p>
            <a:pPr marL="0" indent="0">
              <a:buNone/>
            </a:pPr>
            <a:r>
              <a:rPr lang="en-US" sz="1200" b="1" dirty="0">
                <a:solidFill>
                  <a:srgbClr val="111111"/>
                </a:solidFill>
                <a:latin typeface="Times New Roman" panose="02020603050405020304" pitchFamily="18" charset="0"/>
                <a:ea typeface="Calibri" pitchFamily="34" charset="-122"/>
                <a:cs typeface="Times New Roman" panose="02020603050405020304" pitchFamily="18" charset="0"/>
              </a:rPr>
              <a:t>Key Features</a:t>
            </a:r>
            <a:endParaRPr lang="en-US" sz="1200" dirty="0">
              <a:latin typeface="Times New Roman" panose="02020603050405020304" pitchFamily="18" charset="0"/>
              <a:cs typeface="Times New Roman" panose="02020603050405020304" pitchFamily="18" charset="0"/>
            </a:endParaRPr>
          </a:p>
        </p:txBody>
      </p:sp>
      <p:sp>
        <p:nvSpPr>
          <p:cNvPr id="131" name="Text 103"/>
          <p:cNvSpPr/>
          <p:nvPr/>
        </p:nvSpPr>
        <p:spPr>
          <a:xfrm>
            <a:off x="320040" y="8202168"/>
            <a:ext cx="297180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No Green Screen Required</a:t>
            </a:r>
            <a:endParaRPr lang="en-US" sz="1000" dirty="0">
              <a:latin typeface="Times New Roman" panose="02020603050405020304" pitchFamily="18" charset="0"/>
              <a:cs typeface="Times New Roman" panose="02020603050405020304" pitchFamily="18" charset="0"/>
            </a:endParaRPr>
          </a:p>
        </p:txBody>
      </p:sp>
      <p:sp>
        <p:nvSpPr>
          <p:cNvPr id="132" name="Text 104"/>
          <p:cNvSpPr/>
          <p:nvPr/>
        </p:nvSpPr>
        <p:spPr>
          <a:xfrm>
            <a:off x="320040" y="8449056"/>
            <a:ext cx="297180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Adaptive to Illumination Changes</a:t>
            </a:r>
            <a:endParaRPr lang="en-US" sz="1000" dirty="0">
              <a:latin typeface="Times New Roman" panose="02020603050405020304" pitchFamily="18" charset="0"/>
              <a:cs typeface="Times New Roman" panose="02020603050405020304" pitchFamily="18" charset="0"/>
            </a:endParaRPr>
          </a:p>
        </p:txBody>
      </p:sp>
      <p:sp>
        <p:nvSpPr>
          <p:cNvPr id="133" name="Text 105"/>
          <p:cNvSpPr/>
          <p:nvPr/>
        </p:nvSpPr>
        <p:spPr>
          <a:xfrm>
            <a:off x="320040" y="8695944"/>
            <a:ext cx="297180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Handles Dynamic Backgrounds</a:t>
            </a:r>
            <a:endParaRPr lang="en-US" sz="1000" dirty="0">
              <a:latin typeface="Times New Roman" panose="02020603050405020304" pitchFamily="18" charset="0"/>
              <a:cs typeface="Times New Roman" panose="02020603050405020304" pitchFamily="18" charset="0"/>
            </a:endParaRPr>
          </a:p>
        </p:txBody>
      </p:sp>
      <p:sp>
        <p:nvSpPr>
          <p:cNvPr id="134" name="Text 106"/>
          <p:cNvSpPr/>
          <p:nvPr/>
        </p:nvSpPr>
        <p:spPr>
          <a:xfrm>
            <a:off x="320040" y="8942832"/>
            <a:ext cx="297180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Real-Time Frame-Rate Processing</a:t>
            </a:r>
            <a:endParaRPr lang="en-US" sz="1000" dirty="0">
              <a:latin typeface="Times New Roman" panose="02020603050405020304" pitchFamily="18" charset="0"/>
              <a:cs typeface="Times New Roman" panose="02020603050405020304" pitchFamily="18" charset="0"/>
            </a:endParaRPr>
          </a:p>
        </p:txBody>
      </p:sp>
      <p:sp>
        <p:nvSpPr>
          <p:cNvPr id="135" name="Shape 107"/>
          <p:cNvSpPr/>
          <p:nvPr/>
        </p:nvSpPr>
        <p:spPr>
          <a:xfrm>
            <a:off x="3657600" y="7978140"/>
            <a:ext cx="7178040" cy="1417320"/>
          </a:xfrm>
          <a:prstGeom prst="roundRect">
            <a:avLst>
              <a:gd name="adj" fmla="val 3871"/>
            </a:avLst>
          </a:prstGeom>
          <a:solidFill>
            <a:srgbClr val="FFFFFF"/>
          </a:solidFill>
          <a:ln w="19050">
            <a:solidFill>
              <a:srgbClr val="3D85C6"/>
            </a:solidFill>
            <a:prstDash val="solid"/>
          </a:ln>
        </p:spPr>
      </p:sp>
      <p:sp>
        <p:nvSpPr>
          <p:cNvPr id="136" name="Text 108"/>
          <p:cNvSpPr/>
          <p:nvPr/>
        </p:nvSpPr>
        <p:spPr>
          <a:xfrm>
            <a:off x="3794760" y="7891272"/>
            <a:ext cx="1828800" cy="274320"/>
          </a:xfrm>
          <a:prstGeom prst="rect">
            <a:avLst/>
          </a:prstGeom>
          <a:noFill/>
          <a:ln/>
        </p:spPr>
        <p:txBody>
          <a:bodyPr wrap="square" rtlCol="0" anchor="ctr"/>
          <a:lstStyle/>
          <a:p>
            <a:pPr marL="0" indent="0">
              <a:buNone/>
            </a:pPr>
            <a:r>
              <a:rPr lang="en-US" sz="1200" b="1" dirty="0">
                <a:solidFill>
                  <a:srgbClr val="111111"/>
                </a:solidFill>
                <a:latin typeface="Times New Roman" panose="02020603050405020304" pitchFamily="18" charset="0"/>
                <a:ea typeface="Calibri" pitchFamily="34" charset="-122"/>
                <a:cs typeface="Times New Roman" panose="02020603050405020304" pitchFamily="18" charset="0"/>
              </a:rPr>
              <a:t>Legend (Flow)</a:t>
            </a:r>
            <a:endParaRPr lang="en-US" sz="1200" dirty="0">
              <a:latin typeface="Times New Roman" panose="02020603050405020304" pitchFamily="18" charset="0"/>
              <a:cs typeface="Times New Roman" panose="02020603050405020304" pitchFamily="18" charset="0"/>
            </a:endParaRPr>
          </a:p>
        </p:txBody>
      </p:sp>
      <p:sp>
        <p:nvSpPr>
          <p:cNvPr id="137" name="Shape 109"/>
          <p:cNvSpPr/>
          <p:nvPr/>
        </p:nvSpPr>
        <p:spPr>
          <a:xfrm>
            <a:off x="3840480" y="8476488"/>
            <a:ext cx="960120" cy="594360"/>
          </a:xfrm>
          <a:prstGeom prst="roundRect">
            <a:avLst>
              <a:gd name="adj" fmla="val 9231"/>
            </a:avLst>
          </a:prstGeom>
          <a:solidFill>
            <a:srgbClr val="CFE2F3"/>
          </a:solidFill>
          <a:ln w="15875">
            <a:solidFill>
              <a:srgbClr val="3D85C6"/>
            </a:solidFill>
            <a:prstDash val="solid"/>
          </a:ln>
        </p:spPr>
      </p:sp>
      <p:sp>
        <p:nvSpPr>
          <p:cNvPr id="138" name="Text 110"/>
          <p:cNvSpPr/>
          <p:nvPr/>
        </p:nvSpPr>
        <p:spPr>
          <a:xfrm>
            <a:off x="3840480"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Video</a:t>
            </a:r>
            <a:endParaRPr lang="en-US" sz="930" dirty="0">
              <a:latin typeface="Times New Roman" panose="02020603050405020304" pitchFamily="18" charset="0"/>
              <a:cs typeface="Times New Roman" panose="02020603050405020304" pitchFamily="18" charset="0"/>
            </a:endParaRPr>
          </a:p>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Input</a:t>
            </a:r>
            <a:endParaRPr lang="en-US" sz="930" dirty="0">
              <a:latin typeface="Times New Roman" panose="02020603050405020304" pitchFamily="18" charset="0"/>
              <a:cs typeface="Times New Roman" panose="02020603050405020304" pitchFamily="18" charset="0"/>
            </a:endParaRPr>
          </a:p>
        </p:txBody>
      </p:sp>
      <p:sp>
        <p:nvSpPr>
          <p:cNvPr id="139" name="Shape 111"/>
          <p:cNvSpPr/>
          <p:nvPr/>
        </p:nvSpPr>
        <p:spPr>
          <a:xfrm>
            <a:off x="4818888" y="8773668"/>
            <a:ext cx="182880" cy="0"/>
          </a:xfrm>
          <a:prstGeom prst="line">
            <a:avLst/>
          </a:prstGeom>
          <a:noFill/>
          <a:ln w="25400">
            <a:solidFill>
              <a:srgbClr val="333333"/>
            </a:solidFill>
            <a:prstDash val="solid"/>
            <a:tailEnd type="triangle"/>
          </a:ln>
        </p:spPr>
      </p:sp>
      <p:sp>
        <p:nvSpPr>
          <p:cNvPr id="140" name="Shape 112"/>
          <p:cNvSpPr/>
          <p:nvPr/>
        </p:nvSpPr>
        <p:spPr>
          <a:xfrm>
            <a:off x="5020056" y="8476488"/>
            <a:ext cx="960120" cy="594360"/>
          </a:xfrm>
          <a:prstGeom prst="roundRect">
            <a:avLst>
              <a:gd name="adj" fmla="val 9231"/>
            </a:avLst>
          </a:prstGeom>
          <a:solidFill>
            <a:srgbClr val="D9EAD3"/>
          </a:solidFill>
          <a:ln w="15875">
            <a:solidFill>
              <a:srgbClr val="6AA84F"/>
            </a:solidFill>
            <a:prstDash val="solid"/>
          </a:ln>
        </p:spPr>
      </p:sp>
      <p:sp>
        <p:nvSpPr>
          <p:cNvPr id="141" name="Text 113"/>
          <p:cNvSpPr/>
          <p:nvPr/>
        </p:nvSpPr>
        <p:spPr>
          <a:xfrm>
            <a:off x="5020056"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Preprocessing</a:t>
            </a:r>
            <a:endParaRPr lang="en-US" sz="930" dirty="0">
              <a:latin typeface="Times New Roman" panose="02020603050405020304" pitchFamily="18" charset="0"/>
              <a:cs typeface="Times New Roman" panose="02020603050405020304" pitchFamily="18" charset="0"/>
            </a:endParaRPr>
          </a:p>
        </p:txBody>
      </p:sp>
      <p:sp>
        <p:nvSpPr>
          <p:cNvPr id="142" name="Shape 114"/>
          <p:cNvSpPr/>
          <p:nvPr/>
        </p:nvSpPr>
        <p:spPr>
          <a:xfrm>
            <a:off x="5998464" y="8773668"/>
            <a:ext cx="182880" cy="0"/>
          </a:xfrm>
          <a:prstGeom prst="line">
            <a:avLst/>
          </a:prstGeom>
          <a:noFill/>
          <a:ln w="25400">
            <a:solidFill>
              <a:srgbClr val="333333"/>
            </a:solidFill>
            <a:prstDash val="solid"/>
            <a:tailEnd type="triangle"/>
          </a:ln>
        </p:spPr>
      </p:sp>
      <p:sp>
        <p:nvSpPr>
          <p:cNvPr id="143" name="Shape 115"/>
          <p:cNvSpPr/>
          <p:nvPr/>
        </p:nvSpPr>
        <p:spPr>
          <a:xfrm>
            <a:off x="6199632" y="8476488"/>
            <a:ext cx="960120" cy="594360"/>
          </a:xfrm>
          <a:prstGeom prst="roundRect">
            <a:avLst>
              <a:gd name="adj" fmla="val 9231"/>
            </a:avLst>
          </a:prstGeom>
          <a:solidFill>
            <a:srgbClr val="FFF2CC"/>
          </a:solidFill>
          <a:ln w="15875">
            <a:solidFill>
              <a:srgbClr val="BF9000"/>
            </a:solidFill>
            <a:prstDash val="solid"/>
          </a:ln>
        </p:spPr>
      </p:sp>
      <p:sp>
        <p:nvSpPr>
          <p:cNvPr id="144" name="Text 116"/>
          <p:cNvSpPr/>
          <p:nvPr/>
        </p:nvSpPr>
        <p:spPr>
          <a:xfrm>
            <a:off x="6199632"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GMM</a:t>
            </a:r>
            <a:endParaRPr lang="en-US" sz="930" dirty="0">
              <a:latin typeface="Times New Roman" panose="02020603050405020304" pitchFamily="18" charset="0"/>
              <a:cs typeface="Times New Roman" panose="02020603050405020304" pitchFamily="18" charset="0"/>
            </a:endParaRPr>
          </a:p>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Modeling</a:t>
            </a:r>
            <a:endParaRPr lang="en-US" sz="930" dirty="0">
              <a:latin typeface="Times New Roman" panose="02020603050405020304" pitchFamily="18" charset="0"/>
              <a:cs typeface="Times New Roman" panose="02020603050405020304" pitchFamily="18" charset="0"/>
            </a:endParaRPr>
          </a:p>
        </p:txBody>
      </p:sp>
      <p:sp>
        <p:nvSpPr>
          <p:cNvPr id="145" name="Shape 117"/>
          <p:cNvSpPr/>
          <p:nvPr/>
        </p:nvSpPr>
        <p:spPr>
          <a:xfrm>
            <a:off x="7178040" y="8773668"/>
            <a:ext cx="182880" cy="0"/>
          </a:xfrm>
          <a:prstGeom prst="line">
            <a:avLst/>
          </a:prstGeom>
          <a:noFill/>
          <a:ln w="25400">
            <a:solidFill>
              <a:srgbClr val="333333"/>
            </a:solidFill>
            <a:prstDash val="solid"/>
            <a:tailEnd type="triangle"/>
          </a:ln>
        </p:spPr>
      </p:sp>
      <p:sp>
        <p:nvSpPr>
          <p:cNvPr id="146" name="Shape 118"/>
          <p:cNvSpPr/>
          <p:nvPr/>
        </p:nvSpPr>
        <p:spPr>
          <a:xfrm>
            <a:off x="7379208" y="8476488"/>
            <a:ext cx="960120" cy="594360"/>
          </a:xfrm>
          <a:prstGeom prst="roundRect">
            <a:avLst>
              <a:gd name="adj" fmla="val 9231"/>
            </a:avLst>
          </a:prstGeom>
          <a:solidFill>
            <a:srgbClr val="E5D8F0"/>
          </a:solidFill>
          <a:ln w="15875">
            <a:solidFill>
              <a:srgbClr val="8E5FC5"/>
            </a:solidFill>
            <a:prstDash val="solid"/>
          </a:ln>
        </p:spPr>
      </p:sp>
      <p:sp>
        <p:nvSpPr>
          <p:cNvPr id="147" name="Text 119"/>
          <p:cNvSpPr/>
          <p:nvPr/>
        </p:nvSpPr>
        <p:spPr>
          <a:xfrm>
            <a:off x="7379208"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Mask</a:t>
            </a:r>
            <a:endParaRPr lang="en-US" sz="930" dirty="0">
              <a:latin typeface="Times New Roman" panose="02020603050405020304" pitchFamily="18" charset="0"/>
              <a:cs typeface="Times New Roman" panose="02020603050405020304" pitchFamily="18" charset="0"/>
            </a:endParaRPr>
          </a:p>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Refinement</a:t>
            </a:r>
            <a:endParaRPr lang="en-US" sz="930" dirty="0">
              <a:latin typeface="Times New Roman" panose="02020603050405020304" pitchFamily="18" charset="0"/>
              <a:cs typeface="Times New Roman" panose="02020603050405020304" pitchFamily="18" charset="0"/>
            </a:endParaRPr>
          </a:p>
        </p:txBody>
      </p:sp>
      <p:sp>
        <p:nvSpPr>
          <p:cNvPr id="148" name="Shape 120"/>
          <p:cNvSpPr/>
          <p:nvPr/>
        </p:nvSpPr>
        <p:spPr>
          <a:xfrm>
            <a:off x="8357616" y="8773668"/>
            <a:ext cx="182880" cy="0"/>
          </a:xfrm>
          <a:prstGeom prst="line">
            <a:avLst/>
          </a:prstGeom>
          <a:noFill/>
          <a:ln w="25400">
            <a:solidFill>
              <a:srgbClr val="333333"/>
            </a:solidFill>
            <a:prstDash val="solid"/>
            <a:tailEnd type="triangle"/>
          </a:ln>
        </p:spPr>
      </p:sp>
      <p:sp>
        <p:nvSpPr>
          <p:cNvPr id="149" name="Shape 121"/>
          <p:cNvSpPr/>
          <p:nvPr/>
        </p:nvSpPr>
        <p:spPr>
          <a:xfrm>
            <a:off x="8558784" y="8476488"/>
            <a:ext cx="960120" cy="594360"/>
          </a:xfrm>
          <a:prstGeom prst="roundRect">
            <a:avLst>
              <a:gd name="adj" fmla="val 9231"/>
            </a:avLst>
          </a:prstGeom>
          <a:solidFill>
            <a:srgbClr val="FCE5CD"/>
          </a:solidFill>
          <a:ln w="15875">
            <a:solidFill>
              <a:srgbClr val="E69138"/>
            </a:solidFill>
            <a:prstDash val="solid"/>
          </a:ln>
        </p:spPr>
      </p:sp>
      <p:sp>
        <p:nvSpPr>
          <p:cNvPr id="150" name="Text 122"/>
          <p:cNvSpPr/>
          <p:nvPr/>
        </p:nvSpPr>
        <p:spPr>
          <a:xfrm>
            <a:off x="8558784"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Compositing</a:t>
            </a:r>
            <a:endParaRPr lang="en-US" sz="930" dirty="0">
              <a:latin typeface="Times New Roman" panose="02020603050405020304" pitchFamily="18" charset="0"/>
              <a:cs typeface="Times New Roman" panose="02020603050405020304" pitchFamily="18" charset="0"/>
            </a:endParaRPr>
          </a:p>
        </p:txBody>
      </p:sp>
      <p:sp>
        <p:nvSpPr>
          <p:cNvPr id="151" name="Shape 123"/>
          <p:cNvSpPr/>
          <p:nvPr/>
        </p:nvSpPr>
        <p:spPr>
          <a:xfrm>
            <a:off x="9537192" y="8773668"/>
            <a:ext cx="182880" cy="0"/>
          </a:xfrm>
          <a:prstGeom prst="line">
            <a:avLst/>
          </a:prstGeom>
          <a:noFill/>
          <a:ln w="25400">
            <a:solidFill>
              <a:srgbClr val="333333"/>
            </a:solidFill>
            <a:prstDash val="solid"/>
            <a:tailEnd type="triangle"/>
          </a:ln>
        </p:spPr>
      </p:sp>
      <p:sp>
        <p:nvSpPr>
          <p:cNvPr id="152" name="Shape 124"/>
          <p:cNvSpPr/>
          <p:nvPr/>
        </p:nvSpPr>
        <p:spPr>
          <a:xfrm>
            <a:off x="9738360" y="8476488"/>
            <a:ext cx="960120" cy="594360"/>
          </a:xfrm>
          <a:prstGeom prst="roundRect">
            <a:avLst>
              <a:gd name="adj" fmla="val 9231"/>
            </a:avLst>
          </a:prstGeom>
          <a:solidFill>
            <a:srgbClr val="DCE9F7"/>
          </a:solidFill>
          <a:ln w="15875">
            <a:solidFill>
              <a:srgbClr val="3D6FA5"/>
            </a:solidFill>
            <a:prstDash val="solid"/>
          </a:ln>
        </p:spPr>
      </p:sp>
      <p:sp>
        <p:nvSpPr>
          <p:cNvPr id="153" name="Text 125"/>
          <p:cNvSpPr/>
          <p:nvPr/>
        </p:nvSpPr>
        <p:spPr>
          <a:xfrm>
            <a:off x="9738360" y="8476488"/>
            <a:ext cx="960120" cy="594360"/>
          </a:xfrm>
          <a:prstGeom prst="rect">
            <a:avLst/>
          </a:prstGeom>
          <a:noFill/>
          <a:ln/>
        </p:spPr>
        <p:txBody>
          <a:bodyPr wrap="square" rtlCol="0" anchor="ctr"/>
          <a:lstStyle/>
          <a:p>
            <a:pPr marL="0" indent="0" algn="ctr">
              <a:buNone/>
            </a:pPr>
            <a:r>
              <a:rPr lang="en-US" sz="930" b="1" dirty="0">
                <a:solidFill>
                  <a:srgbClr val="000000"/>
                </a:solidFill>
                <a:latin typeface="Times New Roman" panose="02020603050405020304" pitchFamily="18" charset="0"/>
                <a:ea typeface="Calibri" pitchFamily="34" charset="-122"/>
                <a:cs typeface="Times New Roman" panose="02020603050405020304" pitchFamily="18" charset="0"/>
              </a:rPr>
              <a:t>Output</a:t>
            </a:r>
            <a:endParaRPr lang="en-US" sz="93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4FEA86-E019-4C5E-884D-03847CC2533F}"/>
              </a:ext>
            </a:extLst>
          </p:cNvPr>
          <p:cNvSpPr txBox="1"/>
          <p:nvPr/>
        </p:nvSpPr>
        <p:spPr>
          <a:xfrm>
            <a:off x="1068388" y="3086457"/>
            <a:ext cx="12237929" cy="6119945"/>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GMM-Based Foreground Extraction for Green-Screen-Free Video Compositing is a computer vision approach that separates moving foreground objects from the background without requiring a physical green screen. The proposed method uses a Gaussian Mixture Model (GMM) to learn and model the background of a video sequence. Each incoming video frame is compared with the learned background model to identify foreground regions based on pixel-level variations. The extracted foreground mask is then refined using image-processing techniques to reduce noise and improve object boundaries. Finally, the detected foreground can be composited onto a new background, enabling green-screen-free video editing. This approach provides a simple and efficient solution for applications such as video conferencing, virtual backgrounds, surveillance, and multimedia content creation. The effectiveness of the method can be evaluated using metrics such as foreground extraction accuracy, false-positive rate, and false-negative rate.</a:t>
            </a:r>
          </a:p>
        </p:txBody>
      </p:sp>
      <p:pic>
        <p:nvPicPr>
          <p:cNvPr id="5" name="Picture 1">
            <a:extLst>
              <a:ext uri="{FF2B5EF4-FFF2-40B4-BE49-F238E27FC236}">
                <a16:creationId xmlns:a16="http://schemas.microsoft.com/office/drawing/2014/main" id="{6A147210-AC3D-DE80-14FC-3D3687FE9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54A796A-5822-5C98-A269-A5ADE2B3FBBC}"/>
              </a:ext>
            </a:extLst>
          </p:cNvPr>
          <p:cNvSpPr txBox="1"/>
          <p:nvPr/>
        </p:nvSpPr>
        <p:spPr>
          <a:xfrm>
            <a:off x="5699342" y="2102999"/>
            <a:ext cx="5047989"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325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453</Words>
  <Application>Microsoft Office PowerPoint</Application>
  <PresentationFormat>Custom</PresentationFormat>
  <Paragraphs>81</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Times New Roman</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yashu reddy</cp:lastModifiedBy>
  <cp:revision>2</cp:revision>
  <dcterms:created xsi:type="dcterms:W3CDTF">2026-08-11T03:57:45Z</dcterms:created>
  <dcterms:modified xsi:type="dcterms:W3CDTF">2026-08-11T05:11:55Z</dcterms:modified>
</cp:coreProperties>
</file>