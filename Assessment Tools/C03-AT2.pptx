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7" r:id="rId2"/>
    <p:sldId id="256" r:id="rId3"/>
    <p:sldId id="258" r:id="rId4"/>
  </p:sldIdLst>
  <p:sldSz cx="13990638" cy="9509125"/>
  <p:notesSz cx="9509125" cy="13990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4" d="100"/>
          <a:sy n="54" d="100"/>
        </p:scale>
        <p:origin x="82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1942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8A8E9854-2684-E9D8-4BBA-3D756CC8A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222250"/>
            <a:ext cx="11532796" cy="14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AF9A63C-0BAC-00B6-9C0E-B0E9B665341C}"/>
              </a:ext>
            </a:extLst>
          </p:cNvPr>
          <p:cNvSpPr txBox="1"/>
          <p:nvPr/>
        </p:nvSpPr>
        <p:spPr>
          <a:xfrm>
            <a:off x="3497283" y="3786571"/>
            <a:ext cx="6994566" cy="1938992"/>
          </a:xfrm>
          <a:prstGeom prst="rect">
            <a:avLst/>
          </a:prstGeom>
          <a:noFill/>
        </p:spPr>
        <p:txBody>
          <a:bodyPr wrap="square">
            <a:spAutoFit/>
          </a:bodyPr>
          <a:lstStyle/>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DSA0205-Computer Vision with Open CV</a:t>
            </a:r>
          </a:p>
          <a:p>
            <a:pPr algn="ctr"/>
            <a:endParaRPr lang="en-IN" sz="3000" dirty="0">
              <a:latin typeface="Times New Roman" panose="02020603050405020304" pitchFamily="18" charset="0"/>
              <a:ea typeface="Tahoma" panose="020B0604030504040204" pitchFamily="34" charset="0"/>
              <a:cs typeface="Times New Roman" panose="02020603050405020304" pitchFamily="18" charset="0"/>
            </a:endParaRPr>
          </a:p>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Guided By</a:t>
            </a:r>
          </a:p>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Dr. </a:t>
            </a:r>
            <a:r>
              <a:rPr lang="en-IN" sz="3000" dirty="0" err="1">
                <a:latin typeface="Times New Roman" panose="02020603050405020304" pitchFamily="18" charset="0"/>
                <a:ea typeface="Tahoma" panose="020B0604030504040204" pitchFamily="34" charset="0"/>
                <a:cs typeface="Times New Roman" panose="02020603050405020304" pitchFamily="18" charset="0"/>
              </a:rPr>
              <a:t>Narenthira</a:t>
            </a:r>
            <a:r>
              <a:rPr lang="en-IN" sz="3000" dirty="0">
                <a:latin typeface="Times New Roman" panose="02020603050405020304" pitchFamily="18" charset="0"/>
                <a:ea typeface="Tahoma" panose="020B0604030504040204" pitchFamily="34" charset="0"/>
                <a:cs typeface="Times New Roman" panose="02020603050405020304" pitchFamily="18" charset="0"/>
              </a:rPr>
              <a:t> Kumar A</a:t>
            </a:r>
            <a:endParaRPr lang="en-IN" dirty="0"/>
          </a:p>
        </p:txBody>
      </p:sp>
      <p:sp>
        <p:nvSpPr>
          <p:cNvPr id="6" name="TextBox 5">
            <a:extLst>
              <a:ext uri="{FF2B5EF4-FFF2-40B4-BE49-F238E27FC236}">
                <a16:creationId xmlns:a16="http://schemas.microsoft.com/office/drawing/2014/main" id="{9098A3C3-0A1D-2F8B-DBFF-77C5BB0EED5B}"/>
              </a:ext>
            </a:extLst>
          </p:cNvPr>
          <p:cNvSpPr txBox="1"/>
          <p:nvPr/>
        </p:nvSpPr>
        <p:spPr>
          <a:xfrm>
            <a:off x="7992094" y="7313543"/>
            <a:ext cx="5474525" cy="1200329"/>
          </a:xfrm>
          <a:prstGeom prst="rect">
            <a:avLst/>
          </a:prstGeom>
          <a:noFill/>
        </p:spPr>
        <p:txBody>
          <a:bodyPr wrap="square" rtlCol="0">
            <a:spAutoFit/>
          </a:bodyPr>
          <a:lstStyle/>
          <a:p>
            <a:r>
              <a:rPr lang="en-IN" sz="2400" b="1" dirty="0">
                <a:latin typeface="Times New Roman" panose="02020603050405020304" pitchFamily="18" charset="0"/>
                <a:ea typeface="Tahoma" panose="020B0604030504040204" pitchFamily="34" charset="0"/>
                <a:cs typeface="Times New Roman" panose="02020603050405020304" pitchFamily="18" charset="0"/>
              </a:rPr>
              <a:t>Name: A. Yaswanth</a:t>
            </a:r>
          </a:p>
          <a:p>
            <a:r>
              <a:rPr lang="en-IN" sz="2400" b="1" dirty="0">
                <a:latin typeface="Times New Roman" panose="02020603050405020304" pitchFamily="18" charset="0"/>
                <a:ea typeface="Tahoma" panose="020B0604030504040204" pitchFamily="34" charset="0"/>
                <a:cs typeface="Times New Roman" panose="02020603050405020304" pitchFamily="18" charset="0"/>
              </a:rPr>
              <a:t>Reg. No: 192324179</a:t>
            </a:r>
          </a:p>
          <a:p>
            <a:r>
              <a:rPr lang="en-IN" sz="2400" b="1" dirty="0">
                <a:latin typeface="Times New Roman" panose="02020603050405020304" pitchFamily="18" charset="0"/>
                <a:ea typeface="Tahoma" panose="020B0604030504040204" pitchFamily="34" charset="0"/>
                <a:cs typeface="Times New Roman" panose="02020603050405020304" pitchFamily="18" charset="0"/>
              </a:rPr>
              <a:t>Artificial Intelligence and Data Science</a:t>
            </a:r>
          </a:p>
        </p:txBody>
      </p:sp>
      <p:sp>
        <p:nvSpPr>
          <p:cNvPr id="7" name="TextBox 6">
            <a:extLst>
              <a:ext uri="{FF2B5EF4-FFF2-40B4-BE49-F238E27FC236}">
                <a16:creationId xmlns:a16="http://schemas.microsoft.com/office/drawing/2014/main" id="{34EDFA96-BDF3-6E0B-FDC1-315B721E1A7B}"/>
              </a:ext>
            </a:extLst>
          </p:cNvPr>
          <p:cNvSpPr txBox="1"/>
          <p:nvPr/>
        </p:nvSpPr>
        <p:spPr>
          <a:xfrm>
            <a:off x="2666010" y="2287380"/>
            <a:ext cx="8657111" cy="1661993"/>
          </a:xfrm>
          <a:prstGeom prst="rect">
            <a:avLst/>
          </a:prstGeom>
          <a:noFill/>
        </p:spPr>
        <p:txBody>
          <a:bodyPr wrap="square" rtlCol="0">
            <a:spAutoFit/>
          </a:bodyPr>
          <a:lstStyle/>
          <a:p>
            <a:pPr algn="ctr"/>
            <a:r>
              <a:rPr lang="en-US" sz="3400" b="1" dirty="0">
                <a:latin typeface="Times New Roman" panose="02020603050405020304" pitchFamily="18" charset="0"/>
                <a:ea typeface="Calibri" pitchFamily="34" charset="-122"/>
                <a:cs typeface="Times New Roman" panose="02020603050405020304" pitchFamily="18" charset="0"/>
              </a:rPr>
              <a:t> SIFT Feature Matching for</a:t>
            </a:r>
            <a:endParaRPr lang="en-US" sz="3400" dirty="0">
              <a:latin typeface="Times New Roman" panose="02020603050405020304" pitchFamily="18" charset="0"/>
              <a:cs typeface="Times New Roman" panose="02020603050405020304" pitchFamily="18" charset="0"/>
            </a:endParaRPr>
          </a:p>
          <a:p>
            <a:pPr algn="ctr"/>
            <a:r>
              <a:rPr lang="en-US" sz="3400" b="1" dirty="0">
                <a:latin typeface="Times New Roman" panose="02020603050405020304" pitchFamily="18" charset="0"/>
                <a:ea typeface="Calibri" pitchFamily="34" charset="-122"/>
                <a:cs typeface="Times New Roman" panose="02020603050405020304" pitchFamily="18" charset="0"/>
              </a:rPr>
              <a:t>Counterfeit Currency Detection</a:t>
            </a:r>
            <a:endParaRPr lang="en-US" sz="3400" dirty="0">
              <a:latin typeface="Times New Roman" panose="02020603050405020304" pitchFamily="18" charset="0"/>
              <a:cs typeface="Times New Roman" panose="02020603050405020304" pitchFamily="18" charset="0"/>
            </a:endParaRPr>
          </a:p>
          <a:p>
            <a:pPr algn="ctr"/>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6251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73152"/>
            <a:ext cx="13990320" cy="777240"/>
          </a:xfrm>
          <a:prstGeom prst="rect">
            <a:avLst/>
          </a:prstGeom>
          <a:noFill/>
          <a:ln/>
        </p:spPr>
        <p:txBody>
          <a:bodyPr wrap="square" rtlCol="0" anchor="ctr"/>
          <a:lstStyle/>
          <a:p>
            <a:pPr marL="0" indent="0" algn="ctr">
              <a:buNone/>
            </a:pPr>
            <a:r>
              <a:rPr lang="en-US" sz="2400" b="1" dirty="0">
                <a:latin typeface="Times New Roman" panose="02020603050405020304" pitchFamily="18" charset="0"/>
                <a:ea typeface="Calibri" pitchFamily="34" charset="-122"/>
                <a:cs typeface="Times New Roman" panose="02020603050405020304" pitchFamily="18" charset="0"/>
              </a:rPr>
              <a:t>System Architecture</a:t>
            </a:r>
            <a:endParaRPr lang="en-US" sz="2400" dirty="0">
              <a:latin typeface="Times New Roman" panose="02020603050405020304" pitchFamily="18" charset="0"/>
              <a:cs typeface="Times New Roman" panose="02020603050405020304" pitchFamily="18" charset="0"/>
            </a:endParaRPr>
          </a:p>
        </p:txBody>
      </p:sp>
      <p:sp>
        <p:nvSpPr>
          <p:cNvPr id="3" name="Shape 1"/>
          <p:cNvSpPr/>
          <p:nvPr/>
        </p:nvSpPr>
        <p:spPr>
          <a:xfrm>
            <a:off x="137160" y="960120"/>
            <a:ext cx="2148840" cy="3794760"/>
          </a:xfrm>
          <a:prstGeom prst="roundRect">
            <a:avLst>
              <a:gd name="adj" fmla="val 2128"/>
            </a:avLst>
          </a:prstGeom>
          <a:solidFill>
            <a:srgbClr val="FFFFFF"/>
          </a:solidFill>
          <a:ln w="19050">
            <a:solidFill>
              <a:srgbClr val="3D85C6"/>
            </a:solidFill>
            <a:prstDash val="solid"/>
          </a:ln>
        </p:spPr>
      </p:sp>
      <p:sp>
        <p:nvSpPr>
          <p:cNvPr id="4" name="Shape 2"/>
          <p:cNvSpPr/>
          <p:nvPr/>
        </p:nvSpPr>
        <p:spPr>
          <a:xfrm>
            <a:off x="137160" y="960120"/>
            <a:ext cx="2148840" cy="365760"/>
          </a:xfrm>
          <a:prstGeom prst="roundRect">
            <a:avLst>
              <a:gd name="adj" fmla="val 15000"/>
            </a:avLst>
          </a:prstGeom>
          <a:solidFill>
            <a:srgbClr val="CFE2F3"/>
          </a:solidFill>
          <a:ln w="15875">
            <a:solidFill>
              <a:srgbClr val="3D85C6"/>
            </a:solidFill>
            <a:prstDash val="solid"/>
          </a:ln>
        </p:spPr>
      </p:sp>
      <p:sp>
        <p:nvSpPr>
          <p:cNvPr id="5" name="Text 3"/>
          <p:cNvSpPr/>
          <p:nvPr/>
        </p:nvSpPr>
        <p:spPr>
          <a:xfrm>
            <a:off x="137160" y="960120"/>
            <a:ext cx="2148840" cy="365760"/>
          </a:xfrm>
          <a:prstGeom prst="rect">
            <a:avLst/>
          </a:prstGeom>
          <a:noFill/>
          <a:ln/>
        </p:spPr>
        <p:txBody>
          <a:bodyPr wrap="square" rtlCol="0" anchor="ctr"/>
          <a:lstStyle/>
          <a:p>
            <a:pPr marL="0" indent="0" algn="ctr">
              <a:buNone/>
            </a:pPr>
            <a:r>
              <a:rPr lang="en-US" sz="1300" b="1" dirty="0">
                <a:solidFill>
                  <a:srgbClr val="111111"/>
                </a:solidFill>
                <a:latin typeface="Times New Roman" panose="02020603050405020304" pitchFamily="18" charset="0"/>
                <a:ea typeface="Calibri" pitchFamily="34" charset="-122"/>
                <a:cs typeface="Times New Roman" panose="02020603050405020304" pitchFamily="18" charset="0"/>
              </a:rPr>
              <a:t>1. Input Acquisition</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2395728" y="960120"/>
            <a:ext cx="1965960" cy="3794760"/>
          </a:xfrm>
          <a:prstGeom prst="roundRect">
            <a:avLst>
              <a:gd name="adj" fmla="val 2326"/>
            </a:avLst>
          </a:prstGeom>
          <a:solidFill>
            <a:srgbClr val="FFFFFF"/>
          </a:solidFill>
          <a:ln w="19050">
            <a:solidFill>
              <a:srgbClr val="6AA84F"/>
            </a:solidFill>
            <a:prstDash val="solid"/>
          </a:ln>
        </p:spPr>
      </p:sp>
      <p:sp>
        <p:nvSpPr>
          <p:cNvPr id="7" name="Shape 5"/>
          <p:cNvSpPr/>
          <p:nvPr/>
        </p:nvSpPr>
        <p:spPr>
          <a:xfrm>
            <a:off x="2395728" y="960120"/>
            <a:ext cx="1965960" cy="365760"/>
          </a:xfrm>
          <a:prstGeom prst="roundRect">
            <a:avLst>
              <a:gd name="adj" fmla="val 15000"/>
            </a:avLst>
          </a:prstGeom>
          <a:solidFill>
            <a:srgbClr val="D9EAD3"/>
          </a:solidFill>
          <a:ln w="15875">
            <a:solidFill>
              <a:srgbClr val="6AA84F"/>
            </a:solidFill>
            <a:prstDash val="solid"/>
          </a:ln>
        </p:spPr>
      </p:sp>
      <p:sp>
        <p:nvSpPr>
          <p:cNvPr id="8" name="Text 6"/>
          <p:cNvSpPr/>
          <p:nvPr/>
        </p:nvSpPr>
        <p:spPr>
          <a:xfrm>
            <a:off x="2395728" y="960120"/>
            <a:ext cx="1965960" cy="365760"/>
          </a:xfrm>
          <a:prstGeom prst="rect">
            <a:avLst/>
          </a:prstGeom>
          <a:noFill/>
          <a:ln/>
        </p:spPr>
        <p:txBody>
          <a:bodyPr wrap="square" rtlCol="0" anchor="ctr"/>
          <a:lstStyle/>
          <a:p>
            <a:pPr marL="0" indent="0" algn="ctr">
              <a:buNone/>
            </a:pPr>
            <a:r>
              <a:rPr lang="en-US" sz="1300" b="1" dirty="0">
                <a:solidFill>
                  <a:srgbClr val="111111"/>
                </a:solidFill>
                <a:latin typeface="Times New Roman" panose="02020603050405020304" pitchFamily="18" charset="0"/>
                <a:ea typeface="Calibri" pitchFamily="34" charset="-122"/>
                <a:cs typeface="Times New Roman" panose="02020603050405020304" pitchFamily="18" charset="0"/>
              </a:rPr>
              <a:t>2. Preprocessing</a:t>
            </a:r>
            <a:endParaRPr lang="en-US" sz="1300" dirty="0">
              <a:latin typeface="Times New Roman" panose="02020603050405020304" pitchFamily="18" charset="0"/>
              <a:cs typeface="Times New Roman" panose="02020603050405020304" pitchFamily="18" charset="0"/>
            </a:endParaRPr>
          </a:p>
        </p:txBody>
      </p:sp>
      <p:sp>
        <p:nvSpPr>
          <p:cNvPr id="9" name="Shape 7"/>
          <p:cNvSpPr/>
          <p:nvPr/>
        </p:nvSpPr>
        <p:spPr>
          <a:xfrm>
            <a:off x="4471416" y="960120"/>
            <a:ext cx="2148840" cy="3794760"/>
          </a:xfrm>
          <a:prstGeom prst="roundRect">
            <a:avLst>
              <a:gd name="adj" fmla="val 2128"/>
            </a:avLst>
          </a:prstGeom>
          <a:solidFill>
            <a:srgbClr val="FFFFFF"/>
          </a:solidFill>
          <a:ln w="19050">
            <a:solidFill>
              <a:srgbClr val="BF9000"/>
            </a:solidFill>
            <a:prstDash val="solid"/>
          </a:ln>
        </p:spPr>
      </p:sp>
      <p:sp>
        <p:nvSpPr>
          <p:cNvPr id="10" name="Shape 8"/>
          <p:cNvSpPr/>
          <p:nvPr/>
        </p:nvSpPr>
        <p:spPr>
          <a:xfrm>
            <a:off x="4471416" y="960120"/>
            <a:ext cx="2148840" cy="365760"/>
          </a:xfrm>
          <a:prstGeom prst="roundRect">
            <a:avLst>
              <a:gd name="adj" fmla="val 15000"/>
            </a:avLst>
          </a:prstGeom>
          <a:solidFill>
            <a:srgbClr val="FFF2CC"/>
          </a:solidFill>
          <a:ln w="15875">
            <a:solidFill>
              <a:srgbClr val="BF9000"/>
            </a:solidFill>
            <a:prstDash val="solid"/>
          </a:ln>
        </p:spPr>
      </p:sp>
      <p:sp>
        <p:nvSpPr>
          <p:cNvPr id="11" name="Text 9"/>
          <p:cNvSpPr/>
          <p:nvPr/>
        </p:nvSpPr>
        <p:spPr>
          <a:xfrm>
            <a:off x="4471416" y="960120"/>
            <a:ext cx="2148840" cy="365760"/>
          </a:xfrm>
          <a:prstGeom prst="rect">
            <a:avLst/>
          </a:prstGeom>
          <a:noFill/>
          <a:ln/>
        </p:spPr>
        <p:txBody>
          <a:bodyPr wrap="square" rtlCol="0" anchor="ctr"/>
          <a:lstStyle/>
          <a:p>
            <a:pPr marL="0" indent="0" algn="ctr">
              <a:buNone/>
            </a:pPr>
            <a:r>
              <a:rPr lang="en-US" sz="1300" b="1" dirty="0">
                <a:solidFill>
                  <a:srgbClr val="111111"/>
                </a:solidFill>
                <a:latin typeface="Times New Roman" panose="02020603050405020304" pitchFamily="18" charset="0"/>
                <a:ea typeface="Calibri" pitchFamily="34" charset="-122"/>
                <a:cs typeface="Times New Roman" panose="02020603050405020304" pitchFamily="18" charset="0"/>
              </a:rPr>
              <a:t>3. SIFT Feature Extraction</a:t>
            </a:r>
            <a:endParaRPr lang="en-US" sz="1300" dirty="0">
              <a:latin typeface="Times New Roman" panose="02020603050405020304" pitchFamily="18" charset="0"/>
              <a:cs typeface="Times New Roman" panose="02020603050405020304" pitchFamily="18" charset="0"/>
            </a:endParaRPr>
          </a:p>
        </p:txBody>
      </p:sp>
      <p:sp>
        <p:nvSpPr>
          <p:cNvPr id="12" name="Shape 10"/>
          <p:cNvSpPr/>
          <p:nvPr/>
        </p:nvSpPr>
        <p:spPr>
          <a:xfrm>
            <a:off x="6729984" y="960120"/>
            <a:ext cx="2148840" cy="3794760"/>
          </a:xfrm>
          <a:prstGeom prst="roundRect">
            <a:avLst>
              <a:gd name="adj" fmla="val 2128"/>
            </a:avLst>
          </a:prstGeom>
          <a:solidFill>
            <a:srgbClr val="FFFFFF"/>
          </a:solidFill>
          <a:ln w="19050">
            <a:solidFill>
              <a:srgbClr val="8E5FC5"/>
            </a:solidFill>
            <a:prstDash val="solid"/>
          </a:ln>
        </p:spPr>
      </p:sp>
      <p:sp>
        <p:nvSpPr>
          <p:cNvPr id="13" name="Shape 11"/>
          <p:cNvSpPr/>
          <p:nvPr/>
        </p:nvSpPr>
        <p:spPr>
          <a:xfrm>
            <a:off x="6729984" y="960120"/>
            <a:ext cx="2148840" cy="365760"/>
          </a:xfrm>
          <a:prstGeom prst="roundRect">
            <a:avLst>
              <a:gd name="adj" fmla="val 15000"/>
            </a:avLst>
          </a:prstGeom>
          <a:solidFill>
            <a:srgbClr val="E5D8F0"/>
          </a:solidFill>
          <a:ln w="15875">
            <a:solidFill>
              <a:srgbClr val="8E5FC5"/>
            </a:solidFill>
            <a:prstDash val="solid"/>
          </a:ln>
        </p:spPr>
      </p:sp>
      <p:sp>
        <p:nvSpPr>
          <p:cNvPr id="14" name="Text 12"/>
          <p:cNvSpPr/>
          <p:nvPr/>
        </p:nvSpPr>
        <p:spPr>
          <a:xfrm>
            <a:off x="6729984" y="960120"/>
            <a:ext cx="2148840" cy="365760"/>
          </a:xfrm>
          <a:prstGeom prst="rect">
            <a:avLst/>
          </a:prstGeom>
          <a:noFill/>
          <a:ln/>
        </p:spPr>
        <p:txBody>
          <a:bodyPr wrap="square" rtlCol="0" anchor="ctr"/>
          <a:lstStyle/>
          <a:p>
            <a:pPr marL="0" indent="0" algn="ctr">
              <a:buNone/>
            </a:pPr>
            <a:r>
              <a:rPr lang="en-US" sz="1300" b="1" dirty="0">
                <a:solidFill>
                  <a:srgbClr val="111111"/>
                </a:solidFill>
                <a:latin typeface="Times New Roman" panose="02020603050405020304" pitchFamily="18" charset="0"/>
                <a:ea typeface="Calibri" pitchFamily="34" charset="-122"/>
                <a:cs typeface="Times New Roman" panose="02020603050405020304" pitchFamily="18" charset="0"/>
              </a:rPr>
              <a:t>4. Feature Matching</a:t>
            </a:r>
            <a:endParaRPr lang="en-US" sz="1300" dirty="0">
              <a:latin typeface="Times New Roman" panose="02020603050405020304" pitchFamily="18" charset="0"/>
              <a:cs typeface="Times New Roman" panose="02020603050405020304" pitchFamily="18" charset="0"/>
            </a:endParaRPr>
          </a:p>
        </p:txBody>
      </p:sp>
      <p:sp>
        <p:nvSpPr>
          <p:cNvPr id="15" name="Shape 13"/>
          <p:cNvSpPr/>
          <p:nvPr/>
        </p:nvSpPr>
        <p:spPr>
          <a:xfrm>
            <a:off x="8988552" y="960120"/>
            <a:ext cx="2148840" cy="3794760"/>
          </a:xfrm>
          <a:prstGeom prst="roundRect">
            <a:avLst>
              <a:gd name="adj" fmla="val 2128"/>
            </a:avLst>
          </a:prstGeom>
          <a:solidFill>
            <a:srgbClr val="FFFFFF"/>
          </a:solidFill>
          <a:ln w="19050">
            <a:solidFill>
              <a:srgbClr val="E69138"/>
            </a:solidFill>
            <a:prstDash val="solid"/>
          </a:ln>
        </p:spPr>
      </p:sp>
      <p:sp>
        <p:nvSpPr>
          <p:cNvPr id="16" name="Shape 14"/>
          <p:cNvSpPr/>
          <p:nvPr/>
        </p:nvSpPr>
        <p:spPr>
          <a:xfrm>
            <a:off x="8988552" y="960120"/>
            <a:ext cx="2148840" cy="365760"/>
          </a:xfrm>
          <a:prstGeom prst="roundRect">
            <a:avLst>
              <a:gd name="adj" fmla="val 15000"/>
            </a:avLst>
          </a:prstGeom>
          <a:solidFill>
            <a:srgbClr val="FCE5CD"/>
          </a:solidFill>
          <a:ln w="15875">
            <a:solidFill>
              <a:srgbClr val="E69138"/>
            </a:solidFill>
            <a:prstDash val="solid"/>
          </a:ln>
        </p:spPr>
      </p:sp>
      <p:sp>
        <p:nvSpPr>
          <p:cNvPr id="17" name="Text 15"/>
          <p:cNvSpPr/>
          <p:nvPr/>
        </p:nvSpPr>
        <p:spPr>
          <a:xfrm>
            <a:off x="8988552" y="960120"/>
            <a:ext cx="2148840" cy="365760"/>
          </a:xfrm>
          <a:prstGeom prst="rect">
            <a:avLst/>
          </a:prstGeom>
          <a:noFill/>
          <a:ln/>
        </p:spPr>
        <p:txBody>
          <a:bodyPr wrap="square" rtlCol="0" anchor="ctr"/>
          <a:lstStyle/>
          <a:p>
            <a:pPr marL="0" indent="0" algn="ctr">
              <a:buNone/>
            </a:pPr>
            <a:r>
              <a:rPr lang="en-US" sz="1300" b="1" dirty="0">
                <a:solidFill>
                  <a:srgbClr val="111111"/>
                </a:solidFill>
                <a:latin typeface="Times New Roman" panose="02020603050405020304" pitchFamily="18" charset="0"/>
                <a:ea typeface="Calibri" pitchFamily="34" charset="-122"/>
                <a:cs typeface="Times New Roman" panose="02020603050405020304" pitchFamily="18" charset="0"/>
              </a:rPr>
              <a:t>5. Decision Module</a:t>
            </a:r>
            <a:endParaRPr lang="en-US" sz="1300" dirty="0">
              <a:latin typeface="Times New Roman" panose="02020603050405020304" pitchFamily="18" charset="0"/>
              <a:cs typeface="Times New Roman" panose="02020603050405020304" pitchFamily="18" charset="0"/>
            </a:endParaRPr>
          </a:p>
        </p:txBody>
      </p:sp>
      <p:sp>
        <p:nvSpPr>
          <p:cNvPr id="18" name="Shape 16"/>
          <p:cNvSpPr/>
          <p:nvPr/>
        </p:nvSpPr>
        <p:spPr>
          <a:xfrm>
            <a:off x="11247120" y="960120"/>
            <a:ext cx="2148840" cy="3794760"/>
          </a:xfrm>
          <a:prstGeom prst="roundRect">
            <a:avLst>
              <a:gd name="adj" fmla="val 2128"/>
            </a:avLst>
          </a:prstGeom>
          <a:solidFill>
            <a:srgbClr val="FFFFFF"/>
          </a:solidFill>
          <a:ln w="19050">
            <a:solidFill>
              <a:srgbClr val="3D6FA5"/>
            </a:solidFill>
            <a:prstDash val="solid"/>
          </a:ln>
        </p:spPr>
      </p:sp>
      <p:sp>
        <p:nvSpPr>
          <p:cNvPr id="19" name="Shape 17"/>
          <p:cNvSpPr/>
          <p:nvPr/>
        </p:nvSpPr>
        <p:spPr>
          <a:xfrm>
            <a:off x="11247120" y="960120"/>
            <a:ext cx="2148840" cy="365760"/>
          </a:xfrm>
          <a:prstGeom prst="roundRect">
            <a:avLst>
              <a:gd name="adj" fmla="val 15000"/>
            </a:avLst>
          </a:prstGeom>
          <a:solidFill>
            <a:srgbClr val="DCE9F7"/>
          </a:solidFill>
          <a:ln w="15875">
            <a:solidFill>
              <a:srgbClr val="3D6FA5"/>
            </a:solidFill>
            <a:prstDash val="solid"/>
          </a:ln>
        </p:spPr>
      </p:sp>
      <p:sp>
        <p:nvSpPr>
          <p:cNvPr id="20" name="Text 18"/>
          <p:cNvSpPr/>
          <p:nvPr/>
        </p:nvSpPr>
        <p:spPr>
          <a:xfrm>
            <a:off x="11247120" y="960120"/>
            <a:ext cx="2148840" cy="365760"/>
          </a:xfrm>
          <a:prstGeom prst="rect">
            <a:avLst/>
          </a:prstGeom>
          <a:noFill/>
          <a:ln/>
        </p:spPr>
        <p:txBody>
          <a:bodyPr wrap="square" rtlCol="0" anchor="ctr"/>
          <a:lstStyle/>
          <a:p>
            <a:pPr marL="0" indent="0" algn="ctr">
              <a:buNone/>
            </a:pPr>
            <a:r>
              <a:rPr lang="en-US" sz="1300" b="1" dirty="0">
                <a:solidFill>
                  <a:srgbClr val="111111"/>
                </a:solidFill>
                <a:latin typeface="Times New Roman" panose="02020603050405020304" pitchFamily="18" charset="0"/>
                <a:ea typeface="Calibri" pitchFamily="34" charset="-122"/>
                <a:cs typeface="Times New Roman" panose="02020603050405020304" pitchFamily="18" charset="0"/>
              </a:rPr>
              <a:t>6. Output</a:t>
            </a:r>
            <a:endParaRPr lang="en-US" sz="1300" dirty="0">
              <a:latin typeface="Times New Roman" panose="02020603050405020304" pitchFamily="18" charset="0"/>
              <a:cs typeface="Times New Roman" panose="02020603050405020304" pitchFamily="18" charset="0"/>
            </a:endParaRPr>
          </a:p>
        </p:txBody>
      </p:sp>
      <p:sp>
        <p:nvSpPr>
          <p:cNvPr id="21" name="Text 19"/>
          <p:cNvSpPr/>
          <p:nvPr/>
        </p:nvSpPr>
        <p:spPr>
          <a:xfrm>
            <a:off x="137160" y="1399032"/>
            <a:ext cx="2148840" cy="457200"/>
          </a:xfrm>
          <a:prstGeom prst="rect">
            <a:avLst/>
          </a:prstGeom>
          <a:noFill/>
          <a:ln/>
        </p:spPr>
        <p:txBody>
          <a:bodyPr wrap="square" rtlCol="0" anchor="ctr"/>
          <a:lstStyle/>
          <a:p>
            <a:pPr marL="0" indent="0" algn="ctr">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Capture / Upload</a:t>
            </a:r>
            <a:endParaRPr lang="en-US" sz="1150" dirty="0">
              <a:latin typeface="Times New Roman" panose="02020603050405020304" pitchFamily="18" charset="0"/>
              <a:cs typeface="Times New Roman" panose="02020603050405020304" pitchFamily="18" charset="0"/>
            </a:endParaRPr>
          </a:p>
          <a:p>
            <a:pPr marL="0" indent="0" algn="ctr">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Currency Image</a:t>
            </a:r>
            <a:endParaRPr lang="en-US" sz="1150" dirty="0">
              <a:latin typeface="Times New Roman" panose="02020603050405020304" pitchFamily="18" charset="0"/>
              <a:cs typeface="Times New Roman" panose="02020603050405020304" pitchFamily="18" charset="0"/>
            </a:endParaRPr>
          </a:p>
        </p:txBody>
      </p:sp>
      <p:pic>
        <p:nvPicPr>
          <p:cNvPr id="22" name="Image 0" descr="note1.png"/>
          <p:cNvPicPr>
            <a:picLocks noChangeAspect="1"/>
          </p:cNvPicPr>
          <p:nvPr/>
        </p:nvPicPr>
        <p:blipFill>
          <a:blip r:embed="rId3"/>
          <a:stretch>
            <a:fillRect/>
          </a:stretch>
        </p:blipFill>
        <p:spPr>
          <a:xfrm>
            <a:off x="320040" y="1874520"/>
            <a:ext cx="1783080" cy="960120"/>
          </a:xfrm>
          <a:prstGeom prst="rect">
            <a:avLst/>
          </a:prstGeom>
        </p:spPr>
      </p:pic>
      <p:pic>
        <p:nvPicPr>
          <p:cNvPr id="23" name="Image 1" descr="icons/camera.png"/>
          <p:cNvPicPr>
            <a:picLocks noChangeAspect="1"/>
          </p:cNvPicPr>
          <p:nvPr/>
        </p:nvPicPr>
        <p:blipFill>
          <a:blip r:embed="rId4"/>
          <a:stretch>
            <a:fillRect/>
          </a:stretch>
        </p:blipFill>
        <p:spPr>
          <a:xfrm>
            <a:off x="457200" y="3017520"/>
            <a:ext cx="502920" cy="502920"/>
          </a:xfrm>
          <a:prstGeom prst="rect">
            <a:avLst/>
          </a:prstGeom>
        </p:spPr>
      </p:pic>
      <p:pic>
        <p:nvPicPr>
          <p:cNvPr id="24" name="Image 2" descr="icons/upload.png"/>
          <p:cNvPicPr>
            <a:picLocks noChangeAspect="1"/>
          </p:cNvPicPr>
          <p:nvPr/>
        </p:nvPicPr>
        <p:blipFill>
          <a:blip r:embed="rId5"/>
          <a:stretch>
            <a:fillRect/>
          </a:stretch>
        </p:blipFill>
        <p:spPr>
          <a:xfrm>
            <a:off x="1463040" y="3017520"/>
            <a:ext cx="502920" cy="502920"/>
          </a:xfrm>
          <a:prstGeom prst="rect">
            <a:avLst/>
          </a:prstGeom>
        </p:spPr>
      </p:pic>
      <p:sp>
        <p:nvSpPr>
          <p:cNvPr id="25" name="Text 20"/>
          <p:cNvSpPr/>
          <p:nvPr/>
        </p:nvSpPr>
        <p:spPr>
          <a:xfrm>
            <a:off x="137160" y="3611880"/>
            <a:ext cx="2148840" cy="320040"/>
          </a:xfrm>
          <a:prstGeom prst="rect">
            <a:avLst/>
          </a:prstGeom>
          <a:noFill/>
          <a:ln/>
        </p:spPr>
        <p:txBody>
          <a:bodyPr wrap="square" rtlCol="0" anchor="ctr"/>
          <a:lstStyle/>
          <a:p>
            <a:pPr marL="0" indent="0" algn="ctr">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Camera / Scanner / Mobile</a:t>
            </a:r>
            <a:endParaRPr lang="en-US" sz="1050" dirty="0">
              <a:latin typeface="Times New Roman" panose="02020603050405020304" pitchFamily="18" charset="0"/>
              <a:cs typeface="Times New Roman" panose="02020603050405020304" pitchFamily="18" charset="0"/>
            </a:endParaRPr>
          </a:p>
        </p:txBody>
      </p:sp>
      <p:sp>
        <p:nvSpPr>
          <p:cNvPr id="26" name="Shape 21"/>
          <p:cNvSpPr/>
          <p:nvPr/>
        </p:nvSpPr>
        <p:spPr>
          <a:xfrm>
            <a:off x="2532888" y="1463040"/>
            <a:ext cx="1691640" cy="658368"/>
          </a:xfrm>
          <a:prstGeom prst="roundRect">
            <a:avLst>
              <a:gd name="adj" fmla="val 8333"/>
            </a:avLst>
          </a:prstGeom>
          <a:solidFill>
            <a:srgbClr val="FFFFFF"/>
          </a:solidFill>
          <a:ln w="15875">
            <a:solidFill>
              <a:srgbClr val="6AA84F"/>
            </a:solidFill>
            <a:prstDash val="solid"/>
          </a:ln>
        </p:spPr>
      </p:sp>
      <p:sp>
        <p:nvSpPr>
          <p:cNvPr id="27" name="Text 22"/>
          <p:cNvSpPr/>
          <p:nvPr/>
        </p:nvSpPr>
        <p:spPr>
          <a:xfrm>
            <a:off x="2532888" y="1490472"/>
            <a:ext cx="1691640" cy="603504"/>
          </a:xfrm>
          <a:prstGeom prst="rect">
            <a:avLst/>
          </a:prstGeom>
          <a:noFill/>
          <a:ln/>
        </p:spPr>
        <p:txBody>
          <a:bodyPr wrap="square" rtlCol="0" anchor="ctr"/>
          <a:lstStyle/>
          <a:p>
            <a:pPr marL="0" indent="0" algn="ctr">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Grayscale Conversion</a:t>
            </a:r>
            <a:endParaRPr lang="en-US" sz="1050" dirty="0">
              <a:latin typeface="Times New Roman" panose="02020603050405020304" pitchFamily="18" charset="0"/>
              <a:cs typeface="Times New Roman" panose="02020603050405020304" pitchFamily="18" charset="0"/>
            </a:endParaRPr>
          </a:p>
        </p:txBody>
      </p:sp>
      <p:sp>
        <p:nvSpPr>
          <p:cNvPr id="28" name="Shape 23"/>
          <p:cNvSpPr/>
          <p:nvPr/>
        </p:nvSpPr>
        <p:spPr>
          <a:xfrm>
            <a:off x="3378708" y="2121408"/>
            <a:ext cx="0" cy="128016"/>
          </a:xfrm>
          <a:prstGeom prst="line">
            <a:avLst/>
          </a:prstGeom>
          <a:noFill/>
          <a:ln w="22225">
            <a:solidFill>
              <a:srgbClr val="333333"/>
            </a:solidFill>
            <a:prstDash val="solid"/>
            <a:tailEnd type="triangle"/>
          </a:ln>
        </p:spPr>
      </p:sp>
      <p:sp>
        <p:nvSpPr>
          <p:cNvPr id="29" name="Shape 24"/>
          <p:cNvSpPr/>
          <p:nvPr/>
        </p:nvSpPr>
        <p:spPr>
          <a:xfrm>
            <a:off x="2532888" y="2249424"/>
            <a:ext cx="1691640" cy="658368"/>
          </a:xfrm>
          <a:prstGeom prst="roundRect">
            <a:avLst>
              <a:gd name="adj" fmla="val 8333"/>
            </a:avLst>
          </a:prstGeom>
          <a:solidFill>
            <a:srgbClr val="FFFFFF"/>
          </a:solidFill>
          <a:ln w="15875">
            <a:solidFill>
              <a:srgbClr val="6AA84F"/>
            </a:solidFill>
            <a:prstDash val="solid"/>
          </a:ln>
        </p:spPr>
      </p:sp>
      <p:sp>
        <p:nvSpPr>
          <p:cNvPr id="30" name="Text 25"/>
          <p:cNvSpPr/>
          <p:nvPr/>
        </p:nvSpPr>
        <p:spPr>
          <a:xfrm>
            <a:off x="2532888" y="2276856"/>
            <a:ext cx="1691640" cy="603504"/>
          </a:xfrm>
          <a:prstGeom prst="rect">
            <a:avLst/>
          </a:prstGeom>
          <a:noFill/>
          <a:ln/>
        </p:spPr>
        <p:txBody>
          <a:bodyPr wrap="square" rtlCol="0" anchor="ctr"/>
          <a:lstStyle/>
          <a:p>
            <a:pPr marL="0" indent="0" algn="ctr">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Resize</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(Normalization)</a:t>
            </a:r>
            <a:endParaRPr lang="en-US" sz="1050" dirty="0">
              <a:latin typeface="Times New Roman" panose="02020603050405020304" pitchFamily="18" charset="0"/>
              <a:cs typeface="Times New Roman" panose="02020603050405020304" pitchFamily="18" charset="0"/>
            </a:endParaRPr>
          </a:p>
        </p:txBody>
      </p:sp>
      <p:sp>
        <p:nvSpPr>
          <p:cNvPr id="31" name="Shape 26"/>
          <p:cNvSpPr/>
          <p:nvPr/>
        </p:nvSpPr>
        <p:spPr>
          <a:xfrm>
            <a:off x="3378708" y="2907792"/>
            <a:ext cx="0" cy="128016"/>
          </a:xfrm>
          <a:prstGeom prst="line">
            <a:avLst/>
          </a:prstGeom>
          <a:noFill/>
          <a:ln w="22225">
            <a:solidFill>
              <a:srgbClr val="333333"/>
            </a:solidFill>
            <a:prstDash val="solid"/>
            <a:tailEnd type="triangle"/>
          </a:ln>
        </p:spPr>
      </p:sp>
      <p:sp>
        <p:nvSpPr>
          <p:cNvPr id="32" name="Shape 27"/>
          <p:cNvSpPr/>
          <p:nvPr/>
        </p:nvSpPr>
        <p:spPr>
          <a:xfrm>
            <a:off x="2532888" y="3035808"/>
            <a:ext cx="1691640" cy="658368"/>
          </a:xfrm>
          <a:prstGeom prst="roundRect">
            <a:avLst>
              <a:gd name="adj" fmla="val 8333"/>
            </a:avLst>
          </a:prstGeom>
          <a:solidFill>
            <a:srgbClr val="FFFFFF"/>
          </a:solidFill>
          <a:ln w="15875">
            <a:solidFill>
              <a:srgbClr val="6AA84F"/>
            </a:solidFill>
            <a:prstDash val="solid"/>
          </a:ln>
        </p:spPr>
      </p:sp>
      <p:sp>
        <p:nvSpPr>
          <p:cNvPr id="33" name="Text 28"/>
          <p:cNvSpPr/>
          <p:nvPr/>
        </p:nvSpPr>
        <p:spPr>
          <a:xfrm>
            <a:off x="2532888" y="3063240"/>
            <a:ext cx="1691640" cy="603504"/>
          </a:xfrm>
          <a:prstGeom prst="rect">
            <a:avLst/>
          </a:prstGeom>
          <a:noFill/>
          <a:ln/>
        </p:spPr>
        <p:txBody>
          <a:bodyPr wrap="square" rtlCol="0" anchor="ctr"/>
          <a:lstStyle/>
          <a:p>
            <a:pPr marL="0" indent="0" algn="ctr">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Denoising</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(Gaussian Blur)</a:t>
            </a:r>
            <a:endParaRPr lang="en-US" sz="1050" dirty="0">
              <a:latin typeface="Times New Roman" panose="02020603050405020304" pitchFamily="18" charset="0"/>
              <a:cs typeface="Times New Roman" panose="02020603050405020304" pitchFamily="18" charset="0"/>
            </a:endParaRPr>
          </a:p>
        </p:txBody>
      </p:sp>
      <p:sp>
        <p:nvSpPr>
          <p:cNvPr id="34" name="Shape 29"/>
          <p:cNvSpPr/>
          <p:nvPr/>
        </p:nvSpPr>
        <p:spPr>
          <a:xfrm>
            <a:off x="3378708" y="3694176"/>
            <a:ext cx="0" cy="128016"/>
          </a:xfrm>
          <a:prstGeom prst="line">
            <a:avLst/>
          </a:prstGeom>
          <a:noFill/>
          <a:ln w="22225">
            <a:solidFill>
              <a:srgbClr val="333333"/>
            </a:solidFill>
            <a:prstDash val="solid"/>
            <a:tailEnd type="triangle"/>
          </a:ln>
        </p:spPr>
      </p:sp>
      <p:sp>
        <p:nvSpPr>
          <p:cNvPr id="35" name="Shape 30"/>
          <p:cNvSpPr/>
          <p:nvPr/>
        </p:nvSpPr>
        <p:spPr>
          <a:xfrm>
            <a:off x="2532888" y="3822192"/>
            <a:ext cx="1691640" cy="658368"/>
          </a:xfrm>
          <a:prstGeom prst="roundRect">
            <a:avLst>
              <a:gd name="adj" fmla="val 8333"/>
            </a:avLst>
          </a:prstGeom>
          <a:solidFill>
            <a:srgbClr val="FFFFFF"/>
          </a:solidFill>
          <a:ln w="15875">
            <a:solidFill>
              <a:srgbClr val="6AA84F"/>
            </a:solidFill>
            <a:prstDash val="solid"/>
          </a:ln>
        </p:spPr>
      </p:sp>
      <p:sp>
        <p:nvSpPr>
          <p:cNvPr id="36" name="Text 31"/>
          <p:cNvSpPr/>
          <p:nvPr/>
        </p:nvSpPr>
        <p:spPr>
          <a:xfrm>
            <a:off x="2532888" y="3849624"/>
            <a:ext cx="1691640" cy="603504"/>
          </a:xfrm>
          <a:prstGeom prst="rect">
            <a:avLst/>
          </a:prstGeom>
          <a:noFill/>
          <a:ln/>
        </p:spPr>
        <p:txBody>
          <a:bodyPr wrap="square" rtlCol="0" anchor="ctr"/>
          <a:lstStyle/>
          <a:p>
            <a:pPr marL="0" indent="0" algn="ctr">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Contrast Enhancement</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(CLAHE)</a:t>
            </a:r>
            <a:endParaRPr lang="en-US" sz="1050" dirty="0">
              <a:latin typeface="Times New Roman" panose="02020603050405020304" pitchFamily="18" charset="0"/>
              <a:cs typeface="Times New Roman" panose="02020603050405020304" pitchFamily="18" charset="0"/>
            </a:endParaRPr>
          </a:p>
        </p:txBody>
      </p:sp>
      <p:sp>
        <p:nvSpPr>
          <p:cNvPr id="37" name="Text 32"/>
          <p:cNvSpPr/>
          <p:nvPr/>
        </p:nvSpPr>
        <p:spPr>
          <a:xfrm>
            <a:off x="4471416" y="1399032"/>
            <a:ext cx="2148840" cy="457200"/>
          </a:xfrm>
          <a:prstGeom prst="rect">
            <a:avLst/>
          </a:prstGeom>
          <a:noFill/>
          <a:ln/>
        </p:spPr>
        <p:txBody>
          <a:bodyPr wrap="square" rtlCol="0" anchor="ctr"/>
          <a:lstStyle/>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Scale-Invariant Feature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Transform (SIFT)</a:t>
            </a:r>
            <a:endParaRPr lang="en-US" sz="1100" dirty="0">
              <a:latin typeface="Times New Roman" panose="02020603050405020304" pitchFamily="18" charset="0"/>
              <a:cs typeface="Times New Roman" panose="02020603050405020304" pitchFamily="18" charset="0"/>
            </a:endParaRPr>
          </a:p>
        </p:txBody>
      </p:sp>
      <p:sp>
        <p:nvSpPr>
          <p:cNvPr id="38" name="Shape 33"/>
          <p:cNvSpPr/>
          <p:nvPr/>
        </p:nvSpPr>
        <p:spPr>
          <a:xfrm>
            <a:off x="4608576" y="1892808"/>
            <a:ext cx="1874520" cy="1417320"/>
          </a:xfrm>
          <a:prstGeom prst="roundRect">
            <a:avLst>
              <a:gd name="adj" fmla="val 3226"/>
            </a:avLst>
          </a:prstGeom>
          <a:solidFill>
            <a:srgbClr val="FFFFFF"/>
          </a:solidFill>
          <a:ln w="19050">
            <a:solidFill>
              <a:srgbClr val="BF9000"/>
            </a:solidFill>
            <a:prstDash val="solid"/>
          </a:ln>
        </p:spPr>
      </p:sp>
      <p:sp>
        <p:nvSpPr>
          <p:cNvPr id="39" name="Text 34"/>
          <p:cNvSpPr/>
          <p:nvPr/>
        </p:nvSpPr>
        <p:spPr>
          <a:xfrm>
            <a:off x="4608576" y="1920240"/>
            <a:ext cx="1874520" cy="365760"/>
          </a:xfrm>
          <a:prstGeom prst="rect">
            <a:avLst/>
          </a:prstGeom>
          <a:noFill/>
          <a:ln/>
        </p:spPr>
        <p:txBody>
          <a:bodyPr wrap="square" rtlCol="0" anchor="ctr"/>
          <a:lstStyle/>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Keypoints Detection</a:t>
            </a:r>
            <a:endParaRPr lang="en-US" sz="1000" dirty="0">
              <a:latin typeface="Times New Roman" panose="02020603050405020304" pitchFamily="18" charset="0"/>
              <a:cs typeface="Times New Roman" panose="02020603050405020304" pitchFamily="18" charset="0"/>
            </a:endParaRPr>
          </a:p>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(Scale Space Extrema)</a:t>
            </a:r>
            <a:endParaRPr lang="en-US" sz="1000" dirty="0">
              <a:latin typeface="Times New Roman" panose="02020603050405020304" pitchFamily="18" charset="0"/>
              <a:cs typeface="Times New Roman" panose="02020603050405020304" pitchFamily="18" charset="0"/>
            </a:endParaRPr>
          </a:p>
        </p:txBody>
      </p:sp>
      <p:pic>
        <p:nvPicPr>
          <p:cNvPr id="40" name="Image 3" descr="sift_kp2.png"/>
          <p:cNvPicPr>
            <a:picLocks noChangeAspect="1"/>
          </p:cNvPicPr>
          <p:nvPr/>
        </p:nvPicPr>
        <p:blipFill>
          <a:blip r:embed="rId6"/>
          <a:stretch>
            <a:fillRect/>
          </a:stretch>
        </p:blipFill>
        <p:spPr>
          <a:xfrm>
            <a:off x="4745736" y="2286000"/>
            <a:ext cx="1600200" cy="932688"/>
          </a:xfrm>
          <a:prstGeom prst="rect">
            <a:avLst/>
          </a:prstGeom>
        </p:spPr>
      </p:pic>
      <p:sp>
        <p:nvSpPr>
          <p:cNvPr id="41" name="Shape 35"/>
          <p:cNvSpPr/>
          <p:nvPr/>
        </p:nvSpPr>
        <p:spPr>
          <a:xfrm>
            <a:off x="5545836" y="3310128"/>
            <a:ext cx="0" cy="164592"/>
          </a:xfrm>
          <a:prstGeom prst="line">
            <a:avLst/>
          </a:prstGeom>
          <a:noFill/>
          <a:ln w="22225">
            <a:solidFill>
              <a:srgbClr val="333333"/>
            </a:solidFill>
            <a:prstDash val="solid"/>
            <a:tailEnd type="triangle"/>
          </a:ln>
        </p:spPr>
      </p:sp>
      <p:sp>
        <p:nvSpPr>
          <p:cNvPr id="42" name="Shape 36"/>
          <p:cNvSpPr/>
          <p:nvPr/>
        </p:nvSpPr>
        <p:spPr>
          <a:xfrm>
            <a:off x="4608576" y="3474720"/>
            <a:ext cx="1874520" cy="1051560"/>
          </a:xfrm>
          <a:prstGeom prst="roundRect">
            <a:avLst>
              <a:gd name="adj" fmla="val 4348"/>
            </a:avLst>
          </a:prstGeom>
          <a:solidFill>
            <a:srgbClr val="FFFFFF"/>
          </a:solidFill>
          <a:ln w="19050">
            <a:solidFill>
              <a:srgbClr val="BF9000"/>
            </a:solidFill>
            <a:prstDash val="solid"/>
          </a:ln>
        </p:spPr>
      </p:sp>
      <p:sp>
        <p:nvSpPr>
          <p:cNvPr id="43" name="Text 37"/>
          <p:cNvSpPr/>
          <p:nvPr/>
        </p:nvSpPr>
        <p:spPr>
          <a:xfrm>
            <a:off x="4608576" y="3520440"/>
            <a:ext cx="1874520" cy="411480"/>
          </a:xfrm>
          <a:prstGeom prst="rect">
            <a:avLst/>
          </a:prstGeom>
          <a:noFill/>
          <a:ln/>
        </p:spPr>
        <p:txBody>
          <a:bodyPr wrap="square" rtlCol="0" anchor="ctr"/>
          <a:lstStyle/>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Keypoint Description</a:t>
            </a:r>
            <a:endParaRPr lang="en-US" sz="1000" dirty="0">
              <a:latin typeface="Times New Roman" panose="02020603050405020304" pitchFamily="18" charset="0"/>
              <a:cs typeface="Times New Roman" panose="02020603050405020304" pitchFamily="18" charset="0"/>
            </a:endParaRPr>
          </a:p>
          <a:p>
            <a:pPr marL="0" indent="0" algn="ctr">
              <a:buNone/>
            </a:pPr>
            <a:r>
              <a:rPr lang="en-US" sz="1000" b="1" dirty="0">
                <a:solidFill>
                  <a:srgbClr val="000000"/>
                </a:solidFill>
                <a:latin typeface="Times New Roman" panose="02020603050405020304" pitchFamily="18" charset="0"/>
                <a:ea typeface="Calibri" pitchFamily="34" charset="-122"/>
                <a:cs typeface="Times New Roman" panose="02020603050405020304" pitchFamily="18" charset="0"/>
              </a:rPr>
              <a:t>(128-D Feature Vector)</a:t>
            </a:r>
            <a:endParaRPr lang="en-US" sz="1000" dirty="0">
              <a:latin typeface="Times New Roman" panose="02020603050405020304" pitchFamily="18" charset="0"/>
              <a:cs typeface="Times New Roman" panose="02020603050405020304" pitchFamily="18" charset="0"/>
            </a:endParaRPr>
          </a:p>
        </p:txBody>
      </p:sp>
      <p:sp>
        <p:nvSpPr>
          <p:cNvPr id="44" name="Shape 38"/>
          <p:cNvSpPr/>
          <p:nvPr/>
        </p:nvSpPr>
        <p:spPr>
          <a:xfrm>
            <a:off x="4700016" y="3977640"/>
            <a:ext cx="169164" cy="274320"/>
          </a:xfrm>
          <a:prstGeom prst="rect">
            <a:avLst/>
          </a:prstGeom>
          <a:solidFill>
            <a:srgbClr val="B6D7A8"/>
          </a:solidFill>
          <a:ln w="9525">
            <a:solidFill>
              <a:srgbClr val="666666"/>
            </a:solidFill>
            <a:prstDash val="solid"/>
          </a:ln>
        </p:spPr>
      </p:sp>
      <p:sp>
        <p:nvSpPr>
          <p:cNvPr id="45" name="Shape 39"/>
          <p:cNvSpPr/>
          <p:nvPr/>
        </p:nvSpPr>
        <p:spPr>
          <a:xfrm>
            <a:off x="4869180" y="3977640"/>
            <a:ext cx="169164" cy="274320"/>
          </a:xfrm>
          <a:prstGeom prst="rect">
            <a:avLst/>
          </a:prstGeom>
          <a:solidFill>
            <a:srgbClr val="B6D7A8"/>
          </a:solidFill>
          <a:ln w="9525">
            <a:solidFill>
              <a:srgbClr val="666666"/>
            </a:solidFill>
            <a:prstDash val="solid"/>
          </a:ln>
        </p:spPr>
      </p:sp>
      <p:sp>
        <p:nvSpPr>
          <p:cNvPr id="46" name="Shape 40"/>
          <p:cNvSpPr/>
          <p:nvPr/>
        </p:nvSpPr>
        <p:spPr>
          <a:xfrm>
            <a:off x="5038344" y="3977640"/>
            <a:ext cx="169164" cy="274320"/>
          </a:xfrm>
          <a:prstGeom prst="rect">
            <a:avLst/>
          </a:prstGeom>
          <a:solidFill>
            <a:srgbClr val="B6D7A8"/>
          </a:solidFill>
          <a:ln w="9525">
            <a:solidFill>
              <a:srgbClr val="666666"/>
            </a:solidFill>
            <a:prstDash val="solid"/>
          </a:ln>
        </p:spPr>
      </p:sp>
      <p:sp>
        <p:nvSpPr>
          <p:cNvPr id="47" name="Shape 41"/>
          <p:cNvSpPr/>
          <p:nvPr/>
        </p:nvSpPr>
        <p:spPr>
          <a:xfrm>
            <a:off x="5207508" y="3977640"/>
            <a:ext cx="169164" cy="274320"/>
          </a:xfrm>
          <a:prstGeom prst="rect">
            <a:avLst/>
          </a:prstGeom>
          <a:solidFill>
            <a:srgbClr val="B6D7A8"/>
          </a:solidFill>
          <a:ln w="9525">
            <a:solidFill>
              <a:srgbClr val="666666"/>
            </a:solidFill>
            <a:prstDash val="solid"/>
          </a:ln>
        </p:spPr>
      </p:sp>
      <p:sp>
        <p:nvSpPr>
          <p:cNvPr id="48" name="Shape 42"/>
          <p:cNvSpPr/>
          <p:nvPr/>
        </p:nvSpPr>
        <p:spPr>
          <a:xfrm>
            <a:off x="5376672" y="3977640"/>
            <a:ext cx="169164" cy="274320"/>
          </a:xfrm>
          <a:prstGeom prst="rect">
            <a:avLst/>
          </a:prstGeom>
          <a:solidFill>
            <a:srgbClr val="FFFFFF"/>
          </a:solidFill>
          <a:ln w="9525">
            <a:solidFill>
              <a:srgbClr val="666666"/>
            </a:solidFill>
            <a:prstDash val="solid"/>
          </a:ln>
        </p:spPr>
      </p:sp>
      <p:sp>
        <p:nvSpPr>
          <p:cNvPr id="49" name="Text 43"/>
          <p:cNvSpPr/>
          <p:nvPr/>
        </p:nvSpPr>
        <p:spPr>
          <a:xfrm>
            <a:off x="5376672" y="3977640"/>
            <a:ext cx="338328" cy="274320"/>
          </a:xfrm>
          <a:prstGeom prst="rect">
            <a:avLst/>
          </a:prstGeom>
          <a:noFill/>
          <a:ln/>
        </p:spPr>
        <p:txBody>
          <a:bodyPr wrap="square" rtlCol="0" anchor="ctr"/>
          <a:lstStyle/>
          <a:p>
            <a:pPr marL="0" indent="0" algn="ctr">
              <a:buNone/>
            </a:pPr>
            <a:r>
              <a:rPr lang="en-US" sz="800" dirty="0">
                <a:solidFill>
                  <a:srgbClr val="000000"/>
                </a:solidFill>
              </a:rPr>
              <a:t>........</a:t>
            </a:r>
            <a:endParaRPr lang="en-US" sz="800" dirty="0"/>
          </a:p>
        </p:txBody>
      </p:sp>
      <p:sp>
        <p:nvSpPr>
          <p:cNvPr id="50" name="Shape 44"/>
          <p:cNvSpPr/>
          <p:nvPr/>
        </p:nvSpPr>
        <p:spPr>
          <a:xfrm>
            <a:off x="5545836" y="3977640"/>
            <a:ext cx="169164" cy="274320"/>
          </a:xfrm>
          <a:prstGeom prst="rect">
            <a:avLst/>
          </a:prstGeom>
          <a:solidFill>
            <a:srgbClr val="FFFFFF"/>
          </a:solidFill>
          <a:ln w="9525">
            <a:solidFill>
              <a:srgbClr val="666666"/>
            </a:solidFill>
            <a:prstDash val="solid"/>
          </a:ln>
        </p:spPr>
      </p:sp>
      <p:sp>
        <p:nvSpPr>
          <p:cNvPr id="51" name="Shape 45"/>
          <p:cNvSpPr/>
          <p:nvPr/>
        </p:nvSpPr>
        <p:spPr>
          <a:xfrm>
            <a:off x="5715000" y="3977640"/>
            <a:ext cx="169164" cy="274320"/>
          </a:xfrm>
          <a:prstGeom prst="rect">
            <a:avLst/>
          </a:prstGeom>
          <a:solidFill>
            <a:srgbClr val="B6D7A8"/>
          </a:solidFill>
          <a:ln w="9525">
            <a:solidFill>
              <a:srgbClr val="666666"/>
            </a:solidFill>
            <a:prstDash val="solid"/>
          </a:ln>
        </p:spPr>
      </p:sp>
      <p:sp>
        <p:nvSpPr>
          <p:cNvPr id="52" name="Shape 46"/>
          <p:cNvSpPr/>
          <p:nvPr/>
        </p:nvSpPr>
        <p:spPr>
          <a:xfrm>
            <a:off x="5884164" y="3977640"/>
            <a:ext cx="169164" cy="274320"/>
          </a:xfrm>
          <a:prstGeom prst="rect">
            <a:avLst/>
          </a:prstGeom>
          <a:solidFill>
            <a:srgbClr val="B6D7A8"/>
          </a:solidFill>
          <a:ln w="9525">
            <a:solidFill>
              <a:srgbClr val="666666"/>
            </a:solidFill>
            <a:prstDash val="solid"/>
          </a:ln>
        </p:spPr>
      </p:sp>
      <p:sp>
        <p:nvSpPr>
          <p:cNvPr id="53" name="Shape 47"/>
          <p:cNvSpPr/>
          <p:nvPr/>
        </p:nvSpPr>
        <p:spPr>
          <a:xfrm>
            <a:off x="6053328" y="3977640"/>
            <a:ext cx="169164" cy="274320"/>
          </a:xfrm>
          <a:prstGeom prst="rect">
            <a:avLst/>
          </a:prstGeom>
          <a:solidFill>
            <a:srgbClr val="B6D7A8"/>
          </a:solidFill>
          <a:ln w="9525">
            <a:solidFill>
              <a:srgbClr val="666666"/>
            </a:solidFill>
            <a:prstDash val="solid"/>
          </a:ln>
        </p:spPr>
      </p:sp>
      <p:sp>
        <p:nvSpPr>
          <p:cNvPr id="54" name="Shape 48"/>
          <p:cNvSpPr/>
          <p:nvPr/>
        </p:nvSpPr>
        <p:spPr>
          <a:xfrm>
            <a:off x="6222492" y="3977640"/>
            <a:ext cx="169164" cy="274320"/>
          </a:xfrm>
          <a:prstGeom prst="rect">
            <a:avLst/>
          </a:prstGeom>
          <a:solidFill>
            <a:srgbClr val="B6D7A8"/>
          </a:solidFill>
          <a:ln w="9525">
            <a:solidFill>
              <a:srgbClr val="666666"/>
            </a:solidFill>
            <a:prstDash val="solid"/>
          </a:ln>
        </p:spPr>
      </p:sp>
      <p:sp>
        <p:nvSpPr>
          <p:cNvPr id="55" name="Text 49"/>
          <p:cNvSpPr/>
          <p:nvPr/>
        </p:nvSpPr>
        <p:spPr>
          <a:xfrm>
            <a:off x="6729984" y="1371600"/>
            <a:ext cx="2148840" cy="594360"/>
          </a:xfrm>
          <a:prstGeom prst="rect">
            <a:avLst/>
          </a:prstGeom>
          <a:noFill/>
          <a:ln/>
        </p:spPr>
        <p:txBody>
          <a:bodyPr wrap="square" rtlCol="0" anchor="ctr"/>
          <a:lstStyle/>
          <a:p>
            <a:pPr marL="0" indent="0" algn="ctr">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Match Query Descriptors</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with Reference Descriptors</a:t>
            </a:r>
            <a:endParaRPr lang="en-US" sz="1050" dirty="0">
              <a:latin typeface="Times New Roman" panose="02020603050405020304" pitchFamily="18" charset="0"/>
              <a:cs typeface="Times New Roman" panose="02020603050405020304" pitchFamily="18" charset="0"/>
            </a:endParaRPr>
          </a:p>
          <a:p>
            <a:pPr marL="0" indent="0" algn="ctr">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(FLANN / BFMatcher)</a:t>
            </a:r>
            <a:endParaRPr lang="en-US" sz="1050" dirty="0">
              <a:latin typeface="Times New Roman" panose="02020603050405020304" pitchFamily="18" charset="0"/>
              <a:cs typeface="Times New Roman" panose="02020603050405020304" pitchFamily="18" charset="0"/>
            </a:endParaRPr>
          </a:p>
        </p:txBody>
      </p:sp>
      <p:pic>
        <p:nvPicPr>
          <p:cNvPr id="56" name="Image 4" descr="feature_match2.png"/>
          <p:cNvPicPr>
            <a:picLocks noChangeAspect="1"/>
          </p:cNvPicPr>
          <p:nvPr/>
        </p:nvPicPr>
        <p:blipFill>
          <a:blip r:embed="rId7"/>
          <a:stretch>
            <a:fillRect/>
          </a:stretch>
        </p:blipFill>
        <p:spPr>
          <a:xfrm>
            <a:off x="6867144" y="1984248"/>
            <a:ext cx="1874520" cy="1234440"/>
          </a:xfrm>
          <a:prstGeom prst="rect">
            <a:avLst/>
          </a:prstGeom>
        </p:spPr>
      </p:pic>
      <p:sp>
        <p:nvSpPr>
          <p:cNvPr id="57" name="Text 50"/>
          <p:cNvSpPr/>
          <p:nvPr/>
        </p:nvSpPr>
        <p:spPr>
          <a:xfrm>
            <a:off x="6821424" y="3172968"/>
            <a:ext cx="982980" cy="320040"/>
          </a:xfrm>
          <a:prstGeom prst="rect">
            <a:avLst/>
          </a:prstGeom>
          <a:noFill/>
          <a:ln/>
        </p:spPr>
        <p:txBody>
          <a:bodyPr wrap="square" rtlCol="0" anchor="ctr"/>
          <a:lstStyle/>
          <a:p>
            <a:pPr marL="0" indent="0" algn="ctr">
              <a:buNone/>
            </a:pPr>
            <a:r>
              <a:rPr lang="en-US" sz="900" dirty="0">
                <a:solidFill>
                  <a:srgbClr val="000000"/>
                </a:solidFill>
                <a:latin typeface="Times New Roman" panose="02020603050405020304" pitchFamily="18" charset="0"/>
                <a:ea typeface="Calibri" pitchFamily="34" charset="-122"/>
                <a:cs typeface="Times New Roman" panose="02020603050405020304" pitchFamily="18" charset="0"/>
              </a:rPr>
              <a:t>Query Image</a:t>
            </a:r>
            <a:endParaRPr lang="en-US" sz="900" dirty="0">
              <a:latin typeface="Times New Roman" panose="02020603050405020304" pitchFamily="18" charset="0"/>
              <a:cs typeface="Times New Roman" panose="02020603050405020304" pitchFamily="18" charset="0"/>
            </a:endParaRPr>
          </a:p>
          <a:p>
            <a:pPr marL="0" indent="0" algn="ctr">
              <a:buNone/>
            </a:pPr>
            <a:r>
              <a:rPr lang="en-US" sz="900" dirty="0">
                <a:solidFill>
                  <a:srgbClr val="000000"/>
                </a:solidFill>
                <a:latin typeface="Times New Roman" panose="02020603050405020304" pitchFamily="18" charset="0"/>
                <a:ea typeface="Calibri" pitchFamily="34" charset="-122"/>
                <a:cs typeface="Times New Roman" panose="02020603050405020304" pitchFamily="18" charset="0"/>
              </a:rPr>
              <a:t>Features</a:t>
            </a:r>
            <a:endParaRPr lang="en-US" sz="900" dirty="0">
              <a:latin typeface="Times New Roman" panose="02020603050405020304" pitchFamily="18" charset="0"/>
              <a:cs typeface="Times New Roman" panose="02020603050405020304" pitchFamily="18" charset="0"/>
            </a:endParaRPr>
          </a:p>
        </p:txBody>
      </p:sp>
      <p:sp>
        <p:nvSpPr>
          <p:cNvPr id="58" name="Text 51"/>
          <p:cNvSpPr/>
          <p:nvPr/>
        </p:nvSpPr>
        <p:spPr>
          <a:xfrm>
            <a:off x="7804404" y="3172968"/>
            <a:ext cx="982980" cy="320040"/>
          </a:xfrm>
          <a:prstGeom prst="rect">
            <a:avLst/>
          </a:prstGeom>
          <a:noFill/>
          <a:ln/>
        </p:spPr>
        <p:txBody>
          <a:bodyPr wrap="square" rtlCol="0" anchor="ctr"/>
          <a:lstStyle/>
          <a:p>
            <a:pPr marL="0" indent="0" algn="ctr">
              <a:buNone/>
            </a:pPr>
            <a:r>
              <a:rPr lang="en-US" sz="900" dirty="0">
                <a:solidFill>
                  <a:srgbClr val="000000"/>
                </a:solidFill>
                <a:latin typeface="Times New Roman" panose="02020603050405020304" pitchFamily="18" charset="0"/>
                <a:ea typeface="Calibri" pitchFamily="34" charset="-122"/>
                <a:cs typeface="Times New Roman" panose="02020603050405020304" pitchFamily="18" charset="0"/>
              </a:rPr>
              <a:t>Reference Image</a:t>
            </a:r>
            <a:endParaRPr lang="en-US" sz="900" dirty="0">
              <a:latin typeface="Times New Roman" panose="02020603050405020304" pitchFamily="18" charset="0"/>
              <a:cs typeface="Times New Roman" panose="02020603050405020304" pitchFamily="18" charset="0"/>
            </a:endParaRPr>
          </a:p>
          <a:p>
            <a:pPr marL="0" indent="0" algn="ctr">
              <a:buNone/>
            </a:pPr>
            <a:r>
              <a:rPr lang="en-US" sz="900" dirty="0">
                <a:solidFill>
                  <a:srgbClr val="000000"/>
                </a:solidFill>
                <a:latin typeface="Times New Roman" panose="02020603050405020304" pitchFamily="18" charset="0"/>
                <a:ea typeface="Calibri" pitchFamily="34" charset="-122"/>
                <a:cs typeface="Times New Roman" panose="02020603050405020304" pitchFamily="18" charset="0"/>
              </a:rPr>
              <a:t>Features</a:t>
            </a:r>
            <a:endParaRPr lang="en-US" sz="900" dirty="0">
              <a:latin typeface="Times New Roman" panose="02020603050405020304" pitchFamily="18" charset="0"/>
              <a:cs typeface="Times New Roman" panose="02020603050405020304" pitchFamily="18" charset="0"/>
            </a:endParaRPr>
          </a:p>
        </p:txBody>
      </p:sp>
      <p:sp>
        <p:nvSpPr>
          <p:cNvPr id="59" name="Shape 52"/>
          <p:cNvSpPr/>
          <p:nvPr/>
        </p:nvSpPr>
        <p:spPr>
          <a:xfrm>
            <a:off x="7804404" y="3703320"/>
            <a:ext cx="0" cy="137160"/>
          </a:xfrm>
          <a:prstGeom prst="line">
            <a:avLst/>
          </a:prstGeom>
          <a:noFill/>
          <a:ln w="22225">
            <a:solidFill>
              <a:srgbClr val="333333"/>
            </a:solidFill>
            <a:prstDash val="solid"/>
            <a:tailEnd type="triangle"/>
          </a:ln>
        </p:spPr>
      </p:sp>
      <p:sp>
        <p:nvSpPr>
          <p:cNvPr id="60" name="Shape 53"/>
          <p:cNvSpPr/>
          <p:nvPr/>
        </p:nvSpPr>
        <p:spPr>
          <a:xfrm>
            <a:off x="6867144" y="3840480"/>
            <a:ext cx="1874520" cy="548640"/>
          </a:xfrm>
          <a:prstGeom prst="roundRect">
            <a:avLst>
              <a:gd name="adj" fmla="val 10000"/>
            </a:avLst>
          </a:prstGeom>
          <a:solidFill>
            <a:srgbClr val="FFFFFF"/>
          </a:solidFill>
          <a:ln w="15875">
            <a:solidFill>
              <a:srgbClr val="8E5FC5"/>
            </a:solidFill>
            <a:prstDash val="solid"/>
          </a:ln>
        </p:spPr>
      </p:sp>
      <p:sp>
        <p:nvSpPr>
          <p:cNvPr id="61" name="Text 54"/>
          <p:cNvSpPr/>
          <p:nvPr/>
        </p:nvSpPr>
        <p:spPr>
          <a:xfrm>
            <a:off x="6867144" y="3867912"/>
            <a:ext cx="1874520" cy="493776"/>
          </a:xfrm>
          <a:prstGeom prst="rect">
            <a:avLst/>
          </a:prstGeom>
          <a:noFill/>
          <a:ln/>
        </p:spPr>
        <p:txBody>
          <a:bodyPr wrap="square" rtlCol="0" anchor="ctr"/>
          <a:lstStyle/>
          <a:p>
            <a:pPr marL="0" indent="0" algn="ctr">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Apply Lowe's Ratio Test</a:t>
            </a:r>
            <a:endParaRPr lang="en-US" sz="1000" dirty="0">
              <a:latin typeface="Times New Roman" panose="02020603050405020304" pitchFamily="18" charset="0"/>
              <a:cs typeface="Times New Roman" panose="02020603050405020304" pitchFamily="18" charset="0"/>
            </a:endParaRPr>
          </a:p>
          <a:p>
            <a:pPr marL="0" indent="0" algn="ctr">
              <a:buNone/>
            </a:pPr>
            <a:r>
              <a:rPr lang="en-US" sz="1000" b="1" dirty="0">
                <a:solidFill>
                  <a:srgbClr val="111111"/>
                </a:solidFill>
                <a:latin typeface="Times New Roman" panose="02020603050405020304" pitchFamily="18" charset="0"/>
                <a:ea typeface="Calibri" pitchFamily="34" charset="-122"/>
                <a:cs typeface="Times New Roman" panose="02020603050405020304" pitchFamily="18" charset="0"/>
              </a:rPr>
              <a:t>(0.7 – 0.8)</a:t>
            </a:r>
            <a:endParaRPr lang="en-US" sz="1000" dirty="0">
              <a:latin typeface="Times New Roman" panose="02020603050405020304" pitchFamily="18" charset="0"/>
              <a:cs typeface="Times New Roman" panose="02020603050405020304" pitchFamily="18" charset="0"/>
            </a:endParaRPr>
          </a:p>
        </p:txBody>
      </p:sp>
      <p:sp>
        <p:nvSpPr>
          <p:cNvPr id="62" name="Text 55"/>
          <p:cNvSpPr/>
          <p:nvPr/>
        </p:nvSpPr>
        <p:spPr>
          <a:xfrm>
            <a:off x="8988552" y="1399032"/>
            <a:ext cx="2148840" cy="457200"/>
          </a:xfrm>
          <a:prstGeom prst="rect">
            <a:avLst/>
          </a:prstGeom>
          <a:noFill/>
          <a:ln/>
        </p:spPr>
        <p:txBody>
          <a:bodyPr wrap="square" rtlCol="0" anchor="ctr"/>
          <a:lstStyle/>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Compute Similarity Score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(No. of Good Matches)</a:t>
            </a:r>
            <a:endParaRPr lang="en-US" sz="1100" dirty="0">
              <a:latin typeface="Times New Roman" panose="02020603050405020304" pitchFamily="18" charset="0"/>
              <a:cs typeface="Times New Roman" panose="02020603050405020304" pitchFamily="18" charset="0"/>
            </a:endParaRPr>
          </a:p>
        </p:txBody>
      </p:sp>
      <p:sp>
        <p:nvSpPr>
          <p:cNvPr id="63" name="Shape 56"/>
          <p:cNvSpPr/>
          <p:nvPr/>
        </p:nvSpPr>
        <p:spPr>
          <a:xfrm>
            <a:off x="10062972" y="1856232"/>
            <a:ext cx="0" cy="201168"/>
          </a:xfrm>
          <a:prstGeom prst="line">
            <a:avLst/>
          </a:prstGeom>
          <a:noFill/>
          <a:ln w="22225">
            <a:solidFill>
              <a:srgbClr val="333333"/>
            </a:solidFill>
            <a:prstDash val="solid"/>
            <a:tailEnd type="triangle"/>
          </a:ln>
        </p:spPr>
      </p:sp>
      <p:sp>
        <p:nvSpPr>
          <p:cNvPr id="64" name="Shape 57"/>
          <p:cNvSpPr/>
          <p:nvPr/>
        </p:nvSpPr>
        <p:spPr>
          <a:xfrm>
            <a:off x="9194292" y="2217420"/>
            <a:ext cx="1737360" cy="1234440"/>
          </a:xfrm>
          <a:prstGeom prst="diamond">
            <a:avLst/>
          </a:prstGeom>
          <a:solidFill>
            <a:srgbClr val="FDF3D0"/>
          </a:solidFill>
          <a:ln w="19050">
            <a:solidFill>
              <a:srgbClr val="BF9000"/>
            </a:solidFill>
            <a:prstDash val="solid"/>
          </a:ln>
        </p:spPr>
      </p:sp>
      <p:sp>
        <p:nvSpPr>
          <p:cNvPr id="65" name="Text 58"/>
          <p:cNvSpPr/>
          <p:nvPr/>
        </p:nvSpPr>
        <p:spPr>
          <a:xfrm>
            <a:off x="9194292" y="2217420"/>
            <a:ext cx="1737360" cy="1234440"/>
          </a:xfrm>
          <a:prstGeom prst="rect">
            <a:avLst/>
          </a:prstGeom>
          <a:noFill/>
          <a:ln/>
        </p:spPr>
        <p:txBody>
          <a:bodyPr wrap="square" rtlCol="0" anchor="ctr"/>
          <a:lstStyle/>
          <a:p>
            <a:pPr marL="0" indent="0" algn="ctr">
              <a:buNone/>
            </a:pPr>
            <a:r>
              <a:rPr lang="en-US" sz="1100" b="1" dirty="0">
                <a:solidFill>
                  <a:srgbClr val="000000"/>
                </a:solidFill>
                <a:latin typeface="Times New Roman" panose="02020603050405020304" pitchFamily="18" charset="0"/>
                <a:ea typeface="Calibri" pitchFamily="34" charset="-122"/>
                <a:cs typeface="Times New Roman" panose="02020603050405020304" pitchFamily="18" charset="0"/>
              </a:rPr>
              <a:t>Score ≥</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000000"/>
                </a:solidFill>
                <a:latin typeface="Times New Roman" panose="02020603050405020304" pitchFamily="18" charset="0"/>
                <a:ea typeface="Calibri" pitchFamily="34" charset="-122"/>
                <a:cs typeface="Times New Roman" panose="02020603050405020304" pitchFamily="18" charset="0"/>
              </a:rPr>
              <a:t>Threshold ?</a:t>
            </a:r>
            <a:endParaRPr lang="en-US" sz="1100" dirty="0">
              <a:latin typeface="Times New Roman" panose="02020603050405020304" pitchFamily="18" charset="0"/>
              <a:cs typeface="Times New Roman" panose="02020603050405020304" pitchFamily="18" charset="0"/>
            </a:endParaRPr>
          </a:p>
        </p:txBody>
      </p:sp>
      <p:sp>
        <p:nvSpPr>
          <p:cNvPr id="66" name="Shape 59"/>
          <p:cNvSpPr/>
          <p:nvPr/>
        </p:nvSpPr>
        <p:spPr>
          <a:xfrm>
            <a:off x="11384280" y="1417320"/>
            <a:ext cx="1874520" cy="1371600"/>
          </a:xfrm>
          <a:prstGeom prst="roundRect">
            <a:avLst>
              <a:gd name="adj" fmla="val 4000"/>
            </a:avLst>
          </a:prstGeom>
          <a:solidFill>
            <a:srgbClr val="FFFFFF"/>
          </a:solidFill>
          <a:ln w="15875">
            <a:solidFill>
              <a:srgbClr val="6AA84F"/>
            </a:solidFill>
            <a:prstDash val="solid"/>
          </a:ln>
        </p:spPr>
      </p:sp>
      <p:sp>
        <p:nvSpPr>
          <p:cNvPr id="67" name="Text 60"/>
          <p:cNvSpPr/>
          <p:nvPr/>
        </p:nvSpPr>
        <p:spPr>
          <a:xfrm>
            <a:off x="11384280" y="1444752"/>
            <a:ext cx="1874520" cy="1316736"/>
          </a:xfrm>
          <a:prstGeom prst="rect">
            <a:avLst/>
          </a:prstGeom>
          <a:noFill/>
          <a:ln/>
        </p:spPr>
        <p:txBody>
          <a:bodyPr wrap="square" rtlCol="0" anchor="ctr"/>
          <a:lstStyle/>
          <a:p>
            <a:pPr marL="0" indent="0" algn="ctr">
              <a:buNone/>
            </a:pPr>
            <a:endParaRPr lang="en-US" sz="1050" dirty="0"/>
          </a:p>
        </p:txBody>
      </p:sp>
      <p:sp>
        <p:nvSpPr>
          <p:cNvPr id="68" name="Text 61"/>
          <p:cNvSpPr/>
          <p:nvPr/>
        </p:nvSpPr>
        <p:spPr>
          <a:xfrm>
            <a:off x="11384280" y="1490472"/>
            <a:ext cx="1874520" cy="502920"/>
          </a:xfrm>
          <a:prstGeom prst="rect">
            <a:avLst/>
          </a:prstGeom>
          <a:noFill/>
          <a:ln/>
        </p:spPr>
        <p:txBody>
          <a:bodyPr wrap="square" rtlCol="0" anchor="ctr"/>
          <a:lstStyle/>
          <a:p>
            <a:pPr marL="0" indent="0" algn="ctr">
              <a:buNone/>
            </a:pPr>
            <a:r>
              <a:rPr lang="en-US" sz="1200" b="1" dirty="0">
                <a:solidFill>
                  <a:srgbClr val="1E8E3E"/>
                </a:solidFill>
                <a:latin typeface="Times New Roman" panose="02020603050405020304" pitchFamily="18" charset="0"/>
                <a:ea typeface="Calibri" pitchFamily="34" charset="-122"/>
                <a:cs typeface="Times New Roman" panose="02020603050405020304" pitchFamily="18" charset="0"/>
              </a:rPr>
              <a:t>AUTHENTIC</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1E8E3E"/>
                </a:solidFill>
                <a:latin typeface="Times New Roman" panose="02020603050405020304" pitchFamily="18" charset="0"/>
                <a:ea typeface="Calibri" pitchFamily="34" charset="-122"/>
                <a:cs typeface="Times New Roman" panose="02020603050405020304" pitchFamily="18" charset="0"/>
              </a:rPr>
              <a:t>(Real Currency)</a:t>
            </a:r>
            <a:endParaRPr lang="en-US" sz="1200" dirty="0">
              <a:latin typeface="Times New Roman" panose="02020603050405020304" pitchFamily="18" charset="0"/>
              <a:cs typeface="Times New Roman" panose="02020603050405020304" pitchFamily="18" charset="0"/>
            </a:endParaRPr>
          </a:p>
        </p:txBody>
      </p:sp>
      <p:pic>
        <p:nvPicPr>
          <p:cNvPr id="69" name="Image 5" descr="icons/check.png"/>
          <p:cNvPicPr>
            <a:picLocks noChangeAspect="1"/>
          </p:cNvPicPr>
          <p:nvPr/>
        </p:nvPicPr>
        <p:blipFill>
          <a:blip r:embed="rId8"/>
          <a:stretch>
            <a:fillRect/>
          </a:stretch>
        </p:blipFill>
        <p:spPr>
          <a:xfrm>
            <a:off x="12047220" y="2011680"/>
            <a:ext cx="548640" cy="548640"/>
          </a:xfrm>
          <a:prstGeom prst="rect">
            <a:avLst/>
          </a:prstGeom>
        </p:spPr>
      </p:pic>
      <p:sp>
        <p:nvSpPr>
          <p:cNvPr id="70" name="Shape 62"/>
          <p:cNvSpPr/>
          <p:nvPr/>
        </p:nvSpPr>
        <p:spPr>
          <a:xfrm>
            <a:off x="11384280" y="3017520"/>
            <a:ext cx="1874520" cy="1371600"/>
          </a:xfrm>
          <a:prstGeom prst="roundRect">
            <a:avLst>
              <a:gd name="adj" fmla="val 4000"/>
            </a:avLst>
          </a:prstGeom>
          <a:solidFill>
            <a:srgbClr val="FFFFFF"/>
          </a:solidFill>
          <a:ln w="15875">
            <a:solidFill>
              <a:srgbClr val="CC0000"/>
            </a:solidFill>
            <a:prstDash val="solid"/>
          </a:ln>
        </p:spPr>
      </p:sp>
      <p:sp>
        <p:nvSpPr>
          <p:cNvPr id="71" name="Text 63"/>
          <p:cNvSpPr/>
          <p:nvPr/>
        </p:nvSpPr>
        <p:spPr>
          <a:xfrm>
            <a:off x="11384280" y="3044952"/>
            <a:ext cx="1874520" cy="1316736"/>
          </a:xfrm>
          <a:prstGeom prst="rect">
            <a:avLst/>
          </a:prstGeom>
          <a:noFill/>
          <a:ln/>
        </p:spPr>
        <p:txBody>
          <a:bodyPr wrap="square" rtlCol="0" anchor="ctr"/>
          <a:lstStyle/>
          <a:p>
            <a:pPr marL="0" indent="0" algn="ctr">
              <a:buNone/>
            </a:pPr>
            <a:endParaRPr lang="en-US" sz="1050" dirty="0"/>
          </a:p>
        </p:txBody>
      </p:sp>
      <p:sp>
        <p:nvSpPr>
          <p:cNvPr id="72" name="Text 64"/>
          <p:cNvSpPr/>
          <p:nvPr/>
        </p:nvSpPr>
        <p:spPr>
          <a:xfrm>
            <a:off x="11384280" y="3090672"/>
            <a:ext cx="1874520" cy="502920"/>
          </a:xfrm>
          <a:prstGeom prst="rect">
            <a:avLst/>
          </a:prstGeom>
          <a:noFill/>
          <a:ln/>
        </p:spPr>
        <p:txBody>
          <a:bodyPr wrap="square" rtlCol="0" anchor="ctr"/>
          <a:lstStyle/>
          <a:p>
            <a:pPr marL="0" indent="0" algn="ctr">
              <a:buNone/>
            </a:pPr>
            <a:r>
              <a:rPr lang="en-US" sz="1200" b="1" dirty="0">
                <a:solidFill>
                  <a:srgbClr val="CC0000"/>
                </a:solidFill>
                <a:latin typeface="Times New Roman" panose="02020603050405020304" pitchFamily="18" charset="0"/>
                <a:ea typeface="Calibri" pitchFamily="34" charset="-122"/>
                <a:cs typeface="Times New Roman" panose="02020603050405020304" pitchFamily="18" charset="0"/>
              </a:rPr>
              <a:t>COUNTERFEIT</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CC0000"/>
                </a:solidFill>
                <a:latin typeface="Times New Roman" panose="02020603050405020304" pitchFamily="18" charset="0"/>
                <a:ea typeface="Calibri" pitchFamily="34" charset="-122"/>
                <a:cs typeface="Times New Roman" panose="02020603050405020304" pitchFamily="18" charset="0"/>
              </a:rPr>
              <a:t>(Fake Currency)</a:t>
            </a:r>
            <a:endParaRPr lang="en-US" sz="1200" dirty="0">
              <a:latin typeface="Times New Roman" panose="02020603050405020304" pitchFamily="18" charset="0"/>
              <a:cs typeface="Times New Roman" panose="02020603050405020304" pitchFamily="18" charset="0"/>
            </a:endParaRPr>
          </a:p>
        </p:txBody>
      </p:sp>
      <p:pic>
        <p:nvPicPr>
          <p:cNvPr id="73" name="Image 6" descr="icons/cross.png"/>
          <p:cNvPicPr>
            <a:picLocks noChangeAspect="1"/>
          </p:cNvPicPr>
          <p:nvPr/>
        </p:nvPicPr>
        <p:blipFill>
          <a:blip r:embed="rId9"/>
          <a:stretch>
            <a:fillRect/>
          </a:stretch>
        </p:blipFill>
        <p:spPr>
          <a:xfrm>
            <a:off x="12047220" y="3611880"/>
            <a:ext cx="548640" cy="548640"/>
          </a:xfrm>
          <a:prstGeom prst="rect">
            <a:avLst/>
          </a:prstGeom>
        </p:spPr>
      </p:pic>
      <p:sp>
        <p:nvSpPr>
          <p:cNvPr id="74" name="Shape 65"/>
          <p:cNvSpPr/>
          <p:nvPr/>
        </p:nvSpPr>
        <p:spPr>
          <a:xfrm>
            <a:off x="2304288" y="2377440"/>
            <a:ext cx="73152" cy="0"/>
          </a:xfrm>
          <a:prstGeom prst="line">
            <a:avLst/>
          </a:prstGeom>
          <a:noFill/>
          <a:ln w="25400">
            <a:solidFill>
              <a:srgbClr val="3D85C6"/>
            </a:solidFill>
            <a:prstDash val="solid"/>
            <a:tailEnd type="triangle"/>
          </a:ln>
        </p:spPr>
      </p:sp>
      <p:sp>
        <p:nvSpPr>
          <p:cNvPr id="75" name="Shape 66"/>
          <p:cNvSpPr/>
          <p:nvPr/>
        </p:nvSpPr>
        <p:spPr>
          <a:xfrm>
            <a:off x="4379976" y="2377440"/>
            <a:ext cx="73152" cy="0"/>
          </a:xfrm>
          <a:prstGeom prst="line">
            <a:avLst/>
          </a:prstGeom>
          <a:noFill/>
          <a:ln w="25400">
            <a:solidFill>
              <a:srgbClr val="6AA84F"/>
            </a:solidFill>
            <a:prstDash val="solid"/>
            <a:tailEnd type="triangle"/>
          </a:ln>
        </p:spPr>
      </p:sp>
      <p:sp>
        <p:nvSpPr>
          <p:cNvPr id="76" name="Shape 67"/>
          <p:cNvSpPr/>
          <p:nvPr/>
        </p:nvSpPr>
        <p:spPr>
          <a:xfrm>
            <a:off x="6638544" y="2377440"/>
            <a:ext cx="73152" cy="0"/>
          </a:xfrm>
          <a:prstGeom prst="line">
            <a:avLst/>
          </a:prstGeom>
          <a:noFill/>
          <a:ln w="25400">
            <a:solidFill>
              <a:srgbClr val="BF9000"/>
            </a:solidFill>
            <a:prstDash val="solid"/>
            <a:tailEnd type="triangle"/>
          </a:ln>
        </p:spPr>
      </p:sp>
      <p:sp>
        <p:nvSpPr>
          <p:cNvPr id="77" name="Shape 68"/>
          <p:cNvSpPr/>
          <p:nvPr/>
        </p:nvSpPr>
        <p:spPr>
          <a:xfrm>
            <a:off x="8897112" y="2377440"/>
            <a:ext cx="73152" cy="0"/>
          </a:xfrm>
          <a:prstGeom prst="line">
            <a:avLst/>
          </a:prstGeom>
          <a:noFill/>
          <a:ln w="25400">
            <a:solidFill>
              <a:srgbClr val="8E5FC5"/>
            </a:solidFill>
            <a:prstDash val="solid"/>
            <a:tailEnd type="triangle"/>
          </a:ln>
        </p:spPr>
      </p:sp>
      <p:sp>
        <p:nvSpPr>
          <p:cNvPr id="78" name="Shape 69"/>
          <p:cNvSpPr/>
          <p:nvPr/>
        </p:nvSpPr>
        <p:spPr>
          <a:xfrm>
            <a:off x="10949940" y="2514600"/>
            <a:ext cx="278892" cy="0"/>
          </a:xfrm>
          <a:prstGeom prst="line">
            <a:avLst/>
          </a:prstGeom>
          <a:noFill/>
          <a:ln w="25400">
            <a:solidFill>
              <a:srgbClr val="BF9000"/>
            </a:solidFill>
            <a:prstDash val="solid"/>
            <a:tailEnd type="triangle"/>
          </a:ln>
        </p:spPr>
      </p:sp>
      <p:sp>
        <p:nvSpPr>
          <p:cNvPr id="79" name="Text 70"/>
          <p:cNvSpPr/>
          <p:nvPr/>
        </p:nvSpPr>
        <p:spPr>
          <a:xfrm>
            <a:off x="11023092" y="2267712"/>
            <a:ext cx="548640" cy="274320"/>
          </a:xfrm>
          <a:prstGeom prst="rect">
            <a:avLst/>
          </a:prstGeom>
          <a:noFill/>
          <a:ln/>
        </p:spPr>
        <p:txBody>
          <a:bodyPr wrap="square" rtlCol="0" anchor="ctr"/>
          <a:lstStyle/>
          <a:p>
            <a:pPr marL="0" indent="0">
              <a:buNone/>
            </a:pPr>
            <a:r>
              <a:rPr lang="en-US" sz="1100" b="1" dirty="0">
                <a:solidFill>
                  <a:srgbClr val="1E8E3E"/>
                </a:solidFill>
                <a:latin typeface="Calibri" pitchFamily="34" charset="0"/>
                <a:ea typeface="Calibri" pitchFamily="34" charset="-122"/>
                <a:cs typeface="Calibri" pitchFamily="34" charset="-120"/>
              </a:rPr>
              <a:t>Yes</a:t>
            </a:r>
            <a:endParaRPr lang="en-US" sz="1100" dirty="0"/>
          </a:p>
        </p:txBody>
      </p:sp>
      <p:sp>
        <p:nvSpPr>
          <p:cNvPr id="80" name="Shape 71"/>
          <p:cNvSpPr/>
          <p:nvPr/>
        </p:nvSpPr>
        <p:spPr>
          <a:xfrm>
            <a:off x="10062972" y="3451860"/>
            <a:ext cx="0" cy="251460"/>
          </a:xfrm>
          <a:prstGeom prst="line">
            <a:avLst/>
          </a:prstGeom>
          <a:noFill/>
          <a:ln w="22225">
            <a:solidFill>
              <a:srgbClr val="CC0000"/>
            </a:solidFill>
            <a:prstDash val="solid"/>
          </a:ln>
        </p:spPr>
      </p:sp>
      <p:sp>
        <p:nvSpPr>
          <p:cNvPr id="81" name="Text 72"/>
          <p:cNvSpPr/>
          <p:nvPr/>
        </p:nvSpPr>
        <p:spPr>
          <a:xfrm>
            <a:off x="10136124" y="3543300"/>
            <a:ext cx="365760" cy="274320"/>
          </a:xfrm>
          <a:prstGeom prst="rect">
            <a:avLst/>
          </a:prstGeom>
          <a:noFill/>
          <a:ln/>
        </p:spPr>
        <p:txBody>
          <a:bodyPr wrap="square" rtlCol="0" anchor="ctr"/>
          <a:lstStyle/>
          <a:p>
            <a:pPr marL="0" indent="0">
              <a:buNone/>
            </a:pPr>
            <a:r>
              <a:rPr lang="en-US" sz="1100" b="1" dirty="0">
                <a:solidFill>
                  <a:srgbClr val="CC0000"/>
                </a:solidFill>
                <a:latin typeface="Calibri" pitchFamily="34" charset="0"/>
                <a:ea typeface="Calibri" pitchFamily="34" charset="-122"/>
                <a:cs typeface="Calibri" pitchFamily="34" charset="-120"/>
              </a:rPr>
              <a:t>No</a:t>
            </a:r>
            <a:endParaRPr lang="en-US" sz="1100" dirty="0"/>
          </a:p>
        </p:txBody>
      </p:sp>
      <p:sp>
        <p:nvSpPr>
          <p:cNvPr id="82" name="Shape 73"/>
          <p:cNvSpPr/>
          <p:nvPr/>
        </p:nvSpPr>
        <p:spPr>
          <a:xfrm>
            <a:off x="10062972" y="3703320"/>
            <a:ext cx="1165860" cy="0"/>
          </a:xfrm>
          <a:prstGeom prst="line">
            <a:avLst/>
          </a:prstGeom>
          <a:noFill/>
          <a:ln w="25400">
            <a:solidFill>
              <a:srgbClr val="CC0000"/>
            </a:solidFill>
            <a:prstDash val="solid"/>
            <a:tailEnd type="triangle"/>
          </a:ln>
        </p:spPr>
      </p:sp>
      <p:sp>
        <p:nvSpPr>
          <p:cNvPr id="83" name="Shape 74"/>
          <p:cNvSpPr/>
          <p:nvPr/>
        </p:nvSpPr>
        <p:spPr>
          <a:xfrm>
            <a:off x="1508760" y="5074920"/>
            <a:ext cx="9692640" cy="2148840"/>
          </a:xfrm>
          <a:prstGeom prst="roundRect">
            <a:avLst>
              <a:gd name="adj" fmla="val 3404"/>
            </a:avLst>
          </a:prstGeom>
          <a:ln w="19050">
            <a:solidFill>
              <a:srgbClr val="1B3A6B"/>
            </a:solidFill>
            <a:prstDash val="dash"/>
          </a:ln>
        </p:spPr>
      </p:sp>
      <p:sp>
        <p:nvSpPr>
          <p:cNvPr id="84" name="Shape 75"/>
          <p:cNvSpPr/>
          <p:nvPr/>
        </p:nvSpPr>
        <p:spPr>
          <a:xfrm>
            <a:off x="4617720" y="4892040"/>
            <a:ext cx="3474720" cy="384048"/>
          </a:xfrm>
          <a:prstGeom prst="roundRect">
            <a:avLst>
              <a:gd name="adj" fmla="val 14286"/>
            </a:avLst>
          </a:prstGeom>
          <a:solidFill>
            <a:srgbClr val="FFFFFF"/>
          </a:solidFill>
          <a:ln w="15875">
            <a:solidFill>
              <a:srgbClr val="3D85C6"/>
            </a:solidFill>
            <a:prstDash val="solid"/>
          </a:ln>
        </p:spPr>
      </p:sp>
      <p:sp>
        <p:nvSpPr>
          <p:cNvPr id="85" name="Text 76"/>
          <p:cNvSpPr/>
          <p:nvPr/>
        </p:nvSpPr>
        <p:spPr>
          <a:xfrm>
            <a:off x="4617720" y="4919472"/>
            <a:ext cx="3474720" cy="329184"/>
          </a:xfrm>
          <a:prstGeom prst="rect">
            <a:avLst/>
          </a:prstGeom>
          <a:noFill/>
          <a:ln/>
        </p:spPr>
        <p:txBody>
          <a:bodyPr wrap="square" rtlCol="0" anchor="ctr"/>
          <a:lstStyle/>
          <a:p>
            <a:pPr marL="0" indent="0" algn="ctr">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Reference Database (Genuine Currency Images)</a:t>
            </a:r>
            <a:endParaRPr lang="en-US" sz="1100" dirty="0">
              <a:latin typeface="Times New Roman" panose="02020603050405020304" pitchFamily="18" charset="0"/>
              <a:cs typeface="Times New Roman" panose="02020603050405020304" pitchFamily="18" charset="0"/>
            </a:endParaRPr>
          </a:p>
        </p:txBody>
      </p:sp>
      <p:pic>
        <p:nvPicPr>
          <p:cNvPr id="86" name="Image 7" descr="icons/database.png"/>
          <p:cNvPicPr>
            <a:picLocks noChangeAspect="1"/>
          </p:cNvPicPr>
          <p:nvPr/>
        </p:nvPicPr>
        <p:blipFill>
          <a:blip r:embed="rId10"/>
          <a:stretch>
            <a:fillRect/>
          </a:stretch>
        </p:blipFill>
        <p:spPr>
          <a:xfrm>
            <a:off x="1645920" y="5577840"/>
            <a:ext cx="685800" cy="685800"/>
          </a:xfrm>
          <a:prstGeom prst="rect">
            <a:avLst/>
          </a:prstGeom>
        </p:spPr>
      </p:pic>
      <p:sp>
        <p:nvSpPr>
          <p:cNvPr id="87" name="Text 77"/>
          <p:cNvSpPr/>
          <p:nvPr/>
        </p:nvSpPr>
        <p:spPr>
          <a:xfrm>
            <a:off x="1417320" y="6309360"/>
            <a:ext cx="1051560" cy="274320"/>
          </a:xfrm>
          <a:prstGeom prst="rect">
            <a:avLst/>
          </a:prstGeom>
          <a:noFill/>
          <a:ln/>
        </p:spPr>
        <p:txBody>
          <a:bodyPr wrap="square" rtlCol="0" anchor="ctr"/>
          <a:lstStyle/>
          <a:p>
            <a:pPr marL="0" indent="0" algn="ctr">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Database</a:t>
            </a:r>
            <a:endParaRPr lang="en-US" sz="1050" dirty="0">
              <a:latin typeface="Times New Roman" panose="02020603050405020304" pitchFamily="18" charset="0"/>
              <a:cs typeface="Times New Roman" panose="02020603050405020304" pitchFamily="18" charset="0"/>
            </a:endParaRPr>
          </a:p>
        </p:txBody>
      </p:sp>
      <p:sp>
        <p:nvSpPr>
          <p:cNvPr id="88" name="Shape 78"/>
          <p:cNvSpPr/>
          <p:nvPr/>
        </p:nvSpPr>
        <p:spPr>
          <a:xfrm>
            <a:off x="2377440" y="5897880"/>
            <a:ext cx="274320" cy="0"/>
          </a:xfrm>
          <a:prstGeom prst="line">
            <a:avLst/>
          </a:prstGeom>
          <a:noFill/>
          <a:ln w="25400">
            <a:solidFill>
              <a:srgbClr val="333333"/>
            </a:solidFill>
            <a:prstDash val="solid"/>
            <a:tailEnd type="triangle"/>
          </a:ln>
        </p:spPr>
      </p:sp>
      <p:pic>
        <p:nvPicPr>
          <p:cNvPr id="89" name="Image 8" descr="db_note1.png"/>
          <p:cNvPicPr>
            <a:picLocks noChangeAspect="1"/>
          </p:cNvPicPr>
          <p:nvPr/>
        </p:nvPicPr>
        <p:blipFill>
          <a:blip r:embed="rId11"/>
          <a:stretch>
            <a:fillRect/>
          </a:stretch>
        </p:blipFill>
        <p:spPr>
          <a:xfrm>
            <a:off x="2743200" y="5486400"/>
            <a:ext cx="1417320" cy="777240"/>
          </a:xfrm>
          <a:prstGeom prst="rect">
            <a:avLst/>
          </a:prstGeom>
        </p:spPr>
      </p:pic>
      <p:sp>
        <p:nvSpPr>
          <p:cNvPr id="90" name="Shape 79"/>
          <p:cNvSpPr/>
          <p:nvPr/>
        </p:nvSpPr>
        <p:spPr>
          <a:xfrm>
            <a:off x="3451860" y="6309360"/>
            <a:ext cx="0" cy="182880"/>
          </a:xfrm>
          <a:prstGeom prst="line">
            <a:avLst/>
          </a:prstGeom>
          <a:noFill/>
          <a:ln w="22225">
            <a:solidFill>
              <a:srgbClr val="333333"/>
            </a:solidFill>
            <a:prstDash val="solid"/>
            <a:tailEnd type="triangle"/>
          </a:ln>
        </p:spPr>
      </p:sp>
      <p:sp>
        <p:nvSpPr>
          <p:cNvPr id="91" name="Shape 80"/>
          <p:cNvSpPr/>
          <p:nvPr/>
        </p:nvSpPr>
        <p:spPr>
          <a:xfrm>
            <a:off x="2743200" y="6519672"/>
            <a:ext cx="177165" cy="256032"/>
          </a:xfrm>
          <a:prstGeom prst="rect">
            <a:avLst/>
          </a:prstGeom>
          <a:solidFill>
            <a:srgbClr val="C9DAF8"/>
          </a:solidFill>
          <a:ln w="6350">
            <a:solidFill>
              <a:srgbClr val="666666"/>
            </a:solidFill>
            <a:prstDash val="solid"/>
          </a:ln>
        </p:spPr>
      </p:sp>
      <p:sp>
        <p:nvSpPr>
          <p:cNvPr id="92" name="Shape 81"/>
          <p:cNvSpPr/>
          <p:nvPr/>
        </p:nvSpPr>
        <p:spPr>
          <a:xfrm>
            <a:off x="2920365" y="6519672"/>
            <a:ext cx="177165" cy="256032"/>
          </a:xfrm>
          <a:prstGeom prst="rect">
            <a:avLst/>
          </a:prstGeom>
          <a:solidFill>
            <a:srgbClr val="C9DAF8"/>
          </a:solidFill>
          <a:ln w="6350">
            <a:solidFill>
              <a:srgbClr val="666666"/>
            </a:solidFill>
            <a:prstDash val="solid"/>
          </a:ln>
        </p:spPr>
      </p:sp>
      <p:sp>
        <p:nvSpPr>
          <p:cNvPr id="93" name="Shape 82"/>
          <p:cNvSpPr/>
          <p:nvPr/>
        </p:nvSpPr>
        <p:spPr>
          <a:xfrm>
            <a:off x="3097530" y="6519672"/>
            <a:ext cx="177165" cy="256032"/>
          </a:xfrm>
          <a:prstGeom prst="rect">
            <a:avLst/>
          </a:prstGeom>
          <a:solidFill>
            <a:srgbClr val="C9DAF8"/>
          </a:solidFill>
          <a:ln w="6350">
            <a:solidFill>
              <a:srgbClr val="666666"/>
            </a:solidFill>
            <a:prstDash val="solid"/>
          </a:ln>
        </p:spPr>
      </p:sp>
      <p:sp>
        <p:nvSpPr>
          <p:cNvPr id="94" name="Shape 83"/>
          <p:cNvSpPr/>
          <p:nvPr/>
        </p:nvSpPr>
        <p:spPr>
          <a:xfrm>
            <a:off x="3274695" y="6519672"/>
            <a:ext cx="177165" cy="256032"/>
          </a:xfrm>
          <a:prstGeom prst="rect">
            <a:avLst/>
          </a:prstGeom>
          <a:solidFill>
            <a:srgbClr val="C9DAF8"/>
          </a:solidFill>
          <a:ln w="6350">
            <a:solidFill>
              <a:srgbClr val="666666"/>
            </a:solidFill>
            <a:prstDash val="solid"/>
          </a:ln>
        </p:spPr>
      </p:sp>
      <p:sp>
        <p:nvSpPr>
          <p:cNvPr id="95" name="Shape 84"/>
          <p:cNvSpPr/>
          <p:nvPr/>
        </p:nvSpPr>
        <p:spPr>
          <a:xfrm>
            <a:off x="3451860" y="6519672"/>
            <a:ext cx="177165" cy="256032"/>
          </a:xfrm>
          <a:prstGeom prst="rect">
            <a:avLst/>
          </a:prstGeom>
          <a:solidFill>
            <a:srgbClr val="C9DAF8"/>
          </a:solidFill>
          <a:ln w="6350">
            <a:solidFill>
              <a:srgbClr val="666666"/>
            </a:solidFill>
            <a:prstDash val="solid"/>
          </a:ln>
        </p:spPr>
      </p:sp>
      <p:sp>
        <p:nvSpPr>
          <p:cNvPr id="96" name="Shape 85"/>
          <p:cNvSpPr/>
          <p:nvPr/>
        </p:nvSpPr>
        <p:spPr>
          <a:xfrm>
            <a:off x="3629025" y="6519672"/>
            <a:ext cx="177165" cy="256032"/>
          </a:xfrm>
          <a:prstGeom prst="rect">
            <a:avLst/>
          </a:prstGeom>
          <a:solidFill>
            <a:srgbClr val="C9DAF8"/>
          </a:solidFill>
          <a:ln w="6350">
            <a:solidFill>
              <a:srgbClr val="666666"/>
            </a:solidFill>
            <a:prstDash val="solid"/>
          </a:ln>
        </p:spPr>
      </p:sp>
      <p:sp>
        <p:nvSpPr>
          <p:cNvPr id="97" name="Shape 86"/>
          <p:cNvSpPr/>
          <p:nvPr/>
        </p:nvSpPr>
        <p:spPr>
          <a:xfrm>
            <a:off x="3806190" y="6519672"/>
            <a:ext cx="177165" cy="256032"/>
          </a:xfrm>
          <a:prstGeom prst="rect">
            <a:avLst/>
          </a:prstGeom>
          <a:solidFill>
            <a:srgbClr val="C9DAF8"/>
          </a:solidFill>
          <a:ln w="6350">
            <a:solidFill>
              <a:srgbClr val="666666"/>
            </a:solidFill>
            <a:prstDash val="solid"/>
          </a:ln>
        </p:spPr>
      </p:sp>
      <p:sp>
        <p:nvSpPr>
          <p:cNvPr id="98" name="Shape 87"/>
          <p:cNvSpPr/>
          <p:nvPr/>
        </p:nvSpPr>
        <p:spPr>
          <a:xfrm>
            <a:off x="3983355" y="6519672"/>
            <a:ext cx="177165" cy="256032"/>
          </a:xfrm>
          <a:prstGeom prst="rect">
            <a:avLst/>
          </a:prstGeom>
          <a:solidFill>
            <a:srgbClr val="C9DAF8"/>
          </a:solidFill>
          <a:ln w="6350">
            <a:solidFill>
              <a:srgbClr val="666666"/>
            </a:solidFill>
            <a:prstDash val="solid"/>
          </a:ln>
        </p:spPr>
      </p:sp>
      <p:sp>
        <p:nvSpPr>
          <p:cNvPr id="99" name="Text 88"/>
          <p:cNvSpPr/>
          <p:nvPr/>
        </p:nvSpPr>
        <p:spPr>
          <a:xfrm>
            <a:off x="4178808" y="5715000"/>
            <a:ext cx="466344" cy="365760"/>
          </a:xfrm>
          <a:prstGeom prst="rect">
            <a:avLst/>
          </a:prstGeom>
          <a:noFill/>
          <a:ln/>
        </p:spPr>
        <p:txBody>
          <a:bodyPr wrap="square" rtlCol="0" anchor="ctr"/>
          <a:lstStyle/>
          <a:p>
            <a:pPr marL="0" indent="0" algn="ctr">
              <a:buNone/>
            </a:pPr>
            <a:r>
              <a:rPr lang="en-US" sz="1400" b="1" dirty="0">
                <a:solidFill>
                  <a:srgbClr val="000000"/>
                </a:solidFill>
              </a:rPr>
              <a:t>...</a:t>
            </a:r>
            <a:endParaRPr lang="en-US" sz="1400" dirty="0"/>
          </a:p>
        </p:txBody>
      </p:sp>
      <p:pic>
        <p:nvPicPr>
          <p:cNvPr id="100" name="Image 9" descr="db_note2.png"/>
          <p:cNvPicPr>
            <a:picLocks noChangeAspect="1"/>
          </p:cNvPicPr>
          <p:nvPr/>
        </p:nvPicPr>
        <p:blipFill>
          <a:blip r:embed="rId12"/>
          <a:stretch>
            <a:fillRect/>
          </a:stretch>
        </p:blipFill>
        <p:spPr>
          <a:xfrm>
            <a:off x="4663440" y="5486400"/>
            <a:ext cx="1417320" cy="777240"/>
          </a:xfrm>
          <a:prstGeom prst="rect">
            <a:avLst/>
          </a:prstGeom>
        </p:spPr>
      </p:pic>
      <p:sp>
        <p:nvSpPr>
          <p:cNvPr id="101" name="Shape 89"/>
          <p:cNvSpPr/>
          <p:nvPr/>
        </p:nvSpPr>
        <p:spPr>
          <a:xfrm>
            <a:off x="5372100" y="6309360"/>
            <a:ext cx="0" cy="182880"/>
          </a:xfrm>
          <a:prstGeom prst="line">
            <a:avLst/>
          </a:prstGeom>
          <a:noFill/>
          <a:ln w="22225">
            <a:solidFill>
              <a:srgbClr val="333333"/>
            </a:solidFill>
            <a:prstDash val="solid"/>
            <a:tailEnd type="triangle"/>
          </a:ln>
        </p:spPr>
      </p:sp>
      <p:sp>
        <p:nvSpPr>
          <p:cNvPr id="102" name="Shape 90"/>
          <p:cNvSpPr/>
          <p:nvPr/>
        </p:nvSpPr>
        <p:spPr>
          <a:xfrm>
            <a:off x="4663440" y="6519672"/>
            <a:ext cx="177165" cy="256032"/>
          </a:xfrm>
          <a:prstGeom prst="rect">
            <a:avLst/>
          </a:prstGeom>
          <a:solidFill>
            <a:srgbClr val="C9DAF8"/>
          </a:solidFill>
          <a:ln w="6350">
            <a:solidFill>
              <a:srgbClr val="666666"/>
            </a:solidFill>
            <a:prstDash val="solid"/>
          </a:ln>
        </p:spPr>
      </p:sp>
      <p:sp>
        <p:nvSpPr>
          <p:cNvPr id="103" name="Shape 91"/>
          <p:cNvSpPr/>
          <p:nvPr/>
        </p:nvSpPr>
        <p:spPr>
          <a:xfrm>
            <a:off x="4840605" y="6519672"/>
            <a:ext cx="177165" cy="256032"/>
          </a:xfrm>
          <a:prstGeom prst="rect">
            <a:avLst/>
          </a:prstGeom>
          <a:solidFill>
            <a:srgbClr val="C9DAF8"/>
          </a:solidFill>
          <a:ln w="6350">
            <a:solidFill>
              <a:srgbClr val="666666"/>
            </a:solidFill>
            <a:prstDash val="solid"/>
          </a:ln>
        </p:spPr>
      </p:sp>
      <p:sp>
        <p:nvSpPr>
          <p:cNvPr id="104" name="Shape 92"/>
          <p:cNvSpPr/>
          <p:nvPr/>
        </p:nvSpPr>
        <p:spPr>
          <a:xfrm>
            <a:off x="5017770" y="6519672"/>
            <a:ext cx="177165" cy="256032"/>
          </a:xfrm>
          <a:prstGeom prst="rect">
            <a:avLst/>
          </a:prstGeom>
          <a:solidFill>
            <a:srgbClr val="C9DAF8"/>
          </a:solidFill>
          <a:ln w="6350">
            <a:solidFill>
              <a:srgbClr val="666666"/>
            </a:solidFill>
            <a:prstDash val="solid"/>
          </a:ln>
        </p:spPr>
      </p:sp>
      <p:sp>
        <p:nvSpPr>
          <p:cNvPr id="105" name="Shape 93"/>
          <p:cNvSpPr/>
          <p:nvPr/>
        </p:nvSpPr>
        <p:spPr>
          <a:xfrm>
            <a:off x="5194935" y="6519672"/>
            <a:ext cx="177165" cy="256032"/>
          </a:xfrm>
          <a:prstGeom prst="rect">
            <a:avLst/>
          </a:prstGeom>
          <a:solidFill>
            <a:srgbClr val="C9DAF8"/>
          </a:solidFill>
          <a:ln w="6350">
            <a:solidFill>
              <a:srgbClr val="666666"/>
            </a:solidFill>
            <a:prstDash val="solid"/>
          </a:ln>
        </p:spPr>
      </p:sp>
      <p:sp>
        <p:nvSpPr>
          <p:cNvPr id="106" name="Shape 94"/>
          <p:cNvSpPr/>
          <p:nvPr/>
        </p:nvSpPr>
        <p:spPr>
          <a:xfrm>
            <a:off x="5372100" y="6519672"/>
            <a:ext cx="177165" cy="256032"/>
          </a:xfrm>
          <a:prstGeom prst="rect">
            <a:avLst/>
          </a:prstGeom>
          <a:solidFill>
            <a:srgbClr val="C9DAF8"/>
          </a:solidFill>
          <a:ln w="6350">
            <a:solidFill>
              <a:srgbClr val="666666"/>
            </a:solidFill>
            <a:prstDash val="solid"/>
          </a:ln>
        </p:spPr>
      </p:sp>
      <p:sp>
        <p:nvSpPr>
          <p:cNvPr id="107" name="Shape 95"/>
          <p:cNvSpPr/>
          <p:nvPr/>
        </p:nvSpPr>
        <p:spPr>
          <a:xfrm>
            <a:off x="5549265" y="6519672"/>
            <a:ext cx="177165" cy="256032"/>
          </a:xfrm>
          <a:prstGeom prst="rect">
            <a:avLst/>
          </a:prstGeom>
          <a:solidFill>
            <a:srgbClr val="C9DAF8"/>
          </a:solidFill>
          <a:ln w="6350">
            <a:solidFill>
              <a:srgbClr val="666666"/>
            </a:solidFill>
            <a:prstDash val="solid"/>
          </a:ln>
        </p:spPr>
      </p:sp>
      <p:sp>
        <p:nvSpPr>
          <p:cNvPr id="108" name="Shape 96"/>
          <p:cNvSpPr/>
          <p:nvPr/>
        </p:nvSpPr>
        <p:spPr>
          <a:xfrm>
            <a:off x="5726430" y="6519672"/>
            <a:ext cx="177165" cy="256032"/>
          </a:xfrm>
          <a:prstGeom prst="rect">
            <a:avLst/>
          </a:prstGeom>
          <a:solidFill>
            <a:srgbClr val="C9DAF8"/>
          </a:solidFill>
          <a:ln w="6350">
            <a:solidFill>
              <a:srgbClr val="666666"/>
            </a:solidFill>
            <a:prstDash val="solid"/>
          </a:ln>
        </p:spPr>
      </p:sp>
      <p:sp>
        <p:nvSpPr>
          <p:cNvPr id="109" name="Shape 97"/>
          <p:cNvSpPr/>
          <p:nvPr/>
        </p:nvSpPr>
        <p:spPr>
          <a:xfrm>
            <a:off x="5903595" y="6519672"/>
            <a:ext cx="177165" cy="256032"/>
          </a:xfrm>
          <a:prstGeom prst="rect">
            <a:avLst/>
          </a:prstGeom>
          <a:solidFill>
            <a:srgbClr val="C9DAF8"/>
          </a:solidFill>
          <a:ln w="6350">
            <a:solidFill>
              <a:srgbClr val="666666"/>
            </a:solidFill>
            <a:prstDash val="solid"/>
          </a:ln>
        </p:spPr>
      </p:sp>
      <p:sp>
        <p:nvSpPr>
          <p:cNvPr id="110" name="Text 98"/>
          <p:cNvSpPr/>
          <p:nvPr/>
        </p:nvSpPr>
        <p:spPr>
          <a:xfrm>
            <a:off x="6099048" y="5715000"/>
            <a:ext cx="466344" cy="365760"/>
          </a:xfrm>
          <a:prstGeom prst="rect">
            <a:avLst/>
          </a:prstGeom>
          <a:noFill/>
          <a:ln/>
        </p:spPr>
        <p:txBody>
          <a:bodyPr wrap="square" rtlCol="0" anchor="ctr"/>
          <a:lstStyle/>
          <a:p>
            <a:pPr marL="0" indent="0" algn="ctr">
              <a:buNone/>
            </a:pPr>
            <a:r>
              <a:rPr lang="en-US" sz="1400" b="1" dirty="0">
                <a:solidFill>
                  <a:srgbClr val="000000"/>
                </a:solidFill>
              </a:rPr>
              <a:t>...</a:t>
            </a:r>
            <a:endParaRPr lang="en-US" sz="1400" dirty="0"/>
          </a:p>
        </p:txBody>
      </p:sp>
      <p:pic>
        <p:nvPicPr>
          <p:cNvPr id="111" name="Image 10" descr="db_note3.png"/>
          <p:cNvPicPr>
            <a:picLocks noChangeAspect="1"/>
          </p:cNvPicPr>
          <p:nvPr/>
        </p:nvPicPr>
        <p:blipFill>
          <a:blip r:embed="rId13"/>
          <a:stretch>
            <a:fillRect/>
          </a:stretch>
        </p:blipFill>
        <p:spPr>
          <a:xfrm>
            <a:off x="6583680" y="5486400"/>
            <a:ext cx="1417320" cy="777240"/>
          </a:xfrm>
          <a:prstGeom prst="rect">
            <a:avLst/>
          </a:prstGeom>
        </p:spPr>
      </p:pic>
      <p:sp>
        <p:nvSpPr>
          <p:cNvPr id="112" name="Shape 99"/>
          <p:cNvSpPr/>
          <p:nvPr/>
        </p:nvSpPr>
        <p:spPr>
          <a:xfrm>
            <a:off x="7292340" y="6309360"/>
            <a:ext cx="0" cy="182880"/>
          </a:xfrm>
          <a:prstGeom prst="line">
            <a:avLst/>
          </a:prstGeom>
          <a:noFill/>
          <a:ln w="22225">
            <a:solidFill>
              <a:srgbClr val="333333"/>
            </a:solidFill>
            <a:prstDash val="solid"/>
            <a:tailEnd type="triangle"/>
          </a:ln>
        </p:spPr>
      </p:sp>
      <p:sp>
        <p:nvSpPr>
          <p:cNvPr id="113" name="Shape 100"/>
          <p:cNvSpPr/>
          <p:nvPr/>
        </p:nvSpPr>
        <p:spPr>
          <a:xfrm>
            <a:off x="6583680" y="6519672"/>
            <a:ext cx="177165" cy="256032"/>
          </a:xfrm>
          <a:prstGeom prst="rect">
            <a:avLst/>
          </a:prstGeom>
          <a:solidFill>
            <a:srgbClr val="C9DAF8"/>
          </a:solidFill>
          <a:ln w="6350">
            <a:solidFill>
              <a:srgbClr val="666666"/>
            </a:solidFill>
            <a:prstDash val="solid"/>
          </a:ln>
        </p:spPr>
      </p:sp>
      <p:sp>
        <p:nvSpPr>
          <p:cNvPr id="114" name="Shape 101"/>
          <p:cNvSpPr/>
          <p:nvPr/>
        </p:nvSpPr>
        <p:spPr>
          <a:xfrm>
            <a:off x="6760845" y="6519672"/>
            <a:ext cx="177165" cy="256032"/>
          </a:xfrm>
          <a:prstGeom prst="rect">
            <a:avLst/>
          </a:prstGeom>
          <a:solidFill>
            <a:srgbClr val="C9DAF8"/>
          </a:solidFill>
          <a:ln w="6350">
            <a:solidFill>
              <a:srgbClr val="666666"/>
            </a:solidFill>
            <a:prstDash val="solid"/>
          </a:ln>
        </p:spPr>
      </p:sp>
      <p:sp>
        <p:nvSpPr>
          <p:cNvPr id="115" name="Shape 102"/>
          <p:cNvSpPr/>
          <p:nvPr/>
        </p:nvSpPr>
        <p:spPr>
          <a:xfrm>
            <a:off x="6938010" y="6519672"/>
            <a:ext cx="177165" cy="256032"/>
          </a:xfrm>
          <a:prstGeom prst="rect">
            <a:avLst/>
          </a:prstGeom>
          <a:solidFill>
            <a:srgbClr val="C9DAF8"/>
          </a:solidFill>
          <a:ln w="6350">
            <a:solidFill>
              <a:srgbClr val="666666"/>
            </a:solidFill>
            <a:prstDash val="solid"/>
          </a:ln>
        </p:spPr>
      </p:sp>
      <p:sp>
        <p:nvSpPr>
          <p:cNvPr id="116" name="Shape 103"/>
          <p:cNvSpPr/>
          <p:nvPr/>
        </p:nvSpPr>
        <p:spPr>
          <a:xfrm>
            <a:off x="7115175" y="6519672"/>
            <a:ext cx="177165" cy="256032"/>
          </a:xfrm>
          <a:prstGeom prst="rect">
            <a:avLst/>
          </a:prstGeom>
          <a:solidFill>
            <a:srgbClr val="C9DAF8"/>
          </a:solidFill>
          <a:ln w="6350">
            <a:solidFill>
              <a:srgbClr val="666666"/>
            </a:solidFill>
            <a:prstDash val="solid"/>
          </a:ln>
        </p:spPr>
      </p:sp>
      <p:sp>
        <p:nvSpPr>
          <p:cNvPr id="117" name="Shape 104"/>
          <p:cNvSpPr/>
          <p:nvPr/>
        </p:nvSpPr>
        <p:spPr>
          <a:xfrm>
            <a:off x="7292340" y="6519672"/>
            <a:ext cx="177165" cy="256032"/>
          </a:xfrm>
          <a:prstGeom prst="rect">
            <a:avLst/>
          </a:prstGeom>
          <a:solidFill>
            <a:srgbClr val="C9DAF8"/>
          </a:solidFill>
          <a:ln w="6350">
            <a:solidFill>
              <a:srgbClr val="666666"/>
            </a:solidFill>
            <a:prstDash val="solid"/>
          </a:ln>
        </p:spPr>
      </p:sp>
      <p:sp>
        <p:nvSpPr>
          <p:cNvPr id="118" name="Shape 105"/>
          <p:cNvSpPr/>
          <p:nvPr/>
        </p:nvSpPr>
        <p:spPr>
          <a:xfrm>
            <a:off x="7469505" y="6519672"/>
            <a:ext cx="177165" cy="256032"/>
          </a:xfrm>
          <a:prstGeom prst="rect">
            <a:avLst/>
          </a:prstGeom>
          <a:solidFill>
            <a:srgbClr val="C9DAF8"/>
          </a:solidFill>
          <a:ln w="6350">
            <a:solidFill>
              <a:srgbClr val="666666"/>
            </a:solidFill>
            <a:prstDash val="solid"/>
          </a:ln>
        </p:spPr>
      </p:sp>
      <p:sp>
        <p:nvSpPr>
          <p:cNvPr id="119" name="Shape 106"/>
          <p:cNvSpPr/>
          <p:nvPr/>
        </p:nvSpPr>
        <p:spPr>
          <a:xfrm>
            <a:off x="7646670" y="6519672"/>
            <a:ext cx="177165" cy="256032"/>
          </a:xfrm>
          <a:prstGeom prst="rect">
            <a:avLst/>
          </a:prstGeom>
          <a:solidFill>
            <a:srgbClr val="C9DAF8"/>
          </a:solidFill>
          <a:ln w="6350">
            <a:solidFill>
              <a:srgbClr val="666666"/>
            </a:solidFill>
            <a:prstDash val="solid"/>
          </a:ln>
        </p:spPr>
      </p:sp>
      <p:sp>
        <p:nvSpPr>
          <p:cNvPr id="120" name="Shape 107"/>
          <p:cNvSpPr/>
          <p:nvPr/>
        </p:nvSpPr>
        <p:spPr>
          <a:xfrm>
            <a:off x="7823835" y="6519672"/>
            <a:ext cx="177165" cy="256032"/>
          </a:xfrm>
          <a:prstGeom prst="rect">
            <a:avLst/>
          </a:prstGeom>
          <a:solidFill>
            <a:srgbClr val="C9DAF8"/>
          </a:solidFill>
          <a:ln w="6350">
            <a:solidFill>
              <a:srgbClr val="666666"/>
            </a:solidFill>
            <a:prstDash val="solid"/>
          </a:ln>
        </p:spPr>
      </p:sp>
      <p:sp>
        <p:nvSpPr>
          <p:cNvPr id="121" name="Text 108"/>
          <p:cNvSpPr/>
          <p:nvPr/>
        </p:nvSpPr>
        <p:spPr>
          <a:xfrm>
            <a:off x="8019288" y="5715000"/>
            <a:ext cx="466344" cy="365760"/>
          </a:xfrm>
          <a:prstGeom prst="rect">
            <a:avLst/>
          </a:prstGeom>
          <a:noFill/>
          <a:ln/>
        </p:spPr>
        <p:txBody>
          <a:bodyPr wrap="square" rtlCol="0" anchor="ctr"/>
          <a:lstStyle/>
          <a:p>
            <a:pPr marL="0" indent="0" algn="ctr">
              <a:buNone/>
            </a:pPr>
            <a:r>
              <a:rPr lang="en-US" sz="1400" b="1" dirty="0">
                <a:solidFill>
                  <a:srgbClr val="000000"/>
                </a:solidFill>
              </a:rPr>
              <a:t>...</a:t>
            </a:r>
            <a:endParaRPr lang="en-US" sz="1400" dirty="0"/>
          </a:p>
        </p:txBody>
      </p:sp>
      <p:pic>
        <p:nvPicPr>
          <p:cNvPr id="122" name="Image 11" descr="db_note4.png"/>
          <p:cNvPicPr>
            <a:picLocks noChangeAspect="1"/>
          </p:cNvPicPr>
          <p:nvPr/>
        </p:nvPicPr>
        <p:blipFill>
          <a:blip r:embed="rId14"/>
          <a:stretch>
            <a:fillRect/>
          </a:stretch>
        </p:blipFill>
        <p:spPr>
          <a:xfrm>
            <a:off x="8503920" y="5486400"/>
            <a:ext cx="1417320" cy="777240"/>
          </a:xfrm>
          <a:prstGeom prst="rect">
            <a:avLst/>
          </a:prstGeom>
        </p:spPr>
      </p:pic>
      <p:sp>
        <p:nvSpPr>
          <p:cNvPr id="123" name="Shape 109"/>
          <p:cNvSpPr/>
          <p:nvPr/>
        </p:nvSpPr>
        <p:spPr>
          <a:xfrm>
            <a:off x="9212580" y="6309360"/>
            <a:ext cx="0" cy="182880"/>
          </a:xfrm>
          <a:prstGeom prst="line">
            <a:avLst/>
          </a:prstGeom>
          <a:noFill/>
          <a:ln w="22225">
            <a:solidFill>
              <a:srgbClr val="333333"/>
            </a:solidFill>
            <a:prstDash val="solid"/>
            <a:tailEnd type="triangle"/>
          </a:ln>
        </p:spPr>
      </p:sp>
      <p:sp>
        <p:nvSpPr>
          <p:cNvPr id="124" name="Shape 110"/>
          <p:cNvSpPr/>
          <p:nvPr/>
        </p:nvSpPr>
        <p:spPr>
          <a:xfrm>
            <a:off x="8503920" y="6519672"/>
            <a:ext cx="177165" cy="256032"/>
          </a:xfrm>
          <a:prstGeom prst="rect">
            <a:avLst/>
          </a:prstGeom>
          <a:solidFill>
            <a:srgbClr val="C9DAF8"/>
          </a:solidFill>
          <a:ln w="6350">
            <a:solidFill>
              <a:srgbClr val="666666"/>
            </a:solidFill>
            <a:prstDash val="solid"/>
          </a:ln>
        </p:spPr>
      </p:sp>
      <p:sp>
        <p:nvSpPr>
          <p:cNvPr id="125" name="Shape 111"/>
          <p:cNvSpPr/>
          <p:nvPr/>
        </p:nvSpPr>
        <p:spPr>
          <a:xfrm>
            <a:off x="8681085" y="6519672"/>
            <a:ext cx="177165" cy="256032"/>
          </a:xfrm>
          <a:prstGeom prst="rect">
            <a:avLst/>
          </a:prstGeom>
          <a:solidFill>
            <a:srgbClr val="C9DAF8"/>
          </a:solidFill>
          <a:ln w="6350">
            <a:solidFill>
              <a:srgbClr val="666666"/>
            </a:solidFill>
            <a:prstDash val="solid"/>
          </a:ln>
        </p:spPr>
      </p:sp>
      <p:sp>
        <p:nvSpPr>
          <p:cNvPr id="126" name="Shape 112"/>
          <p:cNvSpPr/>
          <p:nvPr/>
        </p:nvSpPr>
        <p:spPr>
          <a:xfrm>
            <a:off x="8858250" y="6519672"/>
            <a:ext cx="177165" cy="256032"/>
          </a:xfrm>
          <a:prstGeom prst="rect">
            <a:avLst/>
          </a:prstGeom>
          <a:solidFill>
            <a:srgbClr val="C9DAF8"/>
          </a:solidFill>
          <a:ln w="6350">
            <a:solidFill>
              <a:srgbClr val="666666"/>
            </a:solidFill>
            <a:prstDash val="solid"/>
          </a:ln>
        </p:spPr>
      </p:sp>
      <p:sp>
        <p:nvSpPr>
          <p:cNvPr id="127" name="Shape 113"/>
          <p:cNvSpPr/>
          <p:nvPr/>
        </p:nvSpPr>
        <p:spPr>
          <a:xfrm>
            <a:off x="9035415" y="6519672"/>
            <a:ext cx="177165" cy="256032"/>
          </a:xfrm>
          <a:prstGeom prst="rect">
            <a:avLst/>
          </a:prstGeom>
          <a:solidFill>
            <a:srgbClr val="C9DAF8"/>
          </a:solidFill>
          <a:ln w="6350">
            <a:solidFill>
              <a:srgbClr val="666666"/>
            </a:solidFill>
            <a:prstDash val="solid"/>
          </a:ln>
        </p:spPr>
      </p:sp>
      <p:sp>
        <p:nvSpPr>
          <p:cNvPr id="128" name="Shape 114"/>
          <p:cNvSpPr/>
          <p:nvPr/>
        </p:nvSpPr>
        <p:spPr>
          <a:xfrm>
            <a:off x="9212580" y="6519672"/>
            <a:ext cx="177165" cy="256032"/>
          </a:xfrm>
          <a:prstGeom prst="rect">
            <a:avLst/>
          </a:prstGeom>
          <a:solidFill>
            <a:srgbClr val="C9DAF8"/>
          </a:solidFill>
          <a:ln w="6350">
            <a:solidFill>
              <a:srgbClr val="666666"/>
            </a:solidFill>
            <a:prstDash val="solid"/>
          </a:ln>
        </p:spPr>
      </p:sp>
      <p:sp>
        <p:nvSpPr>
          <p:cNvPr id="129" name="Shape 115"/>
          <p:cNvSpPr/>
          <p:nvPr/>
        </p:nvSpPr>
        <p:spPr>
          <a:xfrm>
            <a:off x="9389745" y="6519672"/>
            <a:ext cx="177165" cy="256032"/>
          </a:xfrm>
          <a:prstGeom prst="rect">
            <a:avLst/>
          </a:prstGeom>
          <a:solidFill>
            <a:srgbClr val="C9DAF8"/>
          </a:solidFill>
          <a:ln w="6350">
            <a:solidFill>
              <a:srgbClr val="666666"/>
            </a:solidFill>
            <a:prstDash val="solid"/>
          </a:ln>
        </p:spPr>
      </p:sp>
      <p:sp>
        <p:nvSpPr>
          <p:cNvPr id="130" name="Shape 116"/>
          <p:cNvSpPr/>
          <p:nvPr/>
        </p:nvSpPr>
        <p:spPr>
          <a:xfrm>
            <a:off x="9566910" y="6519672"/>
            <a:ext cx="177165" cy="256032"/>
          </a:xfrm>
          <a:prstGeom prst="rect">
            <a:avLst/>
          </a:prstGeom>
          <a:solidFill>
            <a:srgbClr val="C9DAF8"/>
          </a:solidFill>
          <a:ln w="6350">
            <a:solidFill>
              <a:srgbClr val="666666"/>
            </a:solidFill>
            <a:prstDash val="solid"/>
          </a:ln>
        </p:spPr>
      </p:sp>
      <p:sp>
        <p:nvSpPr>
          <p:cNvPr id="131" name="Shape 117"/>
          <p:cNvSpPr/>
          <p:nvPr/>
        </p:nvSpPr>
        <p:spPr>
          <a:xfrm>
            <a:off x="9744075" y="6519672"/>
            <a:ext cx="177165" cy="256032"/>
          </a:xfrm>
          <a:prstGeom prst="rect">
            <a:avLst/>
          </a:prstGeom>
          <a:solidFill>
            <a:srgbClr val="C9DAF8"/>
          </a:solidFill>
          <a:ln w="6350">
            <a:solidFill>
              <a:srgbClr val="666666"/>
            </a:solidFill>
            <a:prstDash val="solid"/>
          </a:ln>
        </p:spPr>
      </p:sp>
      <p:sp>
        <p:nvSpPr>
          <p:cNvPr id="132" name="Text 118"/>
          <p:cNvSpPr/>
          <p:nvPr/>
        </p:nvSpPr>
        <p:spPr>
          <a:xfrm>
            <a:off x="2697480" y="6858000"/>
            <a:ext cx="6400800" cy="292608"/>
          </a:xfrm>
          <a:prstGeom prst="rect">
            <a:avLst/>
          </a:prstGeom>
          <a:noFill/>
          <a:ln/>
        </p:spPr>
        <p:txBody>
          <a:bodyPr wrap="square" rtlCol="0" anchor="ctr"/>
          <a:lstStyle/>
          <a:p>
            <a:pPr marL="0" indent="0" algn="ctr">
              <a:buNone/>
            </a:pPr>
            <a:r>
              <a:rPr lang="en-US" sz="1050" b="1" dirty="0">
                <a:solidFill>
                  <a:srgbClr val="000000"/>
                </a:solidFill>
                <a:latin typeface="Times New Roman" panose="02020603050405020304" pitchFamily="18" charset="0"/>
                <a:ea typeface="Calibri" pitchFamily="34" charset="-122"/>
                <a:cs typeface="Times New Roman" panose="02020603050405020304" pitchFamily="18" charset="0"/>
              </a:rPr>
              <a:t>Precomputed SIFT Features</a:t>
            </a:r>
            <a:endParaRPr lang="en-US" sz="1050" dirty="0">
              <a:latin typeface="Times New Roman" panose="02020603050405020304" pitchFamily="18" charset="0"/>
              <a:cs typeface="Times New Roman" panose="02020603050405020304" pitchFamily="18" charset="0"/>
            </a:endParaRPr>
          </a:p>
        </p:txBody>
      </p:sp>
      <p:sp>
        <p:nvSpPr>
          <p:cNvPr id="133" name="Shape 119"/>
          <p:cNvSpPr/>
          <p:nvPr/>
        </p:nvSpPr>
        <p:spPr>
          <a:xfrm>
            <a:off x="9784080" y="5577840"/>
            <a:ext cx="1280160" cy="914400"/>
          </a:xfrm>
          <a:prstGeom prst="roundRect">
            <a:avLst>
              <a:gd name="adj" fmla="val 6000"/>
            </a:avLst>
          </a:prstGeom>
          <a:solidFill>
            <a:srgbClr val="FFFFFF"/>
          </a:solidFill>
          <a:ln w="15875">
            <a:solidFill>
              <a:srgbClr val="3D85C6"/>
            </a:solidFill>
            <a:prstDash val="solid"/>
          </a:ln>
        </p:spPr>
      </p:sp>
      <p:sp>
        <p:nvSpPr>
          <p:cNvPr id="134" name="Text 120"/>
          <p:cNvSpPr/>
          <p:nvPr/>
        </p:nvSpPr>
        <p:spPr>
          <a:xfrm>
            <a:off x="9784080" y="5605272"/>
            <a:ext cx="1280160" cy="859536"/>
          </a:xfrm>
          <a:prstGeom prst="rect">
            <a:avLst/>
          </a:prstGeom>
          <a:noFill/>
          <a:ln/>
        </p:spPr>
        <p:txBody>
          <a:bodyPr wrap="square" rtlCol="0" anchor="ctr"/>
          <a:lstStyle/>
          <a:p>
            <a:pPr marL="0" indent="0" algn="ctr">
              <a:buNone/>
            </a:pPr>
            <a:r>
              <a:rPr lang="en-US" sz="950" b="1" dirty="0">
                <a:solidFill>
                  <a:srgbClr val="111111"/>
                </a:solidFill>
                <a:latin typeface="Times New Roman" panose="02020603050405020304" pitchFamily="18" charset="0"/>
                <a:ea typeface="Calibri" pitchFamily="34" charset="-122"/>
                <a:cs typeface="Times New Roman" panose="02020603050405020304" pitchFamily="18" charset="0"/>
              </a:rPr>
              <a:t>Update / Add</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111111"/>
                </a:solidFill>
                <a:latin typeface="Times New Roman" panose="02020603050405020304" pitchFamily="18" charset="0"/>
                <a:ea typeface="Calibri" pitchFamily="34" charset="-122"/>
                <a:cs typeface="Times New Roman" panose="02020603050405020304" pitchFamily="18" charset="0"/>
              </a:rPr>
              <a:t>New Genuine</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111111"/>
                </a:solidFill>
                <a:latin typeface="Times New Roman" panose="02020603050405020304" pitchFamily="18" charset="0"/>
                <a:ea typeface="Calibri" pitchFamily="34" charset="-122"/>
                <a:cs typeface="Times New Roman" panose="02020603050405020304" pitchFamily="18" charset="0"/>
              </a:rPr>
              <a:t>Images</a:t>
            </a:r>
            <a:endParaRPr lang="en-US" sz="950" dirty="0">
              <a:latin typeface="Times New Roman" panose="02020603050405020304" pitchFamily="18" charset="0"/>
              <a:cs typeface="Times New Roman" panose="02020603050405020304" pitchFamily="18" charset="0"/>
            </a:endParaRPr>
          </a:p>
        </p:txBody>
      </p:sp>
      <p:sp>
        <p:nvSpPr>
          <p:cNvPr id="135" name="Shape 121"/>
          <p:cNvSpPr/>
          <p:nvPr/>
        </p:nvSpPr>
        <p:spPr>
          <a:xfrm flipV="1">
            <a:off x="7804404" y="4773168"/>
            <a:ext cx="0" cy="283464"/>
          </a:xfrm>
          <a:prstGeom prst="line">
            <a:avLst/>
          </a:prstGeom>
          <a:noFill/>
          <a:ln w="19050">
            <a:solidFill>
              <a:srgbClr val="1B3A6B"/>
            </a:solidFill>
            <a:prstDash val="dash"/>
            <a:tailEnd type="triangle"/>
          </a:ln>
        </p:spPr>
      </p:sp>
      <p:sp>
        <p:nvSpPr>
          <p:cNvPr id="136" name="Shape 122"/>
          <p:cNvSpPr/>
          <p:nvPr/>
        </p:nvSpPr>
        <p:spPr>
          <a:xfrm>
            <a:off x="11384280" y="5074920"/>
            <a:ext cx="2331720" cy="365760"/>
          </a:xfrm>
          <a:prstGeom prst="roundRect">
            <a:avLst>
              <a:gd name="adj" fmla="val 15000"/>
            </a:avLst>
          </a:prstGeom>
          <a:solidFill>
            <a:srgbClr val="FFFFFF"/>
          </a:solidFill>
          <a:ln w="15875">
            <a:solidFill>
              <a:srgbClr val="3D6FA5"/>
            </a:solidFill>
            <a:prstDash val="solid"/>
          </a:ln>
        </p:spPr>
      </p:sp>
      <p:sp>
        <p:nvSpPr>
          <p:cNvPr id="137" name="Text 123"/>
          <p:cNvSpPr/>
          <p:nvPr/>
        </p:nvSpPr>
        <p:spPr>
          <a:xfrm>
            <a:off x="11384280" y="5102352"/>
            <a:ext cx="2331720" cy="310896"/>
          </a:xfrm>
          <a:prstGeom prst="rect">
            <a:avLst/>
          </a:prstGeom>
          <a:noFill/>
          <a:ln/>
        </p:spPr>
        <p:txBody>
          <a:bodyPr wrap="square" rtlCol="0" anchor="ctr"/>
          <a:lstStyle/>
          <a:p>
            <a:pPr marL="0" indent="0" algn="ctr">
              <a:buNone/>
            </a:pPr>
            <a:r>
              <a:rPr lang="en-US" sz="1150" b="1" dirty="0">
                <a:solidFill>
                  <a:srgbClr val="111111"/>
                </a:solidFill>
                <a:latin typeface="Times New Roman" panose="02020603050405020304" pitchFamily="18" charset="0"/>
                <a:ea typeface="Calibri" pitchFamily="34" charset="-122"/>
                <a:cs typeface="Times New Roman" panose="02020603050405020304" pitchFamily="18" charset="0"/>
              </a:rPr>
              <a:t>Performance &amp; Logging</a:t>
            </a:r>
            <a:endParaRPr lang="en-US" sz="1150" dirty="0">
              <a:latin typeface="Times New Roman" panose="02020603050405020304" pitchFamily="18" charset="0"/>
              <a:cs typeface="Times New Roman" panose="02020603050405020304" pitchFamily="18" charset="0"/>
            </a:endParaRPr>
          </a:p>
        </p:txBody>
      </p:sp>
      <p:sp>
        <p:nvSpPr>
          <p:cNvPr id="138" name="Shape 124"/>
          <p:cNvSpPr/>
          <p:nvPr/>
        </p:nvSpPr>
        <p:spPr>
          <a:xfrm>
            <a:off x="11384280" y="5440680"/>
            <a:ext cx="2331720" cy="1463040"/>
          </a:xfrm>
          <a:prstGeom prst="roundRect">
            <a:avLst>
              <a:gd name="adj" fmla="val 3125"/>
            </a:avLst>
          </a:prstGeom>
          <a:solidFill>
            <a:srgbClr val="F4F9FD"/>
          </a:solidFill>
          <a:ln w="15875">
            <a:solidFill>
              <a:srgbClr val="3D6FA5"/>
            </a:solidFill>
            <a:prstDash val="solid"/>
          </a:ln>
        </p:spPr>
      </p:sp>
      <p:sp>
        <p:nvSpPr>
          <p:cNvPr id="139" name="Text 125"/>
          <p:cNvSpPr/>
          <p:nvPr/>
        </p:nvSpPr>
        <p:spPr>
          <a:xfrm>
            <a:off x="11521440" y="5513832"/>
            <a:ext cx="2057400" cy="256032"/>
          </a:xfrm>
          <a:prstGeom prst="rect">
            <a:avLst/>
          </a:prstGeom>
          <a:noFill/>
          <a:ln/>
        </p:spPr>
        <p:txBody>
          <a:bodyPr wrap="square" rtlCol="0" anchor="ctr"/>
          <a:lstStyle/>
          <a:p>
            <a:pPr marL="0" indent="0">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 Match Score</a:t>
            </a:r>
            <a:endParaRPr lang="en-US" sz="1050" dirty="0">
              <a:latin typeface="Times New Roman" panose="02020603050405020304" pitchFamily="18" charset="0"/>
              <a:cs typeface="Times New Roman" panose="02020603050405020304" pitchFamily="18" charset="0"/>
            </a:endParaRPr>
          </a:p>
        </p:txBody>
      </p:sp>
      <p:sp>
        <p:nvSpPr>
          <p:cNvPr id="140" name="Text 126"/>
          <p:cNvSpPr/>
          <p:nvPr/>
        </p:nvSpPr>
        <p:spPr>
          <a:xfrm>
            <a:off x="11521440" y="5779008"/>
            <a:ext cx="2057400" cy="256032"/>
          </a:xfrm>
          <a:prstGeom prst="rect">
            <a:avLst/>
          </a:prstGeom>
          <a:noFill/>
          <a:ln/>
        </p:spPr>
        <p:txBody>
          <a:bodyPr wrap="square" rtlCol="0" anchor="ctr"/>
          <a:lstStyle/>
          <a:p>
            <a:pPr marL="0" indent="0">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 Processing Time</a:t>
            </a:r>
            <a:endParaRPr lang="en-US" sz="1050" dirty="0">
              <a:latin typeface="Times New Roman" panose="02020603050405020304" pitchFamily="18" charset="0"/>
              <a:cs typeface="Times New Roman" panose="02020603050405020304" pitchFamily="18" charset="0"/>
            </a:endParaRPr>
          </a:p>
        </p:txBody>
      </p:sp>
      <p:sp>
        <p:nvSpPr>
          <p:cNvPr id="141" name="Text 127"/>
          <p:cNvSpPr/>
          <p:nvPr/>
        </p:nvSpPr>
        <p:spPr>
          <a:xfrm>
            <a:off x="11521440" y="6044184"/>
            <a:ext cx="2057400" cy="256032"/>
          </a:xfrm>
          <a:prstGeom prst="rect">
            <a:avLst/>
          </a:prstGeom>
          <a:noFill/>
          <a:ln/>
        </p:spPr>
        <p:txBody>
          <a:bodyPr wrap="square" rtlCol="0" anchor="ctr"/>
          <a:lstStyle/>
          <a:p>
            <a:pPr marL="0" indent="0">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 Decision Result</a:t>
            </a:r>
            <a:endParaRPr lang="en-US" sz="1050" dirty="0">
              <a:latin typeface="Times New Roman" panose="02020603050405020304" pitchFamily="18" charset="0"/>
              <a:cs typeface="Times New Roman" panose="02020603050405020304" pitchFamily="18" charset="0"/>
            </a:endParaRPr>
          </a:p>
        </p:txBody>
      </p:sp>
      <p:sp>
        <p:nvSpPr>
          <p:cNvPr id="142" name="Text 128"/>
          <p:cNvSpPr/>
          <p:nvPr/>
        </p:nvSpPr>
        <p:spPr>
          <a:xfrm>
            <a:off x="11521440" y="6309360"/>
            <a:ext cx="2057400" cy="256032"/>
          </a:xfrm>
          <a:prstGeom prst="rect">
            <a:avLst/>
          </a:prstGeom>
          <a:noFill/>
          <a:ln/>
        </p:spPr>
        <p:txBody>
          <a:bodyPr wrap="square" rtlCol="0" anchor="ctr"/>
          <a:lstStyle/>
          <a:p>
            <a:pPr marL="0" indent="0">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 Image Log</a:t>
            </a:r>
            <a:endParaRPr lang="en-US" sz="1050" dirty="0">
              <a:latin typeface="Times New Roman" panose="02020603050405020304" pitchFamily="18" charset="0"/>
              <a:cs typeface="Times New Roman" panose="02020603050405020304" pitchFamily="18" charset="0"/>
            </a:endParaRPr>
          </a:p>
        </p:txBody>
      </p:sp>
      <p:sp>
        <p:nvSpPr>
          <p:cNvPr id="143" name="Text 129"/>
          <p:cNvSpPr/>
          <p:nvPr/>
        </p:nvSpPr>
        <p:spPr>
          <a:xfrm>
            <a:off x="11521440" y="6574536"/>
            <a:ext cx="2057400" cy="256032"/>
          </a:xfrm>
          <a:prstGeom prst="rect">
            <a:avLst/>
          </a:prstGeom>
          <a:noFill/>
          <a:ln/>
        </p:spPr>
        <p:txBody>
          <a:bodyPr wrap="square" rtlCol="0" anchor="ctr"/>
          <a:lstStyle/>
          <a:p>
            <a:pPr marL="0" indent="0">
              <a:buNone/>
            </a:pPr>
            <a:r>
              <a:rPr lang="en-US" sz="1050" dirty="0">
                <a:solidFill>
                  <a:srgbClr val="000000"/>
                </a:solidFill>
                <a:latin typeface="Times New Roman" panose="02020603050405020304" pitchFamily="18" charset="0"/>
                <a:ea typeface="Calibri" pitchFamily="34" charset="-122"/>
                <a:cs typeface="Times New Roman" panose="02020603050405020304" pitchFamily="18" charset="0"/>
              </a:rPr>
              <a:t>• Store in Database</a:t>
            </a:r>
            <a:endParaRPr lang="en-US" sz="1050" dirty="0">
              <a:latin typeface="Times New Roman" panose="02020603050405020304" pitchFamily="18" charset="0"/>
              <a:cs typeface="Times New Roman" panose="02020603050405020304" pitchFamily="18" charset="0"/>
            </a:endParaRPr>
          </a:p>
        </p:txBody>
      </p:sp>
      <p:sp>
        <p:nvSpPr>
          <p:cNvPr id="144" name="Shape 130"/>
          <p:cNvSpPr/>
          <p:nvPr/>
        </p:nvSpPr>
        <p:spPr>
          <a:xfrm>
            <a:off x="12321540" y="4773168"/>
            <a:ext cx="228600" cy="283464"/>
          </a:xfrm>
          <a:prstGeom prst="line">
            <a:avLst/>
          </a:prstGeom>
          <a:noFill/>
          <a:ln w="19050">
            <a:solidFill>
              <a:srgbClr val="1B3A6B"/>
            </a:solidFill>
            <a:prstDash val="dash"/>
            <a:tailEnd type="triangle"/>
          </a:ln>
        </p:spPr>
      </p:sp>
      <p:sp>
        <p:nvSpPr>
          <p:cNvPr id="145" name="Shape 131"/>
          <p:cNvSpPr/>
          <p:nvPr/>
        </p:nvSpPr>
        <p:spPr>
          <a:xfrm flipV="1">
            <a:off x="11064240" y="5989320"/>
            <a:ext cx="301752" cy="45720"/>
          </a:xfrm>
          <a:prstGeom prst="line">
            <a:avLst/>
          </a:prstGeom>
          <a:noFill/>
          <a:ln w="19050">
            <a:solidFill>
              <a:srgbClr val="1B3A6B"/>
            </a:solidFill>
            <a:prstDash val="dash"/>
            <a:tailEnd type="none"/>
          </a:ln>
        </p:spPr>
      </p:sp>
      <p:sp>
        <p:nvSpPr>
          <p:cNvPr id="146" name="Shape 132"/>
          <p:cNvSpPr/>
          <p:nvPr/>
        </p:nvSpPr>
        <p:spPr>
          <a:xfrm>
            <a:off x="137160" y="7452360"/>
            <a:ext cx="3246120" cy="1417320"/>
          </a:xfrm>
          <a:prstGeom prst="roundRect">
            <a:avLst>
              <a:gd name="adj" fmla="val 3871"/>
            </a:avLst>
          </a:prstGeom>
          <a:solidFill>
            <a:srgbClr val="FFFFFF"/>
          </a:solidFill>
          <a:ln w="19050">
            <a:solidFill>
              <a:srgbClr val="6AA84F"/>
            </a:solidFill>
            <a:prstDash val="solid"/>
          </a:ln>
        </p:spPr>
      </p:sp>
      <p:sp>
        <p:nvSpPr>
          <p:cNvPr id="147" name="Text 133"/>
          <p:cNvSpPr/>
          <p:nvPr/>
        </p:nvSpPr>
        <p:spPr>
          <a:xfrm>
            <a:off x="274320" y="7525512"/>
            <a:ext cx="2971800" cy="274320"/>
          </a:xfrm>
          <a:prstGeom prst="rect">
            <a:avLst/>
          </a:prstGeom>
          <a:noFill/>
          <a:ln/>
        </p:spPr>
        <p:txBody>
          <a:bodyPr wrap="square" rtlCol="0" anchor="ctr"/>
          <a:lstStyle/>
          <a:p>
            <a:pPr marL="0" indent="0">
              <a:buNone/>
            </a:pPr>
            <a:r>
              <a:rPr lang="en-US" sz="1200" b="1" dirty="0">
                <a:solidFill>
                  <a:srgbClr val="111111"/>
                </a:solidFill>
                <a:latin typeface="Times New Roman" panose="02020603050405020304" pitchFamily="18" charset="0"/>
                <a:ea typeface="Calibri" pitchFamily="34" charset="-122"/>
                <a:cs typeface="Times New Roman" panose="02020603050405020304" pitchFamily="18" charset="0"/>
              </a:rPr>
              <a:t>Key Features</a:t>
            </a:r>
            <a:endParaRPr lang="en-US" sz="1200" dirty="0">
              <a:latin typeface="Times New Roman" panose="02020603050405020304" pitchFamily="18" charset="0"/>
              <a:cs typeface="Times New Roman" panose="02020603050405020304" pitchFamily="18" charset="0"/>
            </a:endParaRPr>
          </a:p>
        </p:txBody>
      </p:sp>
      <p:sp>
        <p:nvSpPr>
          <p:cNvPr id="148" name="Text 134"/>
          <p:cNvSpPr/>
          <p:nvPr/>
        </p:nvSpPr>
        <p:spPr>
          <a:xfrm>
            <a:off x="320040" y="7836408"/>
            <a:ext cx="2926080" cy="237744"/>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 Scale, Rotation &amp; Illumination Invariant</a:t>
            </a:r>
            <a:endParaRPr lang="en-US" sz="1000" dirty="0">
              <a:latin typeface="Times New Roman" panose="02020603050405020304" pitchFamily="18" charset="0"/>
              <a:cs typeface="Times New Roman" panose="02020603050405020304" pitchFamily="18" charset="0"/>
            </a:endParaRPr>
          </a:p>
        </p:txBody>
      </p:sp>
      <p:sp>
        <p:nvSpPr>
          <p:cNvPr id="149" name="Text 135"/>
          <p:cNvSpPr/>
          <p:nvPr/>
        </p:nvSpPr>
        <p:spPr>
          <a:xfrm>
            <a:off x="320040" y="8083296"/>
            <a:ext cx="2926080" cy="237744"/>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 Robust to Noise and Viewpoint Changes</a:t>
            </a:r>
            <a:endParaRPr lang="en-US" sz="1000" dirty="0">
              <a:latin typeface="Times New Roman" panose="02020603050405020304" pitchFamily="18" charset="0"/>
              <a:cs typeface="Times New Roman" panose="02020603050405020304" pitchFamily="18" charset="0"/>
            </a:endParaRPr>
          </a:p>
        </p:txBody>
      </p:sp>
      <p:sp>
        <p:nvSpPr>
          <p:cNvPr id="150" name="Text 136"/>
          <p:cNvSpPr/>
          <p:nvPr/>
        </p:nvSpPr>
        <p:spPr>
          <a:xfrm>
            <a:off x="320040" y="8330184"/>
            <a:ext cx="2926080" cy="237744"/>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 High Distinctiveness for Currency Patterns</a:t>
            </a:r>
            <a:endParaRPr lang="en-US" sz="1000" dirty="0">
              <a:latin typeface="Times New Roman" panose="02020603050405020304" pitchFamily="18" charset="0"/>
              <a:cs typeface="Times New Roman" panose="02020603050405020304" pitchFamily="18" charset="0"/>
            </a:endParaRPr>
          </a:p>
        </p:txBody>
      </p:sp>
      <p:sp>
        <p:nvSpPr>
          <p:cNvPr id="151" name="Text 137"/>
          <p:cNvSpPr/>
          <p:nvPr/>
        </p:nvSpPr>
        <p:spPr>
          <a:xfrm>
            <a:off x="320040" y="8577072"/>
            <a:ext cx="2926080" cy="237744"/>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 Real-time Detection Capability</a:t>
            </a:r>
            <a:endParaRPr lang="en-US" sz="1000" dirty="0">
              <a:latin typeface="Times New Roman" panose="02020603050405020304" pitchFamily="18" charset="0"/>
              <a:cs typeface="Times New Roman" panose="02020603050405020304" pitchFamily="18" charset="0"/>
            </a:endParaRPr>
          </a:p>
        </p:txBody>
      </p:sp>
      <p:sp>
        <p:nvSpPr>
          <p:cNvPr id="152" name="Shape 138"/>
          <p:cNvSpPr/>
          <p:nvPr/>
        </p:nvSpPr>
        <p:spPr>
          <a:xfrm>
            <a:off x="3611880" y="7452360"/>
            <a:ext cx="7178040" cy="1417320"/>
          </a:xfrm>
          <a:prstGeom prst="roundRect">
            <a:avLst>
              <a:gd name="adj" fmla="val 3871"/>
            </a:avLst>
          </a:prstGeom>
          <a:solidFill>
            <a:srgbClr val="FFFFFF"/>
          </a:solidFill>
          <a:ln w="19050">
            <a:solidFill>
              <a:srgbClr val="3D85C6"/>
            </a:solidFill>
            <a:prstDash val="solid"/>
          </a:ln>
        </p:spPr>
      </p:sp>
      <p:sp>
        <p:nvSpPr>
          <p:cNvPr id="153" name="Text 139"/>
          <p:cNvSpPr/>
          <p:nvPr/>
        </p:nvSpPr>
        <p:spPr>
          <a:xfrm>
            <a:off x="3749040" y="7525512"/>
            <a:ext cx="1828800" cy="274320"/>
          </a:xfrm>
          <a:prstGeom prst="rect">
            <a:avLst/>
          </a:prstGeom>
          <a:noFill/>
          <a:ln/>
        </p:spPr>
        <p:txBody>
          <a:bodyPr wrap="square" rtlCol="0" anchor="ctr"/>
          <a:lstStyle/>
          <a:p>
            <a:pPr marL="0" indent="0">
              <a:buNone/>
            </a:pPr>
            <a:r>
              <a:rPr lang="en-US" sz="1200" b="1" dirty="0">
                <a:solidFill>
                  <a:srgbClr val="111111"/>
                </a:solidFill>
                <a:latin typeface="Times New Roman" panose="02020603050405020304" pitchFamily="18" charset="0"/>
                <a:ea typeface="Calibri" pitchFamily="34" charset="-122"/>
                <a:cs typeface="Times New Roman" panose="02020603050405020304" pitchFamily="18" charset="0"/>
              </a:rPr>
              <a:t>Legend (Flow)</a:t>
            </a:r>
            <a:endParaRPr lang="en-US" sz="1200" dirty="0">
              <a:latin typeface="Times New Roman" panose="02020603050405020304" pitchFamily="18" charset="0"/>
              <a:cs typeface="Times New Roman" panose="02020603050405020304" pitchFamily="18" charset="0"/>
            </a:endParaRPr>
          </a:p>
        </p:txBody>
      </p:sp>
      <p:sp>
        <p:nvSpPr>
          <p:cNvPr id="154" name="Shape 140"/>
          <p:cNvSpPr/>
          <p:nvPr/>
        </p:nvSpPr>
        <p:spPr>
          <a:xfrm>
            <a:off x="3840480" y="8110728"/>
            <a:ext cx="960120" cy="594360"/>
          </a:xfrm>
          <a:prstGeom prst="roundRect">
            <a:avLst>
              <a:gd name="adj" fmla="val 9231"/>
            </a:avLst>
          </a:prstGeom>
          <a:solidFill>
            <a:srgbClr val="CFE2F3"/>
          </a:solidFill>
          <a:ln w="15875">
            <a:solidFill>
              <a:srgbClr val="3D85C6"/>
            </a:solidFill>
            <a:prstDash val="solid"/>
          </a:ln>
        </p:spPr>
      </p:sp>
      <p:sp>
        <p:nvSpPr>
          <p:cNvPr id="155" name="Text 141"/>
          <p:cNvSpPr/>
          <p:nvPr/>
        </p:nvSpPr>
        <p:spPr>
          <a:xfrm>
            <a:off x="3840480" y="8110728"/>
            <a:ext cx="960120" cy="594360"/>
          </a:xfrm>
          <a:prstGeom prst="rect">
            <a:avLst/>
          </a:prstGeom>
          <a:noFill/>
          <a:ln/>
        </p:spPr>
        <p:txBody>
          <a:bodyPr wrap="square" rtlCol="0" anchor="ctr"/>
          <a:lstStyle/>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Input</a:t>
            </a:r>
            <a:endParaRPr lang="en-US" sz="950" dirty="0">
              <a:latin typeface="Times New Roman" panose="02020603050405020304" pitchFamily="18" charset="0"/>
              <a:cs typeface="Times New Roman" panose="02020603050405020304" pitchFamily="18" charset="0"/>
            </a:endParaRPr>
          </a:p>
        </p:txBody>
      </p:sp>
      <p:sp>
        <p:nvSpPr>
          <p:cNvPr id="156" name="Shape 142"/>
          <p:cNvSpPr/>
          <p:nvPr/>
        </p:nvSpPr>
        <p:spPr>
          <a:xfrm>
            <a:off x="4818888" y="8407908"/>
            <a:ext cx="219456" cy="0"/>
          </a:xfrm>
          <a:prstGeom prst="line">
            <a:avLst/>
          </a:prstGeom>
          <a:noFill/>
          <a:ln w="25400">
            <a:solidFill>
              <a:srgbClr val="333333"/>
            </a:solidFill>
            <a:prstDash val="solid"/>
            <a:tailEnd type="triangle"/>
          </a:ln>
        </p:spPr>
      </p:sp>
      <p:sp>
        <p:nvSpPr>
          <p:cNvPr id="157" name="Shape 143"/>
          <p:cNvSpPr/>
          <p:nvPr/>
        </p:nvSpPr>
        <p:spPr>
          <a:xfrm>
            <a:off x="5056632" y="8110728"/>
            <a:ext cx="960120" cy="594360"/>
          </a:xfrm>
          <a:prstGeom prst="roundRect">
            <a:avLst>
              <a:gd name="adj" fmla="val 9231"/>
            </a:avLst>
          </a:prstGeom>
          <a:solidFill>
            <a:srgbClr val="D9EAD3"/>
          </a:solidFill>
          <a:ln w="15875">
            <a:solidFill>
              <a:srgbClr val="6AA84F"/>
            </a:solidFill>
            <a:prstDash val="solid"/>
          </a:ln>
        </p:spPr>
      </p:sp>
      <p:sp>
        <p:nvSpPr>
          <p:cNvPr id="158" name="Text 144"/>
          <p:cNvSpPr/>
          <p:nvPr/>
        </p:nvSpPr>
        <p:spPr>
          <a:xfrm>
            <a:off x="5056632" y="8110728"/>
            <a:ext cx="960120" cy="594360"/>
          </a:xfrm>
          <a:prstGeom prst="rect">
            <a:avLst/>
          </a:prstGeom>
          <a:noFill/>
          <a:ln/>
        </p:spPr>
        <p:txBody>
          <a:bodyPr wrap="square" rtlCol="0" anchor="ctr"/>
          <a:lstStyle/>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Preprocessing</a:t>
            </a:r>
            <a:endParaRPr lang="en-US" sz="950" dirty="0">
              <a:latin typeface="Times New Roman" panose="02020603050405020304" pitchFamily="18" charset="0"/>
              <a:cs typeface="Times New Roman" panose="02020603050405020304" pitchFamily="18" charset="0"/>
            </a:endParaRPr>
          </a:p>
        </p:txBody>
      </p:sp>
      <p:sp>
        <p:nvSpPr>
          <p:cNvPr id="159" name="Shape 145"/>
          <p:cNvSpPr/>
          <p:nvPr/>
        </p:nvSpPr>
        <p:spPr>
          <a:xfrm>
            <a:off x="6035040" y="8407908"/>
            <a:ext cx="219456" cy="0"/>
          </a:xfrm>
          <a:prstGeom prst="line">
            <a:avLst/>
          </a:prstGeom>
          <a:noFill/>
          <a:ln w="25400">
            <a:solidFill>
              <a:srgbClr val="333333"/>
            </a:solidFill>
            <a:prstDash val="solid"/>
            <a:tailEnd type="triangle"/>
          </a:ln>
        </p:spPr>
      </p:sp>
      <p:sp>
        <p:nvSpPr>
          <p:cNvPr id="160" name="Shape 146"/>
          <p:cNvSpPr/>
          <p:nvPr/>
        </p:nvSpPr>
        <p:spPr>
          <a:xfrm>
            <a:off x="6272784" y="8110728"/>
            <a:ext cx="960120" cy="594360"/>
          </a:xfrm>
          <a:prstGeom prst="roundRect">
            <a:avLst>
              <a:gd name="adj" fmla="val 9231"/>
            </a:avLst>
          </a:prstGeom>
          <a:solidFill>
            <a:srgbClr val="FFF2CC"/>
          </a:solidFill>
          <a:ln w="15875">
            <a:solidFill>
              <a:srgbClr val="BF9000"/>
            </a:solidFill>
            <a:prstDash val="solid"/>
          </a:ln>
        </p:spPr>
      </p:sp>
      <p:sp>
        <p:nvSpPr>
          <p:cNvPr id="161" name="Text 147"/>
          <p:cNvSpPr/>
          <p:nvPr/>
        </p:nvSpPr>
        <p:spPr>
          <a:xfrm>
            <a:off x="6272784" y="8110728"/>
            <a:ext cx="960120" cy="594360"/>
          </a:xfrm>
          <a:prstGeom prst="rect">
            <a:avLst/>
          </a:prstGeom>
          <a:noFill/>
          <a:ln/>
        </p:spPr>
        <p:txBody>
          <a:bodyPr wrap="square" rtlCol="0" anchor="ctr"/>
          <a:lstStyle/>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Feature</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Extraction</a:t>
            </a:r>
            <a:endParaRPr lang="en-US" sz="950" dirty="0">
              <a:latin typeface="Times New Roman" panose="02020603050405020304" pitchFamily="18" charset="0"/>
              <a:cs typeface="Times New Roman" panose="02020603050405020304" pitchFamily="18" charset="0"/>
            </a:endParaRPr>
          </a:p>
        </p:txBody>
      </p:sp>
      <p:sp>
        <p:nvSpPr>
          <p:cNvPr id="162" name="Shape 148"/>
          <p:cNvSpPr/>
          <p:nvPr/>
        </p:nvSpPr>
        <p:spPr>
          <a:xfrm>
            <a:off x="7251192" y="8407908"/>
            <a:ext cx="219456" cy="0"/>
          </a:xfrm>
          <a:prstGeom prst="line">
            <a:avLst/>
          </a:prstGeom>
          <a:noFill/>
          <a:ln w="25400">
            <a:solidFill>
              <a:srgbClr val="333333"/>
            </a:solidFill>
            <a:prstDash val="solid"/>
            <a:tailEnd type="triangle"/>
          </a:ln>
        </p:spPr>
      </p:sp>
      <p:sp>
        <p:nvSpPr>
          <p:cNvPr id="163" name="Shape 149"/>
          <p:cNvSpPr/>
          <p:nvPr/>
        </p:nvSpPr>
        <p:spPr>
          <a:xfrm>
            <a:off x="7488936" y="8110728"/>
            <a:ext cx="960120" cy="594360"/>
          </a:xfrm>
          <a:prstGeom prst="roundRect">
            <a:avLst>
              <a:gd name="adj" fmla="val 9231"/>
            </a:avLst>
          </a:prstGeom>
          <a:solidFill>
            <a:srgbClr val="E5D8F0"/>
          </a:solidFill>
          <a:ln w="15875">
            <a:solidFill>
              <a:srgbClr val="8E5FC5"/>
            </a:solidFill>
            <a:prstDash val="solid"/>
          </a:ln>
        </p:spPr>
      </p:sp>
      <p:sp>
        <p:nvSpPr>
          <p:cNvPr id="164" name="Text 150"/>
          <p:cNvSpPr/>
          <p:nvPr/>
        </p:nvSpPr>
        <p:spPr>
          <a:xfrm>
            <a:off x="7488936" y="8110728"/>
            <a:ext cx="960120" cy="594360"/>
          </a:xfrm>
          <a:prstGeom prst="rect">
            <a:avLst/>
          </a:prstGeom>
          <a:noFill/>
          <a:ln/>
        </p:spPr>
        <p:txBody>
          <a:bodyPr wrap="square" rtlCol="0" anchor="ctr"/>
          <a:lstStyle/>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Feature</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Matching</a:t>
            </a:r>
            <a:endParaRPr lang="en-US" sz="950" dirty="0">
              <a:latin typeface="Times New Roman" panose="02020603050405020304" pitchFamily="18" charset="0"/>
              <a:cs typeface="Times New Roman" panose="02020603050405020304" pitchFamily="18" charset="0"/>
            </a:endParaRPr>
          </a:p>
        </p:txBody>
      </p:sp>
      <p:sp>
        <p:nvSpPr>
          <p:cNvPr id="165" name="Shape 151"/>
          <p:cNvSpPr/>
          <p:nvPr/>
        </p:nvSpPr>
        <p:spPr>
          <a:xfrm>
            <a:off x="8467344" y="8407908"/>
            <a:ext cx="219456" cy="0"/>
          </a:xfrm>
          <a:prstGeom prst="line">
            <a:avLst/>
          </a:prstGeom>
          <a:noFill/>
          <a:ln w="25400">
            <a:solidFill>
              <a:srgbClr val="333333"/>
            </a:solidFill>
            <a:prstDash val="solid"/>
            <a:tailEnd type="triangle"/>
          </a:ln>
        </p:spPr>
      </p:sp>
      <p:sp>
        <p:nvSpPr>
          <p:cNvPr id="166" name="Shape 152"/>
          <p:cNvSpPr/>
          <p:nvPr/>
        </p:nvSpPr>
        <p:spPr>
          <a:xfrm>
            <a:off x="8705088" y="8110728"/>
            <a:ext cx="960120" cy="594360"/>
          </a:xfrm>
          <a:prstGeom prst="roundRect">
            <a:avLst>
              <a:gd name="adj" fmla="val 9231"/>
            </a:avLst>
          </a:prstGeom>
          <a:solidFill>
            <a:srgbClr val="FCE5CD"/>
          </a:solidFill>
          <a:ln w="15875">
            <a:solidFill>
              <a:srgbClr val="E69138"/>
            </a:solidFill>
            <a:prstDash val="solid"/>
          </a:ln>
        </p:spPr>
      </p:sp>
      <p:sp>
        <p:nvSpPr>
          <p:cNvPr id="167" name="Text 153"/>
          <p:cNvSpPr/>
          <p:nvPr/>
        </p:nvSpPr>
        <p:spPr>
          <a:xfrm>
            <a:off x="8705088" y="8110728"/>
            <a:ext cx="960120" cy="594360"/>
          </a:xfrm>
          <a:prstGeom prst="rect">
            <a:avLst/>
          </a:prstGeom>
          <a:noFill/>
          <a:ln/>
        </p:spPr>
        <p:txBody>
          <a:bodyPr wrap="square" rtlCol="0" anchor="ctr"/>
          <a:lstStyle/>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Decision</a:t>
            </a:r>
            <a:endParaRPr lang="en-US" sz="950" dirty="0">
              <a:latin typeface="Times New Roman" panose="02020603050405020304" pitchFamily="18" charset="0"/>
              <a:cs typeface="Times New Roman" panose="02020603050405020304" pitchFamily="18" charset="0"/>
            </a:endParaRPr>
          </a:p>
        </p:txBody>
      </p:sp>
      <p:sp>
        <p:nvSpPr>
          <p:cNvPr id="168" name="Shape 154"/>
          <p:cNvSpPr/>
          <p:nvPr/>
        </p:nvSpPr>
        <p:spPr>
          <a:xfrm>
            <a:off x="9683496" y="8407908"/>
            <a:ext cx="219456" cy="0"/>
          </a:xfrm>
          <a:prstGeom prst="line">
            <a:avLst/>
          </a:prstGeom>
          <a:noFill/>
          <a:ln w="25400">
            <a:solidFill>
              <a:srgbClr val="333333"/>
            </a:solidFill>
            <a:prstDash val="solid"/>
            <a:tailEnd type="triangle"/>
          </a:ln>
        </p:spPr>
      </p:sp>
      <p:sp>
        <p:nvSpPr>
          <p:cNvPr id="169" name="Shape 155"/>
          <p:cNvSpPr/>
          <p:nvPr/>
        </p:nvSpPr>
        <p:spPr>
          <a:xfrm>
            <a:off x="9921240" y="8110728"/>
            <a:ext cx="960120" cy="594360"/>
          </a:xfrm>
          <a:prstGeom prst="roundRect">
            <a:avLst>
              <a:gd name="adj" fmla="val 9231"/>
            </a:avLst>
          </a:prstGeom>
          <a:solidFill>
            <a:srgbClr val="DCE9F7"/>
          </a:solidFill>
          <a:ln w="15875">
            <a:solidFill>
              <a:srgbClr val="3D6FA5"/>
            </a:solidFill>
            <a:prstDash val="solid"/>
          </a:ln>
        </p:spPr>
      </p:sp>
      <p:sp>
        <p:nvSpPr>
          <p:cNvPr id="170" name="Text 156"/>
          <p:cNvSpPr/>
          <p:nvPr/>
        </p:nvSpPr>
        <p:spPr>
          <a:xfrm>
            <a:off x="9921240" y="8110728"/>
            <a:ext cx="960120" cy="594360"/>
          </a:xfrm>
          <a:prstGeom prst="rect">
            <a:avLst/>
          </a:prstGeom>
          <a:noFill/>
          <a:ln/>
        </p:spPr>
        <p:txBody>
          <a:bodyPr wrap="square" rtlCol="0" anchor="ctr"/>
          <a:lstStyle/>
          <a:p>
            <a:pPr marL="0" indent="0" algn="ctr">
              <a:buNone/>
            </a:pPr>
            <a:r>
              <a:rPr lang="en-US" sz="950" b="1" dirty="0">
                <a:solidFill>
                  <a:srgbClr val="000000"/>
                </a:solidFill>
                <a:latin typeface="Times New Roman" panose="02020603050405020304" pitchFamily="18" charset="0"/>
                <a:ea typeface="Calibri" pitchFamily="34" charset="-122"/>
                <a:cs typeface="Times New Roman" panose="02020603050405020304" pitchFamily="18" charset="0"/>
              </a:rPr>
              <a:t>Output</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69944CAE-830F-2DF8-8C53-C33159491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222250"/>
            <a:ext cx="11532796" cy="14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70D59CB4-E52C-6B25-53F2-B58FFE5E07E9}"/>
              </a:ext>
            </a:extLst>
          </p:cNvPr>
          <p:cNvSpPr txBox="1"/>
          <p:nvPr/>
        </p:nvSpPr>
        <p:spPr>
          <a:xfrm>
            <a:off x="5854535" y="1757548"/>
            <a:ext cx="6436426" cy="738664"/>
          </a:xfrm>
          <a:prstGeom prst="rect">
            <a:avLst/>
          </a:prstGeom>
          <a:noFill/>
        </p:spPr>
        <p:txBody>
          <a:bodyPr wrap="square" rtlCol="0">
            <a:spAutoFit/>
          </a:bodyPr>
          <a:lstStyle/>
          <a:p>
            <a:r>
              <a:rPr lang="en-IN" sz="4200" b="1" dirty="0">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76076E7C-DDC1-64C9-2337-FFE30D6D9C94}"/>
              </a:ext>
            </a:extLst>
          </p:cNvPr>
          <p:cNvSpPr txBox="1"/>
          <p:nvPr/>
        </p:nvSpPr>
        <p:spPr>
          <a:xfrm>
            <a:off x="1117033" y="2599673"/>
            <a:ext cx="11756572" cy="5617692"/>
          </a:xfrm>
          <a:prstGeom prst="rect">
            <a:avLst/>
          </a:prstGeom>
          <a:noFill/>
        </p:spPr>
        <p:txBody>
          <a:bodyPr wrap="square" rtlCol="0">
            <a:spAutoFit/>
          </a:bodyPr>
          <a:lstStyle/>
          <a:p>
            <a:pPr algn="just">
              <a:lnSpc>
                <a:spcPct val="150000"/>
              </a:lnSpc>
            </a:pPr>
            <a:r>
              <a:rPr lang="en-IN" sz="2200" dirty="0">
                <a:latin typeface="Times New Roman" panose="02020603050405020304" pitchFamily="18" charset="0"/>
                <a:cs typeface="Times New Roman" panose="02020603050405020304" pitchFamily="18" charset="0"/>
              </a:rPr>
              <a:t>Counterfeit currency detection is an important application of image processing and computer vision for identifying fake banknotes accurately and efficiently. This system uses Scale-Invariant Feature Transform (SIFT) to detect and describe distinctive features present on a currency note. The input currency image is first pre processed by converting it to grayscale and improving its quality. SIFT is then used to extract key points and feature descriptors from the input image. These features are compared with the features of a genuine currency reference image using feature matching techniques such as </a:t>
            </a:r>
            <a:r>
              <a:rPr lang="en-IN" sz="2200" dirty="0" err="1">
                <a:latin typeface="Times New Roman" panose="02020603050405020304" pitchFamily="18" charset="0"/>
                <a:cs typeface="Times New Roman" panose="02020603050405020304" pitchFamily="18" charset="0"/>
              </a:rPr>
              <a:t>BFMatcher</a:t>
            </a:r>
            <a:r>
              <a:rPr lang="en-IN" sz="2200" dirty="0">
                <a:latin typeface="Times New Roman" panose="02020603050405020304" pitchFamily="18" charset="0"/>
                <a:cs typeface="Times New Roman" panose="02020603050405020304" pitchFamily="18" charset="0"/>
              </a:rPr>
              <a:t> or FLANN. The number of reliable feature matches is </a:t>
            </a:r>
            <a:r>
              <a:rPr lang="en-IN" sz="2200" dirty="0" err="1">
                <a:latin typeface="Times New Roman" panose="02020603050405020304" pitchFamily="18" charset="0"/>
                <a:cs typeface="Times New Roman" panose="02020603050405020304" pitchFamily="18" charset="0"/>
              </a:rPr>
              <a:t>analyzed</a:t>
            </a:r>
            <a:r>
              <a:rPr lang="en-IN" sz="2200" dirty="0">
                <a:latin typeface="Times New Roman" panose="02020603050405020304" pitchFamily="18" charset="0"/>
                <a:cs typeface="Times New Roman" panose="02020603050405020304" pitchFamily="18" charset="0"/>
              </a:rPr>
              <a:t> using a similarity threshold to determine whether the currency is authentic or counterfeit. Since SIFT features are relatively robust to changes in scale, rotation, and illumination, the proposed approach can provide reliable matching under different image conditions. The system demonstrates how feature-based image processing can be applied to automated currency verification.</a:t>
            </a:r>
          </a:p>
        </p:txBody>
      </p:sp>
    </p:spTree>
    <p:extLst>
      <p:ext uri="{BB962C8B-B14F-4D97-AF65-F5344CB8AC3E}">
        <p14:creationId xmlns:p14="http://schemas.microsoft.com/office/powerpoint/2010/main" val="1858529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402</Words>
  <Application>Microsoft Office PowerPoint</Application>
  <PresentationFormat>Custom</PresentationFormat>
  <Paragraphs>84</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Times New Roman</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yashu reddy</cp:lastModifiedBy>
  <cp:revision>3</cp:revision>
  <dcterms:created xsi:type="dcterms:W3CDTF">2026-08-10T11:14:31Z</dcterms:created>
  <dcterms:modified xsi:type="dcterms:W3CDTF">2026-08-10T13:08:21Z</dcterms:modified>
</cp:coreProperties>
</file>