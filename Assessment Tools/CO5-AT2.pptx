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7" r:id="rId2"/>
    <p:sldId id="256"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459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xml"/><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E264092A-56C8-F75F-5C2D-3EEE88C4C6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970" y="246979"/>
            <a:ext cx="1066224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63FBDBD7-81A8-98E2-536C-747AED6C1973}"/>
              </a:ext>
            </a:extLst>
          </p:cNvPr>
          <p:cNvSpPr txBox="1"/>
          <p:nvPr/>
        </p:nvSpPr>
        <p:spPr>
          <a:xfrm>
            <a:off x="2875472" y="1647645"/>
            <a:ext cx="6426679" cy="1077218"/>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Pseudocode for a Video-to-Frames Extraction and Annotation Tool</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31AE69A-F66D-A027-DE4D-5973A4418E37}"/>
              </a:ext>
            </a:extLst>
          </p:cNvPr>
          <p:cNvSpPr txBox="1"/>
          <p:nvPr/>
        </p:nvSpPr>
        <p:spPr>
          <a:xfrm>
            <a:off x="3048719" y="2721807"/>
            <a:ext cx="6094562" cy="2246769"/>
          </a:xfrm>
          <a:prstGeom prst="rect">
            <a:avLst/>
          </a:prstGeom>
          <a:noFill/>
        </p:spPr>
        <p:txBody>
          <a:bodyPr wrap="square">
            <a:spAutoFit/>
          </a:bodyPr>
          <a:lstStyle/>
          <a:p>
            <a:pPr algn="ctr"/>
            <a:r>
              <a:rPr lang="en-IN" sz="2800" dirty="0">
                <a:latin typeface="Times New Roman" panose="02020603050405020304" pitchFamily="18" charset="0"/>
                <a:ea typeface="Tahoma" panose="020B0604030504040204" pitchFamily="34" charset="0"/>
                <a:cs typeface="Times New Roman" panose="02020603050405020304" pitchFamily="18" charset="0"/>
              </a:rPr>
              <a:t>DSA0205-Computer Vision with Open CV</a:t>
            </a:r>
          </a:p>
          <a:p>
            <a:pPr algn="ctr"/>
            <a:endParaRPr lang="en-IN" sz="2800" dirty="0">
              <a:latin typeface="Times New Roman" panose="02020603050405020304" pitchFamily="18" charset="0"/>
              <a:ea typeface="Tahoma" panose="020B0604030504040204" pitchFamily="34" charset="0"/>
              <a:cs typeface="Times New Roman" panose="02020603050405020304" pitchFamily="18" charset="0"/>
            </a:endParaRPr>
          </a:p>
          <a:p>
            <a:pPr algn="ctr"/>
            <a:r>
              <a:rPr lang="en-IN" sz="2800" dirty="0">
                <a:latin typeface="Times New Roman" panose="02020603050405020304" pitchFamily="18" charset="0"/>
                <a:ea typeface="Tahoma" panose="020B0604030504040204" pitchFamily="34" charset="0"/>
                <a:cs typeface="Times New Roman" panose="02020603050405020304" pitchFamily="18" charset="0"/>
              </a:rPr>
              <a:t>Guided By</a:t>
            </a:r>
          </a:p>
          <a:p>
            <a:pPr algn="ctr"/>
            <a:r>
              <a:rPr lang="en-IN" sz="2800" dirty="0">
                <a:latin typeface="Times New Roman" panose="02020603050405020304" pitchFamily="18" charset="0"/>
                <a:ea typeface="Tahoma" panose="020B0604030504040204" pitchFamily="34" charset="0"/>
                <a:cs typeface="Times New Roman" panose="02020603050405020304" pitchFamily="18" charset="0"/>
              </a:rPr>
              <a:t>Dr. </a:t>
            </a:r>
            <a:r>
              <a:rPr lang="en-IN" sz="2800" dirty="0" err="1">
                <a:latin typeface="Times New Roman" panose="02020603050405020304" pitchFamily="18" charset="0"/>
                <a:ea typeface="Tahoma" panose="020B0604030504040204" pitchFamily="34" charset="0"/>
                <a:cs typeface="Times New Roman" panose="02020603050405020304" pitchFamily="18" charset="0"/>
              </a:rPr>
              <a:t>Narenthira</a:t>
            </a:r>
            <a:r>
              <a:rPr lang="en-IN" sz="2800" dirty="0">
                <a:latin typeface="Times New Roman" panose="02020603050405020304" pitchFamily="18" charset="0"/>
                <a:ea typeface="Tahoma" panose="020B0604030504040204" pitchFamily="34" charset="0"/>
                <a:cs typeface="Times New Roman" panose="02020603050405020304" pitchFamily="18" charset="0"/>
              </a:rPr>
              <a:t> Kumar A</a:t>
            </a:r>
            <a:endParaRPr lang="en-IN" sz="2800" dirty="0"/>
          </a:p>
        </p:txBody>
      </p:sp>
      <p:sp>
        <p:nvSpPr>
          <p:cNvPr id="8" name="TextBox 7">
            <a:extLst>
              <a:ext uri="{FF2B5EF4-FFF2-40B4-BE49-F238E27FC236}">
                <a16:creationId xmlns:a16="http://schemas.microsoft.com/office/drawing/2014/main" id="{2153F211-B638-6E8E-D157-07CCAF8DCB80}"/>
              </a:ext>
            </a:extLst>
          </p:cNvPr>
          <p:cNvSpPr txBox="1"/>
          <p:nvPr/>
        </p:nvSpPr>
        <p:spPr>
          <a:xfrm>
            <a:off x="6782519" y="5503025"/>
            <a:ext cx="6094562" cy="1107996"/>
          </a:xfrm>
          <a:prstGeom prst="rect">
            <a:avLst/>
          </a:prstGeom>
          <a:noFill/>
        </p:spPr>
        <p:txBody>
          <a:bodyPr wrap="square">
            <a:spAutoFit/>
          </a:bodyPr>
          <a:lstStyle/>
          <a:p>
            <a:r>
              <a:rPr lang="en-IN" sz="2200" b="1" dirty="0">
                <a:latin typeface="Times New Roman" panose="02020603050405020304" pitchFamily="18" charset="0"/>
                <a:ea typeface="Tahoma" panose="020B0604030504040204" pitchFamily="34" charset="0"/>
                <a:cs typeface="Times New Roman" panose="02020603050405020304" pitchFamily="18" charset="0"/>
              </a:rPr>
              <a:t>Name: A. Yaswanth</a:t>
            </a:r>
          </a:p>
          <a:p>
            <a:r>
              <a:rPr lang="en-IN" sz="2200" b="1" dirty="0">
                <a:latin typeface="Times New Roman" panose="02020603050405020304" pitchFamily="18" charset="0"/>
                <a:ea typeface="Tahoma" panose="020B0604030504040204" pitchFamily="34" charset="0"/>
                <a:cs typeface="Times New Roman" panose="02020603050405020304" pitchFamily="18" charset="0"/>
              </a:rPr>
              <a:t>Reg. No: 192324179</a:t>
            </a:r>
          </a:p>
          <a:p>
            <a:r>
              <a:rPr lang="en-IN" sz="2200" b="1" dirty="0">
                <a:latin typeface="Times New Roman" panose="02020603050405020304" pitchFamily="18" charset="0"/>
                <a:ea typeface="Tahoma" panose="020B0604030504040204" pitchFamily="34" charset="0"/>
                <a:cs typeface="Times New Roman" panose="02020603050405020304" pitchFamily="18" charset="0"/>
              </a:rPr>
              <a:t>Artificial Intelligence and Data Science</a:t>
            </a:r>
          </a:p>
        </p:txBody>
      </p:sp>
    </p:spTree>
    <p:extLst>
      <p:ext uri="{BB962C8B-B14F-4D97-AF65-F5344CB8AC3E}">
        <p14:creationId xmlns:p14="http://schemas.microsoft.com/office/powerpoint/2010/main" val="356657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3444" y="393192"/>
            <a:ext cx="12188952" cy="384048"/>
          </a:xfrm>
          <a:prstGeom prst="rect">
            <a:avLst/>
          </a:prstGeom>
          <a:noFill/>
          <a:ln/>
        </p:spPr>
        <p:txBody>
          <a:bodyPr wrap="square" rtlCol="0" anchor="ctr"/>
          <a:lstStyle/>
          <a:p>
            <a:pPr marL="0" indent="0" algn="ctr">
              <a:buNone/>
            </a:pPr>
            <a:r>
              <a:rPr lang="en-US" sz="2200" b="1" dirty="0">
                <a:latin typeface="Times New Roman" panose="02020603050405020304" pitchFamily="18" charset="0"/>
                <a:ea typeface="Cambria" pitchFamily="34" charset="-122"/>
                <a:cs typeface="Times New Roman" panose="02020603050405020304" pitchFamily="18" charset="0"/>
              </a:rPr>
              <a:t>Video-to-Frames Extraction and Annotation Tool</a:t>
            </a:r>
            <a:endParaRPr lang="en-US" sz="2200" dirty="0">
              <a:latin typeface="Times New Roman" panose="02020603050405020304" pitchFamily="18" charset="0"/>
              <a:cs typeface="Times New Roman" panose="02020603050405020304" pitchFamily="18" charset="0"/>
            </a:endParaRPr>
          </a:p>
        </p:txBody>
      </p:sp>
      <p:sp>
        <p:nvSpPr>
          <p:cNvPr id="4" name="Shape 2"/>
          <p:cNvSpPr/>
          <p:nvPr/>
        </p:nvSpPr>
        <p:spPr>
          <a:xfrm>
            <a:off x="137160" y="896112"/>
            <a:ext cx="1417320" cy="4160520"/>
          </a:xfrm>
          <a:prstGeom prst="roundRect">
            <a:avLst>
              <a:gd name="adj" fmla="val 5161"/>
            </a:avLst>
          </a:prstGeom>
          <a:solidFill>
            <a:srgbClr val="E2EFDA"/>
          </a:solidFill>
          <a:ln w="15875">
            <a:solidFill>
              <a:srgbClr val="2E7D32"/>
            </a:solidFill>
            <a:prstDash val="solid"/>
          </a:ln>
        </p:spPr>
      </p:sp>
      <p:sp>
        <p:nvSpPr>
          <p:cNvPr id="5" name="Text 3"/>
          <p:cNvSpPr/>
          <p:nvPr/>
        </p:nvSpPr>
        <p:spPr>
          <a:xfrm>
            <a:off x="137160" y="987552"/>
            <a:ext cx="1417320" cy="292608"/>
          </a:xfrm>
          <a:prstGeom prst="rect">
            <a:avLst/>
          </a:prstGeom>
          <a:noFill/>
          <a:ln/>
        </p:spPr>
        <p:txBody>
          <a:bodyPr wrap="square" lIns="0" tIns="0" rIns="0" bIns="0" rtlCol="0" anchor="ctr"/>
          <a:lstStyle/>
          <a:p>
            <a:pPr marL="0" indent="0" algn="ctr">
              <a:buNone/>
            </a:pPr>
            <a:r>
              <a:rPr lang="en-US" sz="1300" b="1" dirty="0">
                <a:solidFill>
                  <a:srgbClr val="262626"/>
                </a:solidFill>
                <a:latin typeface="Times New Roman" panose="02020603050405020304" pitchFamily="18" charset="0"/>
                <a:ea typeface="Calibri" pitchFamily="34" charset="-122"/>
                <a:cs typeface="Times New Roman" panose="02020603050405020304" pitchFamily="18" charset="0"/>
              </a:rPr>
              <a:t>User</a:t>
            </a:r>
            <a:endParaRPr lang="en-US" sz="1300" dirty="0">
              <a:latin typeface="Times New Roman" panose="02020603050405020304" pitchFamily="18" charset="0"/>
              <a:cs typeface="Times New Roman" panose="02020603050405020304" pitchFamily="18" charset="0"/>
            </a:endParaRPr>
          </a:p>
        </p:txBody>
      </p:sp>
      <p:pic>
        <p:nvPicPr>
          <p:cNvPr id="6" name="Image 0" descr="/home/claude/pptx_work/v_user.png"/>
          <p:cNvPicPr>
            <a:picLocks noChangeAspect="1"/>
          </p:cNvPicPr>
          <p:nvPr/>
        </p:nvPicPr>
        <p:blipFill>
          <a:blip r:embed="rId3"/>
          <a:stretch>
            <a:fillRect/>
          </a:stretch>
        </p:blipFill>
        <p:spPr>
          <a:xfrm>
            <a:off x="525780" y="1353312"/>
            <a:ext cx="640080" cy="640080"/>
          </a:xfrm>
          <a:prstGeom prst="rect">
            <a:avLst/>
          </a:prstGeom>
        </p:spPr>
      </p:pic>
      <p:sp>
        <p:nvSpPr>
          <p:cNvPr id="7" name="Text 4"/>
          <p:cNvSpPr/>
          <p:nvPr/>
        </p:nvSpPr>
        <p:spPr>
          <a:xfrm>
            <a:off x="274320" y="2176272"/>
            <a:ext cx="1143000" cy="2788920"/>
          </a:xfrm>
          <a:prstGeom prst="rect">
            <a:avLst/>
          </a:prstGeom>
          <a:noFill/>
          <a:ln/>
        </p:spPr>
        <p:txBody>
          <a:bodyPr wrap="square" lIns="0" tIns="0" rIns="0" bIns="0" rtlCol="0" anchor="t"/>
          <a:lstStyle/>
          <a:p>
            <a:pPr marL="0" indent="0" algn="l">
              <a:spcAft>
                <a:spcPts val="1200"/>
              </a:spcAft>
              <a:buNone/>
            </a:pPr>
            <a:r>
              <a:rPr lang="en-US" sz="950" dirty="0">
                <a:solidFill>
                  <a:srgbClr val="262626"/>
                </a:solidFill>
                <a:latin typeface="Times New Roman" panose="02020603050405020304" pitchFamily="18" charset="0"/>
                <a:ea typeface="Calibri" pitchFamily="34" charset="-122"/>
                <a:cs typeface="Times New Roman" panose="02020603050405020304" pitchFamily="18" charset="0"/>
              </a:rPr>
              <a:t>1. Upload Video</a:t>
            </a:r>
            <a:endParaRPr lang="en-US" sz="950" dirty="0">
              <a:latin typeface="Times New Roman" panose="02020603050405020304" pitchFamily="18" charset="0"/>
              <a:cs typeface="Times New Roman" panose="02020603050405020304" pitchFamily="18" charset="0"/>
            </a:endParaRPr>
          </a:p>
          <a:p>
            <a:pPr marL="0" indent="0" algn="l">
              <a:spcAft>
                <a:spcPts val="1200"/>
              </a:spcAft>
              <a:buNone/>
            </a:pPr>
            <a:r>
              <a:rPr lang="en-US" sz="950" dirty="0">
                <a:solidFill>
                  <a:srgbClr val="262626"/>
                </a:solidFill>
                <a:latin typeface="Times New Roman" panose="02020603050405020304" pitchFamily="18" charset="0"/>
                <a:ea typeface="Calibri" pitchFamily="34" charset="-122"/>
                <a:cs typeface="Times New Roman" panose="02020603050405020304" pitchFamily="18" charset="0"/>
              </a:rPr>
              <a:t>2. Configure</a:t>
            </a:r>
            <a:endParaRPr lang="en-US" sz="950" dirty="0">
              <a:latin typeface="Times New Roman" panose="02020603050405020304" pitchFamily="18" charset="0"/>
              <a:cs typeface="Times New Roman" panose="02020603050405020304" pitchFamily="18" charset="0"/>
            </a:endParaRPr>
          </a:p>
          <a:p>
            <a:pPr marL="0" indent="0" algn="l">
              <a:spcAft>
                <a:spcPts val="1200"/>
              </a:spcAft>
              <a:buNone/>
            </a:pPr>
            <a:r>
              <a:rPr lang="en-US" sz="950" dirty="0">
                <a:solidFill>
                  <a:srgbClr val="262626"/>
                </a:solidFill>
                <a:latin typeface="Times New Roman" panose="02020603050405020304" pitchFamily="18" charset="0"/>
                <a:ea typeface="Calibri" pitchFamily="34" charset="-122"/>
                <a:cs typeface="Times New Roman" panose="02020603050405020304" pitchFamily="18" charset="0"/>
              </a:rPr>
              <a:t>Extraction Settings</a:t>
            </a:r>
            <a:endParaRPr lang="en-US" sz="950" dirty="0">
              <a:latin typeface="Times New Roman" panose="02020603050405020304" pitchFamily="18" charset="0"/>
              <a:cs typeface="Times New Roman" panose="02020603050405020304" pitchFamily="18" charset="0"/>
            </a:endParaRPr>
          </a:p>
          <a:p>
            <a:pPr marL="0" indent="0" algn="l">
              <a:spcAft>
                <a:spcPts val="1200"/>
              </a:spcAft>
              <a:buNone/>
            </a:pPr>
            <a:r>
              <a:rPr lang="en-US" sz="950" dirty="0">
                <a:solidFill>
                  <a:srgbClr val="262626"/>
                </a:solidFill>
                <a:latin typeface="Times New Roman" panose="02020603050405020304" pitchFamily="18" charset="0"/>
                <a:ea typeface="Calibri" pitchFamily="34" charset="-122"/>
                <a:cs typeface="Times New Roman" panose="02020603050405020304" pitchFamily="18" charset="0"/>
              </a:rPr>
              <a:t>3. Extract Frames</a:t>
            </a:r>
            <a:endParaRPr lang="en-US" sz="950" dirty="0">
              <a:latin typeface="Times New Roman" panose="02020603050405020304" pitchFamily="18" charset="0"/>
              <a:cs typeface="Times New Roman" panose="02020603050405020304" pitchFamily="18" charset="0"/>
            </a:endParaRPr>
          </a:p>
          <a:p>
            <a:pPr marL="0" indent="0" algn="l">
              <a:spcAft>
                <a:spcPts val="1200"/>
              </a:spcAft>
              <a:buNone/>
            </a:pPr>
            <a:r>
              <a:rPr lang="en-US" sz="950" dirty="0">
                <a:solidFill>
                  <a:srgbClr val="262626"/>
                </a:solidFill>
                <a:latin typeface="Times New Roman" panose="02020603050405020304" pitchFamily="18" charset="0"/>
                <a:ea typeface="Calibri" pitchFamily="34" charset="-122"/>
                <a:cs typeface="Times New Roman" panose="02020603050405020304" pitchFamily="18" charset="0"/>
              </a:rPr>
              <a:t>4. Annotate Frames</a:t>
            </a:r>
            <a:endParaRPr lang="en-US" sz="950" dirty="0">
              <a:latin typeface="Times New Roman" panose="02020603050405020304" pitchFamily="18" charset="0"/>
              <a:cs typeface="Times New Roman" panose="02020603050405020304" pitchFamily="18" charset="0"/>
            </a:endParaRPr>
          </a:p>
          <a:p>
            <a:pPr marL="0" indent="0" algn="l">
              <a:spcAft>
                <a:spcPts val="1200"/>
              </a:spcAft>
              <a:buNone/>
            </a:pPr>
            <a:r>
              <a:rPr lang="en-US" sz="950" dirty="0">
                <a:solidFill>
                  <a:srgbClr val="262626"/>
                </a:solidFill>
                <a:latin typeface="Times New Roman" panose="02020603050405020304" pitchFamily="18" charset="0"/>
                <a:ea typeface="Calibri" pitchFamily="34" charset="-122"/>
                <a:cs typeface="Times New Roman" panose="02020603050405020304" pitchFamily="18" charset="0"/>
              </a:rPr>
              <a:t>5. Save Annotations</a:t>
            </a:r>
            <a:endParaRPr lang="en-US" sz="950" dirty="0">
              <a:latin typeface="Times New Roman" panose="02020603050405020304" pitchFamily="18" charset="0"/>
              <a:cs typeface="Times New Roman" panose="02020603050405020304" pitchFamily="18" charset="0"/>
            </a:endParaRPr>
          </a:p>
          <a:p>
            <a:pPr marL="0" indent="0" algn="l">
              <a:spcAft>
                <a:spcPts val="1200"/>
              </a:spcAft>
              <a:buNone/>
            </a:pPr>
            <a:r>
              <a:rPr lang="en-US" sz="950" dirty="0">
                <a:solidFill>
                  <a:srgbClr val="262626"/>
                </a:solidFill>
                <a:latin typeface="Times New Roman" panose="02020603050405020304" pitchFamily="18" charset="0"/>
                <a:ea typeface="Calibri" pitchFamily="34" charset="-122"/>
                <a:cs typeface="Times New Roman" panose="02020603050405020304" pitchFamily="18" charset="0"/>
              </a:rPr>
              <a:t>Export</a:t>
            </a:r>
            <a:endParaRPr lang="en-US" sz="950" dirty="0">
              <a:latin typeface="Times New Roman" panose="02020603050405020304" pitchFamily="18" charset="0"/>
              <a:cs typeface="Times New Roman" panose="02020603050405020304" pitchFamily="18" charset="0"/>
            </a:endParaRPr>
          </a:p>
          <a:p>
            <a:pPr marL="0" indent="0" algn="l">
              <a:spcAft>
                <a:spcPts val="1200"/>
              </a:spcAft>
              <a:buNone/>
            </a:pPr>
            <a:r>
              <a:rPr lang="en-US" sz="950" dirty="0">
                <a:solidFill>
                  <a:srgbClr val="262626"/>
                </a:solidFill>
                <a:latin typeface="Times New Roman" panose="02020603050405020304" pitchFamily="18" charset="0"/>
                <a:ea typeface="Calibri" pitchFamily="34" charset="-122"/>
                <a:cs typeface="Times New Roman" panose="02020603050405020304" pitchFamily="18" charset="0"/>
              </a:rPr>
              <a:t>6. View / Download</a:t>
            </a:r>
            <a:endParaRPr lang="en-US" sz="950" dirty="0">
              <a:latin typeface="Times New Roman" panose="02020603050405020304" pitchFamily="18" charset="0"/>
              <a:cs typeface="Times New Roman" panose="02020603050405020304" pitchFamily="18" charset="0"/>
            </a:endParaRPr>
          </a:p>
          <a:p>
            <a:pPr marL="0" indent="0" algn="l">
              <a:spcAft>
                <a:spcPts val="1200"/>
              </a:spcAft>
              <a:buNone/>
            </a:pPr>
            <a:r>
              <a:rPr lang="en-US" sz="950" dirty="0">
                <a:solidFill>
                  <a:srgbClr val="262626"/>
                </a:solidFill>
                <a:latin typeface="Times New Roman" panose="02020603050405020304" pitchFamily="18" charset="0"/>
                <a:ea typeface="Calibri" pitchFamily="34" charset="-122"/>
                <a:cs typeface="Times New Roman" panose="02020603050405020304" pitchFamily="18" charset="0"/>
              </a:rPr>
              <a:t>Results</a:t>
            </a:r>
            <a:endParaRPr lang="en-US" sz="950" dirty="0">
              <a:latin typeface="Times New Roman" panose="02020603050405020304" pitchFamily="18" charset="0"/>
              <a:cs typeface="Times New Roman" panose="02020603050405020304" pitchFamily="18" charset="0"/>
            </a:endParaRPr>
          </a:p>
        </p:txBody>
      </p:sp>
      <p:sp>
        <p:nvSpPr>
          <p:cNvPr id="8" name="Text 5"/>
          <p:cNvSpPr/>
          <p:nvPr/>
        </p:nvSpPr>
        <p:spPr>
          <a:xfrm>
            <a:off x="1554480" y="2793492"/>
            <a:ext cx="320040" cy="365760"/>
          </a:xfrm>
          <a:prstGeom prst="rect">
            <a:avLst/>
          </a:prstGeom>
          <a:noFill/>
          <a:ln/>
        </p:spPr>
        <p:txBody>
          <a:bodyPr wrap="square" lIns="0" tIns="0" rIns="0" bIns="0" rtlCol="0" anchor="ctr"/>
          <a:lstStyle/>
          <a:p>
            <a:pPr marL="0" indent="0" algn="ctr">
              <a:buNone/>
            </a:pPr>
            <a:r>
              <a:rPr lang="en-US" sz="1800" b="1" dirty="0">
                <a:solidFill>
                  <a:srgbClr val="595959"/>
                </a:solidFill>
                <a:latin typeface="Calibri" pitchFamily="34" charset="0"/>
                <a:ea typeface="Calibri" pitchFamily="34" charset="-122"/>
                <a:cs typeface="Calibri" pitchFamily="34" charset="-120"/>
              </a:rPr>
              <a:t>→</a:t>
            </a:r>
            <a:endParaRPr lang="en-US" sz="1800" dirty="0"/>
          </a:p>
        </p:txBody>
      </p:sp>
      <p:sp>
        <p:nvSpPr>
          <p:cNvPr id="9" name="Shape 6"/>
          <p:cNvSpPr/>
          <p:nvPr/>
        </p:nvSpPr>
        <p:spPr>
          <a:xfrm>
            <a:off x="1965960" y="896112"/>
            <a:ext cx="7818120" cy="4160520"/>
          </a:xfrm>
          <a:prstGeom prst="roundRect">
            <a:avLst>
              <a:gd name="adj" fmla="val 1758"/>
            </a:avLst>
          </a:prstGeom>
          <a:solidFill>
            <a:srgbClr val="FFFFFF"/>
          </a:solidFill>
          <a:ln w="19050">
            <a:solidFill>
              <a:srgbClr val="2E75B6"/>
            </a:solidFill>
            <a:prstDash val="solid"/>
          </a:ln>
          <a:effectLst>
            <a:outerShdw blurRad="38100" dist="25400" dir="5400000" algn="bl" rotWithShape="0">
              <a:srgbClr val="808080">
                <a:alpha val="20000"/>
              </a:srgbClr>
            </a:outerShdw>
          </a:effectLst>
        </p:spPr>
      </p:sp>
      <p:sp>
        <p:nvSpPr>
          <p:cNvPr id="10" name="Text 7"/>
          <p:cNvSpPr/>
          <p:nvPr/>
        </p:nvSpPr>
        <p:spPr>
          <a:xfrm>
            <a:off x="1965960" y="987552"/>
            <a:ext cx="7818120" cy="320040"/>
          </a:xfrm>
          <a:prstGeom prst="rect">
            <a:avLst/>
          </a:prstGeom>
          <a:noFill/>
          <a:ln/>
        </p:spPr>
        <p:txBody>
          <a:bodyPr wrap="square" lIns="0" tIns="0" rIns="0" bIns="0" rtlCol="0" anchor="ctr"/>
          <a:lstStyle/>
          <a:p>
            <a:pPr marL="0" indent="0" algn="ctr">
              <a:buNone/>
            </a:pPr>
            <a:r>
              <a:rPr lang="en-US" sz="1400" b="1" dirty="0">
                <a:solidFill>
                  <a:srgbClr val="262626"/>
                </a:solidFill>
                <a:latin typeface="Times New Roman" panose="02020603050405020304" pitchFamily="18" charset="0"/>
                <a:ea typeface="Calibri" pitchFamily="34" charset="-122"/>
                <a:cs typeface="Times New Roman" panose="02020603050405020304" pitchFamily="18" charset="0"/>
              </a:rPr>
              <a:t>Application Layer</a:t>
            </a:r>
            <a:endParaRPr lang="en-US" sz="1400" dirty="0">
              <a:latin typeface="Times New Roman" panose="02020603050405020304" pitchFamily="18" charset="0"/>
              <a:cs typeface="Times New Roman" panose="02020603050405020304" pitchFamily="18" charset="0"/>
            </a:endParaRPr>
          </a:p>
        </p:txBody>
      </p:sp>
      <p:sp>
        <p:nvSpPr>
          <p:cNvPr id="11" name="Shape 8"/>
          <p:cNvSpPr/>
          <p:nvPr/>
        </p:nvSpPr>
        <p:spPr>
          <a:xfrm>
            <a:off x="2075688" y="1399032"/>
            <a:ext cx="1417320" cy="2606040"/>
          </a:xfrm>
          <a:prstGeom prst="roundRect">
            <a:avLst>
              <a:gd name="adj" fmla="val 3226"/>
            </a:avLst>
          </a:prstGeom>
          <a:solidFill>
            <a:srgbClr val="FFFFFF"/>
          </a:solidFill>
          <a:ln w="15875">
            <a:solidFill>
              <a:srgbClr val="2E75B6"/>
            </a:solidFill>
            <a:prstDash val="solid"/>
          </a:ln>
        </p:spPr>
      </p:sp>
      <p:sp>
        <p:nvSpPr>
          <p:cNvPr id="12" name="Shape 9"/>
          <p:cNvSpPr/>
          <p:nvPr/>
        </p:nvSpPr>
        <p:spPr>
          <a:xfrm>
            <a:off x="2075688" y="1399032"/>
            <a:ext cx="1417320" cy="457200"/>
          </a:xfrm>
          <a:prstGeom prst="roundRect">
            <a:avLst>
              <a:gd name="adj" fmla="val 10000"/>
            </a:avLst>
          </a:prstGeom>
          <a:solidFill>
            <a:srgbClr val="2E75B6"/>
          </a:solidFill>
          <a:ln/>
        </p:spPr>
      </p:sp>
      <p:sp>
        <p:nvSpPr>
          <p:cNvPr id="13" name="Shape 10"/>
          <p:cNvSpPr/>
          <p:nvPr/>
        </p:nvSpPr>
        <p:spPr>
          <a:xfrm>
            <a:off x="2075688" y="1627632"/>
            <a:ext cx="1417320" cy="228600"/>
          </a:xfrm>
          <a:prstGeom prst="rect">
            <a:avLst/>
          </a:prstGeom>
          <a:solidFill>
            <a:srgbClr val="2E75B6"/>
          </a:solidFill>
          <a:ln/>
        </p:spPr>
      </p:sp>
      <p:sp>
        <p:nvSpPr>
          <p:cNvPr id="14" name="Text 11"/>
          <p:cNvSpPr/>
          <p:nvPr/>
        </p:nvSpPr>
        <p:spPr>
          <a:xfrm>
            <a:off x="2112264" y="1399032"/>
            <a:ext cx="1344168"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anose="02020603050405020304" pitchFamily="18" charset="0"/>
                <a:ea typeface="Calibri" pitchFamily="34" charset="-122"/>
                <a:cs typeface="Times New Roman" panose="02020603050405020304" pitchFamily="18" charset="0"/>
              </a:rPr>
              <a:t>1. Input &amp; Video</a:t>
            </a:r>
            <a:endParaRPr lang="en-US" sz="900" dirty="0">
              <a:latin typeface="Times New Roman" panose="02020603050405020304" pitchFamily="18" charset="0"/>
              <a:cs typeface="Times New Roman" panose="02020603050405020304" pitchFamily="18" charset="0"/>
            </a:endParaRPr>
          </a:p>
          <a:p>
            <a:pPr marL="0" indent="0" algn="ctr">
              <a:buNone/>
            </a:pPr>
            <a:r>
              <a:rPr lang="en-US" sz="900" b="1" dirty="0">
                <a:solidFill>
                  <a:srgbClr val="FFFFFF"/>
                </a:solidFill>
                <a:latin typeface="Times New Roman" panose="02020603050405020304" pitchFamily="18" charset="0"/>
                <a:ea typeface="Calibri" pitchFamily="34" charset="-122"/>
                <a:cs typeface="Times New Roman" panose="02020603050405020304" pitchFamily="18" charset="0"/>
              </a:rPr>
              <a:t>Handler</a:t>
            </a:r>
            <a:endParaRPr lang="en-US" sz="900" dirty="0">
              <a:latin typeface="Times New Roman" panose="02020603050405020304" pitchFamily="18" charset="0"/>
              <a:cs typeface="Times New Roman" panose="02020603050405020304" pitchFamily="18" charset="0"/>
            </a:endParaRPr>
          </a:p>
        </p:txBody>
      </p:sp>
      <p:pic>
        <p:nvPicPr>
          <p:cNvPr id="15" name="Image 1" descr="/home/claude/pptx_work/v_film.png"/>
          <p:cNvPicPr>
            <a:picLocks noChangeAspect="1"/>
          </p:cNvPicPr>
          <p:nvPr/>
        </p:nvPicPr>
        <p:blipFill>
          <a:blip r:embed="rId4"/>
          <a:stretch>
            <a:fillRect/>
          </a:stretch>
        </p:blipFill>
        <p:spPr>
          <a:xfrm>
            <a:off x="2510028" y="1965960"/>
            <a:ext cx="548640" cy="548640"/>
          </a:xfrm>
          <a:prstGeom prst="rect">
            <a:avLst/>
          </a:prstGeom>
        </p:spPr>
      </p:pic>
      <p:sp>
        <p:nvSpPr>
          <p:cNvPr id="16" name="Text 12"/>
          <p:cNvSpPr/>
          <p:nvPr/>
        </p:nvSpPr>
        <p:spPr>
          <a:xfrm>
            <a:off x="2167128" y="2587752"/>
            <a:ext cx="1234440" cy="1325880"/>
          </a:xfrm>
          <a:prstGeom prst="rect">
            <a:avLst/>
          </a:prstGeom>
          <a:noFill/>
          <a:ln/>
        </p:spPr>
        <p:txBody>
          <a:bodyPr wrap="square" lIns="0" tIns="0" rIns="0" bIns="0" rtlCol="0" anchor="t"/>
          <a:lstStyle/>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Validate video file</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Read metadata</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(duration, fps, size)</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Extract video info</a:t>
            </a:r>
            <a:endParaRPr lang="en-US" sz="800" dirty="0">
              <a:latin typeface="Times New Roman" panose="02020603050405020304" pitchFamily="18" charset="0"/>
              <a:cs typeface="Times New Roman" panose="02020603050405020304" pitchFamily="18" charset="0"/>
            </a:endParaRPr>
          </a:p>
        </p:txBody>
      </p:sp>
      <p:sp>
        <p:nvSpPr>
          <p:cNvPr id="17" name="Text 13"/>
          <p:cNvSpPr/>
          <p:nvPr/>
        </p:nvSpPr>
        <p:spPr>
          <a:xfrm>
            <a:off x="3497580" y="2313432"/>
            <a:ext cx="73152" cy="274320"/>
          </a:xfrm>
          <a:prstGeom prst="rect">
            <a:avLst/>
          </a:prstGeom>
          <a:noFill/>
          <a:ln/>
        </p:spPr>
        <p:txBody>
          <a:bodyPr wrap="square" lIns="0" tIns="0" rIns="0" bIns="0" rtlCol="0" anchor="ctr"/>
          <a:lstStyle/>
          <a:p>
            <a:pPr marL="0" indent="0" algn="ctr">
              <a:buNone/>
            </a:pPr>
            <a:r>
              <a:rPr lang="en-US" sz="1200" b="1" dirty="0">
                <a:solidFill>
                  <a:srgbClr val="595959"/>
                </a:solidFill>
                <a:latin typeface="Calibri" pitchFamily="34" charset="0"/>
                <a:ea typeface="Calibri" pitchFamily="34" charset="-122"/>
                <a:cs typeface="Calibri" pitchFamily="34" charset="-120"/>
              </a:rPr>
              <a:t>→</a:t>
            </a:r>
            <a:endParaRPr lang="en-US" sz="1200" dirty="0"/>
          </a:p>
        </p:txBody>
      </p:sp>
      <p:sp>
        <p:nvSpPr>
          <p:cNvPr id="18" name="Shape 14"/>
          <p:cNvSpPr/>
          <p:nvPr/>
        </p:nvSpPr>
        <p:spPr>
          <a:xfrm>
            <a:off x="3575304" y="1399032"/>
            <a:ext cx="1417320" cy="2606040"/>
          </a:xfrm>
          <a:prstGeom prst="roundRect">
            <a:avLst>
              <a:gd name="adj" fmla="val 3226"/>
            </a:avLst>
          </a:prstGeom>
          <a:solidFill>
            <a:srgbClr val="FFFFFF"/>
          </a:solidFill>
          <a:ln w="15875">
            <a:solidFill>
              <a:srgbClr val="BF8F00"/>
            </a:solidFill>
            <a:prstDash val="solid"/>
          </a:ln>
        </p:spPr>
      </p:sp>
      <p:sp>
        <p:nvSpPr>
          <p:cNvPr id="19" name="Shape 15"/>
          <p:cNvSpPr/>
          <p:nvPr/>
        </p:nvSpPr>
        <p:spPr>
          <a:xfrm>
            <a:off x="3575304" y="1399032"/>
            <a:ext cx="1417320" cy="457200"/>
          </a:xfrm>
          <a:prstGeom prst="roundRect">
            <a:avLst>
              <a:gd name="adj" fmla="val 10000"/>
            </a:avLst>
          </a:prstGeom>
          <a:solidFill>
            <a:srgbClr val="BF8F00"/>
          </a:solidFill>
          <a:ln/>
        </p:spPr>
      </p:sp>
      <p:sp>
        <p:nvSpPr>
          <p:cNvPr id="20" name="Shape 16"/>
          <p:cNvSpPr/>
          <p:nvPr/>
        </p:nvSpPr>
        <p:spPr>
          <a:xfrm>
            <a:off x="3575304" y="1627632"/>
            <a:ext cx="1417320" cy="228600"/>
          </a:xfrm>
          <a:prstGeom prst="rect">
            <a:avLst/>
          </a:prstGeom>
          <a:solidFill>
            <a:srgbClr val="BF8F00"/>
          </a:solidFill>
          <a:ln/>
        </p:spPr>
      </p:sp>
      <p:sp>
        <p:nvSpPr>
          <p:cNvPr id="21" name="Text 17"/>
          <p:cNvSpPr/>
          <p:nvPr/>
        </p:nvSpPr>
        <p:spPr>
          <a:xfrm>
            <a:off x="3611880" y="1399032"/>
            <a:ext cx="1344168"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anose="02020603050405020304" pitchFamily="18" charset="0"/>
                <a:ea typeface="Calibri" pitchFamily="34" charset="-122"/>
                <a:cs typeface="Times New Roman" panose="02020603050405020304" pitchFamily="18" charset="0"/>
              </a:rPr>
              <a:t>2. Frame Extraction</a:t>
            </a:r>
            <a:endParaRPr lang="en-US" sz="900" dirty="0">
              <a:latin typeface="Times New Roman" panose="02020603050405020304" pitchFamily="18" charset="0"/>
              <a:cs typeface="Times New Roman" panose="02020603050405020304" pitchFamily="18" charset="0"/>
            </a:endParaRPr>
          </a:p>
          <a:p>
            <a:pPr marL="0" indent="0" algn="ctr">
              <a:buNone/>
            </a:pPr>
            <a:r>
              <a:rPr lang="en-US" sz="900" b="1" dirty="0">
                <a:solidFill>
                  <a:srgbClr val="FFFFFF"/>
                </a:solidFill>
                <a:latin typeface="Times New Roman" panose="02020603050405020304" pitchFamily="18" charset="0"/>
                <a:ea typeface="Calibri" pitchFamily="34" charset="-122"/>
                <a:cs typeface="Times New Roman" panose="02020603050405020304" pitchFamily="18" charset="0"/>
              </a:rPr>
              <a:t>Module</a:t>
            </a:r>
            <a:endParaRPr lang="en-US" sz="900" dirty="0">
              <a:latin typeface="Times New Roman" panose="02020603050405020304" pitchFamily="18" charset="0"/>
              <a:cs typeface="Times New Roman" panose="02020603050405020304" pitchFamily="18" charset="0"/>
            </a:endParaRPr>
          </a:p>
        </p:txBody>
      </p:sp>
      <p:pic>
        <p:nvPicPr>
          <p:cNvPr id="22" name="Image 2" descr="/home/claude/pptx_work/v_images.png"/>
          <p:cNvPicPr>
            <a:picLocks noChangeAspect="1"/>
          </p:cNvPicPr>
          <p:nvPr/>
        </p:nvPicPr>
        <p:blipFill>
          <a:blip r:embed="rId5"/>
          <a:stretch>
            <a:fillRect/>
          </a:stretch>
        </p:blipFill>
        <p:spPr>
          <a:xfrm>
            <a:off x="4009644" y="1965960"/>
            <a:ext cx="548640" cy="548640"/>
          </a:xfrm>
          <a:prstGeom prst="rect">
            <a:avLst/>
          </a:prstGeom>
        </p:spPr>
      </p:pic>
      <p:sp>
        <p:nvSpPr>
          <p:cNvPr id="23" name="Text 18"/>
          <p:cNvSpPr/>
          <p:nvPr/>
        </p:nvSpPr>
        <p:spPr>
          <a:xfrm>
            <a:off x="3666744" y="2587752"/>
            <a:ext cx="1234440" cy="1325880"/>
          </a:xfrm>
          <a:prstGeom prst="rect">
            <a:avLst/>
          </a:prstGeom>
          <a:noFill/>
          <a:ln/>
        </p:spPr>
        <p:txBody>
          <a:bodyPr wrap="square" lIns="0" tIns="0" rIns="0" bIns="0" rtlCol="0" anchor="t"/>
          <a:lstStyle/>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Set frame rate / interval</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Extract frames using</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OpenCV (VideoCapture)</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Save frames to temp</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folder</a:t>
            </a:r>
            <a:endParaRPr lang="en-US" sz="800" dirty="0">
              <a:latin typeface="Times New Roman" panose="02020603050405020304" pitchFamily="18" charset="0"/>
              <a:cs typeface="Times New Roman" panose="02020603050405020304" pitchFamily="18" charset="0"/>
            </a:endParaRPr>
          </a:p>
        </p:txBody>
      </p:sp>
      <p:sp>
        <p:nvSpPr>
          <p:cNvPr id="24" name="Text 19"/>
          <p:cNvSpPr/>
          <p:nvPr/>
        </p:nvSpPr>
        <p:spPr>
          <a:xfrm>
            <a:off x="4997196" y="2313432"/>
            <a:ext cx="73152" cy="274320"/>
          </a:xfrm>
          <a:prstGeom prst="rect">
            <a:avLst/>
          </a:prstGeom>
          <a:noFill/>
          <a:ln/>
        </p:spPr>
        <p:txBody>
          <a:bodyPr wrap="square" lIns="0" tIns="0" rIns="0" bIns="0" rtlCol="0" anchor="ctr"/>
          <a:lstStyle/>
          <a:p>
            <a:pPr marL="0" indent="0" algn="ctr">
              <a:buNone/>
            </a:pPr>
            <a:r>
              <a:rPr lang="en-US" sz="1200" b="1" dirty="0">
                <a:solidFill>
                  <a:srgbClr val="595959"/>
                </a:solidFill>
                <a:latin typeface="Calibri" pitchFamily="34" charset="0"/>
                <a:ea typeface="Calibri" pitchFamily="34" charset="-122"/>
                <a:cs typeface="Calibri" pitchFamily="34" charset="-120"/>
              </a:rPr>
              <a:t>→</a:t>
            </a:r>
            <a:endParaRPr lang="en-US" sz="1200" dirty="0"/>
          </a:p>
        </p:txBody>
      </p:sp>
      <p:sp>
        <p:nvSpPr>
          <p:cNvPr id="25" name="Shape 20"/>
          <p:cNvSpPr/>
          <p:nvPr/>
        </p:nvSpPr>
        <p:spPr>
          <a:xfrm>
            <a:off x="5074920" y="1399032"/>
            <a:ext cx="1417320" cy="2606040"/>
          </a:xfrm>
          <a:prstGeom prst="roundRect">
            <a:avLst>
              <a:gd name="adj" fmla="val 3226"/>
            </a:avLst>
          </a:prstGeom>
          <a:solidFill>
            <a:srgbClr val="FFFFFF"/>
          </a:solidFill>
          <a:ln w="15875">
            <a:solidFill>
              <a:srgbClr val="2E7D32"/>
            </a:solidFill>
            <a:prstDash val="solid"/>
          </a:ln>
        </p:spPr>
      </p:sp>
      <p:sp>
        <p:nvSpPr>
          <p:cNvPr id="26" name="Shape 21"/>
          <p:cNvSpPr/>
          <p:nvPr/>
        </p:nvSpPr>
        <p:spPr>
          <a:xfrm>
            <a:off x="5074920" y="1399032"/>
            <a:ext cx="1417320" cy="457200"/>
          </a:xfrm>
          <a:prstGeom prst="roundRect">
            <a:avLst>
              <a:gd name="adj" fmla="val 10000"/>
            </a:avLst>
          </a:prstGeom>
          <a:solidFill>
            <a:srgbClr val="2E7D32"/>
          </a:solidFill>
          <a:ln/>
        </p:spPr>
      </p:sp>
      <p:sp>
        <p:nvSpPr>
          <p:cNvPr id="27" name="Shape 22"/>
          <p:cNvSpPr/>
          <p:nvPr/>
        </p:nvSpPr>
        <p:spPr>
          <a:xfrm>
            <a:off x="5074920" y="1627632"/>
            <a:ext cx="1417320" cy="228600"/>
          </a:xfrm>
          <a:prstGeom prst="rect">
            <a:avLst/>
          </a:prstGeom>
          <a:solidFill>
            <a:srgbClr val="2E7D32"/>
          </a:solidFill>
          <a:ln/>
        </p:spPr>
      </p:sp>
      <p:sp>
        <p:nvSpPr>
          <p:cNvPr id="28" name="Text 23"/>
          <p:cNvSpPr/>
          <p:nvPr/>
        </p:nvSpPr>
        <p:spPr>
          <a:xfrm>
            <a:off x="5111496" y="1399032"/>
            <a:ext cx="1344168"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anose="02020603050405020304" pitchFamily="18" charset="0"/>
                <a:ea typeface="Calibri" pitchFamily="34" charset="-122"/>
                <a:cs typeface="Times New Roman" panose="02020603050405020304" pitchFamily="18" charset="0"/>
              </a:rPr>
              <a:t>3. Frame Management</a:t>
            </a:r>
            <a:endParaRPr lang="en-US" sz="900" dirty="0">
              <a:latin typeface="Times New Roman" panose="02020603050405020304" pitchFamily="18" charset="0"/>
              <a:cs typeface="Times New Roman" panose="02020603050405020304" pitchFamily="18" charset="0"/>
            </a:endParaRPr>
          </a:p>
          <a:p>
            <a:pPr marL="0" indent="0" algn="ctr">
              <a:buNone/>
            </a:pPr>
            <a:r>
              <a:rPr lang="en-US" sz="900" b="1" dirty="0">
                <a:solidFill>
                  <a:srgbClr val="FFFFFF"/>
                </a:solidFill>
                <a:latin typeface="Times New Roman" panose="02020603050405020304" pitchFamily="18" charset="0"/>
                <a:ea typeface="Calibri" pitchFamily="34" charset="-122"/>
                <a:cs typeface="Times New Roman" panose="02020603050405020304" pitchFamily="18" charset="0"/>
              </a:rPr>
              <a:t>Module</a:t>
            </a:r>
            <a:endParaRPr lang="en-US" sz="900" dirty="0">
              <a:latin typeface="Times New Roman" panose="02020603050405020304" pitchFamily="18" charset="0"/>
              <a:cs typeface="Times New Roman" panose="02020603050405020304" pitchFamily="18" charset="0"/>
            </a:endParaRPr>
          </a:p>
        </p:txBody>
      </p:sp>
      <p:pic>
        <p:nvPicPr>
          <p:cNvPr id="29" name="Image 3" descr="/home/claude/pptx_work/v_grid.png"/>
          <p:cNvPicPr>
            <a:picLocks noChangeAspect="1"/>
          </p:cNvPicPr>
          <p:nvPr/>
        </p:nvPicPr>
        <p:blipFill>
          <a:blip r:embed="rId6"/>
          <a:stretch>
            <a:fillRect/>
          </a:stretch>
        </p:blipFill>
        <p:spPr>
          <a:xfrm>
            <a:off x="5509260" y="1965960"/>
            <a:ext cx="548640" cy="548640"/>
          </a:xfrm>
          <a:prstGeom prst="rect">
            <a:avLst/>
          </a:prstGeom>
        </p:spPr>
      </p:pic>
      <p:sp>
        <p:nvSpPr>
          <p:cNvPr id="30" name="Text 24"/>
          <p:cNvSpPr/>
          <p:nvPr/>
        </p:nvSpPr>
        <p:spPr>
          <a:xfrm>
            <a:off x="5166360" y="2587752"/>
            <a:ext cx="1234440" cy="1325880"/>
          </a:xfrm>
          <a:prstGeom prst="rect">
            <a:avLst/>
          </a:prstGeom>
          <a:noFill/>
          <a:ln/>
        </p:spPr>
        <p:txBody>
          <a:bodyPr wrap="square" lIns="0" tIns="0" rIns="0" bIns="0" rtlCol="0" anchor="t"/>
          <a:lstStyle/>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List / paginate frames</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Filter / search frames</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Navigate (prev/next/go to)</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Select frames for</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annotation</a:t>
            </a:r>
            <a:endParaRPr lang="en-US" sz="800" dirty="0">
              <a:latin typeface="Times New Roman" panose="02020603050405020304" pitchFamily="18" charset="0"/>
              <a:cs typeface="Times New Roman" panose="02020603050405020304" pitchFamily="18" charset="0"/>
            </a:endParaRPr>
          </a:p>
        </p:txBody>
      </p:sp>
      <p:sp>
        <p:nvSpPr>
          <p:cNvPr id="31" name="Text 25"/>
          <p:cNvSpPr/>
          <p:nvPr/>
        </p:nvSpPr>
        <p:spPr>
          <a:xfrm>
            <a:off x="6496812" y="2313432"/>
            <a:ext cx="73152" cy="274320"/>
          </a:xfrm>
          <a:prstGeom prst="rect">
            <a:avLst/>
          </a:prstGeom>
          <a:noFill/>
          <a:ln/>
        </p:spPr>
        <p:txBody>
          <a:bodyPr wrap="square" lIns="0" tIns="0" rIns="0" bIns="0" rtlCol="0" anchor="ctr"/>
          <a:lstStyle/>
          <a:p>
            <a:pPr marL="0" indent="0" algn="ctr">
              <a:buNone/>
            </a:pPr>
            <a:r>
              <a:rPr lang="en-US" sz="1200" b="1" dirty="0">
                <a:solidFill>
                  <a:srgbClr val="595959"/>
                </a:solidFill>
                <a:latin typeface="Calibri" pitchFamily="34" charset="0"/>
                <a:ea typeface="Calibri" pitchFamily="34" charset="-122"/>
                <a:cs typeface="Calibri" pitchFamily="34" charset="-120"/>
              </a:rPr>
              <a:t>→</a:t>
            </a:r>
            <a:endParaRPr lang="en-US" sz="1200" dirty="0"/>
          </a:p>
        </p:txBody>
      </p:sp>
      <p:sp>
        <p:nvSpPr>
          <p:cNvPr id="32" name="Shape 26"/>
          <p:cNvSpPr/>
          <p:nvPr/>
        </p:nvSpPr>
        <p:spPr>
          <a:xfrm>
            <a:off x="6574536" y="1399032"/>
            <a:ext cx="1417320" cy="2606040"/>
          </a:xfrm>
          <a:prstGeom prst="roundRect">
            <a:avLst>
              <a:gd name="adj" fmla="val 3226"/>
            </a:avLst>
          </a:prstGeom>
          <a:solidFill>
            <a:srgbClr val="FFFFFF"/>
          </a:solidFill>
          <a:ln w="15875">
            <a:solidFill>
              <a:srgbClr val="6A3D9A"/>
            </a:solidFill>
            <a:prstDash val="solid"/>
          </a:ln>
        </p:spPr>
      </p:sp>
      <p:sp>
        <p:nvSpPr>
          <p:cNvPr id="33" name="Shape 27"/>
          <p:cNvSpPr/>
          <p:nvPr/>
        </p:nvSpPr>
        <p:spPr>
          <a:xfrm>
            <a:off x="6574536" y="1399032"/>
            <a:ext cx="1417320" cy="457200"/>
          </a:xfrm>
          <a:prstGeom prst="roundRect">
            <a:avLst>
              <a:gd name="adj" fmla="val 10000"/>
            </a:avLst>
          </a:prstGeom>
          <a:solidFill>
            <a:srgbClr val="6A3D9A"/>
          </a:solidFill>
          <a:ln/>
        </p:spPr>
      </p:sp>
      <p:sp>
        <p:nvSpPr>
          <p:cNvPr id="34" name="Shape 28"/>
          <p:cNvSpPr/>
          <p:nvPr/>
        </p:nvSpPr>
        <p:spPr>
          <a:xfrm>
            <a:off x="6574536" y="1627632"/>
            <a:ext cx="1417320" cy="228600"/>
          </a:xfrm>
          <a:prstGeom prst="rect">
            <a:avLst/>
          </a:prstGeom>
          <a:solidFill>
            <a:srgbClr val="6A3D9A"/>
          </a:solidFill>
          <a:ln/>
        </p:spPr>
      </p:sp>
      <p:sp>
        <p:nvSpPr>
          <p:cNvPr id="35" name="Text 29"/>
          <p:cNvSpPr/>
          <p:nvPr/>
        </p:nvSpPr>
        <p:spPr>
          <a:xfrm>
            <a:off x="6611112" y="1399032"/>
            <a:ext cx="1344168"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anose="02020603050405020304" pitchFamily="18" charset="0"/>
                <a:ea typeface="Calibri" pitchFamily="34" charset="-122"/>
                <a:cs typeface="Times New Roman" panose="02020603050405020304" pitchFamily="18" charset="0"/>
              </a:rPr>
              <a:t>4. Annotation</a:t>
            </a:r>
            <a:endParaRPr lang="en-US" sz="900" dirty="0">
              <a:latin typeface="Times New Roman" panose="02020603050405020304" pitchFamily="18" charset="0"/>
              <a:cs typeface="Times New Roman" panose="02020603050405020304" pitchFamily="18" charset="0"/>
            </a:endParaRPr>
          </a:p>
          <a:p>
            <a:pPr marL="0" indent="0" algn="ctr">
              <a:buNone/>
            </a:pPr>
            <a:r>
              <a:rPr lang="en-US" sz="900" b="1" dirty="0">
                <a:solidFill>
                  <a:srgbClr val="FFFFFF"/>
                </a:solidFill>
                <a:latin typeface="Times New Roman" panose="02020603050405020304" pitchFamily="18" charset="0"/>
                <a:ea typeface="Calibri" pitchFamily="34" charset="-122"/>
                <a:cs typeface="Times New Roman" panose="02020603050405020304" pitchFamily="18" charset="0"/>
              </a:rPr>
              <a:t>Module</a:t>
            </a:r>
            <a:endParaRPr lang="en-US" sz="900" dirty="0">
              <a:latin typeface="Times New Roman" panose="02020603050405020304" pitchFamily="18" charset="0"/>
              <a:cs typeface="Times New Roman" panose="02020603050405020304" pitchFamily="18" charset="0"/>
            </a:endParaRPr>
          </a:p>
        </p:txBody>
      </p:sp>
      <p:pic>
        <p:nvPicPr>
          <p:cNvPr id="36" name="Image 4" descr="/home/claude/pptx_work/v_pencil.png"/>
          <p:cNvPicPr>
            <a:picLocks noChangeAspect="1"/>
          </p:cNvPicPr>
          <p:nvPr/>
        </p:nvPicPr>
        <p:blipFill>
          <a:blip r:embed="rId7"/>
          <a:stretch>
            <a:fillRect/>
          </a:stretch>
        </p:blipFill>
        <p:spPr>
          <a:xfrm>
            <a:off x="7008876" y="1965960"/>
            <a:ext cx="548640" cy="548640"/>
          </a:xfrm>
          <a:prstGeom prst="rect">
            <a:avLst/>
          </a:prstGeom>
        </p:spPr>
      </p:pic>
      <p:sp>
        <p:nvSpPr>
          <p:cNvPr id="37" name="Text 30"/>
          <p:cNvSpPr/>
          <p:nvPr/>
        </p:nvSpPr>
        <p:spPr>
          <a:xfrm>
            <a:off x="6665976" y="2587752"/>
            <a:ext cx="1234440" cy="1325880"/>
          </a:xfrm>
          <a:prstGeom prst="rect">
            <a:avLst/>
          </a:prstGeom>
          <a:noFill/>
          <a:ln/>
        </p:spPr>
        <p:txBody>
          <a:bodyPr wrap="square" lIns="0" tIns="0" rIns="0" bIns="0" rtlCol="0" anchor="t"/>
          <a:lstStyle/>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Draw bounding boxes,</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polygons, points</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Add labels / classes</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Edit / delete annotations</a:t>
            </a:r>
            <a:endParaRPr lang="en-US" sz="80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Track objects (optional)</a:t>
            </a:r>
            <a:endParaRPr lang="en-US" sz="800" dirty="0">
              <a:latin typeface="Times New Roman" panose="02020603050405020304" pitchFamily="18" charset="0"/>
              <a:cs typeface="Times New Roman" panose="02020603050405020304" pitchFamily="18" charset="0"/>
            </a:endParaRPr>
          </a:p>
        </p:txBody>
      </p:sp>
      <p:sp>
        <p:nvSpPr>
          <p:cNvPr id="38" name="Text 31"/>
          <p:cNvSpPr/>
          <p:nvPr/>
        </p:nvSpPr>
        <p:spPr>
          <a:xfrm>
            <a:off x="7996428" y="2313432"/>
            <a:ext cx="73152" cy="274320"/>
          </a:xfrm>
          <a:prstGeom prst="rect">
            <a:avLst/>
          </a:prstGeom>
          <a:noFill/>
          <a:ln/>
        </p:spPr>
        <p:txBody>
          <a:bodyPr wrap="square" lIns="0" tIns="0" rIns="0" bIns="0" rtlCol="0" anchor="ctr"/>
          <a:lstStyle/>
          <a:p>
            <a:pPr marL="0" indent="0" algn="ctr">
              <a:buNone/>
            </a:pPr>
            <a:r>
              <a:rPr lang="en-US" sz="1200" b="1" dirty="0">
                <a:solidFill>
                  <a:srgbClr val="595959"/>
                </a:solidFill>
                <a:latin typeface="Calibri" pitchFamily="34" charset="0"/>
                <a:ea typeface="Calibri" pitchFamily="34" charset="-122"/>
                <a:cs typeface="Calibri" pitchFamily="34" charset="-120"/>
              </a:rPr>
              <a:t>→</a:t>
            </a:r>
            <a:endParaRPr lang="en-US" sz="1200" dirty="0"/>
          </a:p>
        </p:txBody>
      </p:sp>
      <p:sp>
        <p:nvSpPr>
          <p:cNvPr id="39" name="Shape 32"/>
          <p:cNvSpPr/>
          <p:nvPr/>
        </p:nvSpPr>
        <p:spPr>
          <a:xfrm>
            <a:off x="8074152" y="1399032"/>
            <a:ext cx="1417320" cy="2606040"/>
          </a:xfrm>
          <a:prstGeom prst="roundRect">
            <a:avLst>
              <a:gd name="adj" fmla="val 3226"/>
            </a:avLst>
          </a:prstGeom>
          <a:solidFill>
            <a:srgbClr val="FFFFFF"/>
          </a:solidFill>
          <a:ln w="15875">
            <a:solidFill>
              <a:srgbClr val="C0392B"/>
            </a:solidFill>
            <a:prstDash val="solid"/>
          </a:ln>
        </p:spPr>
      </p:sp>
      <p:sp>
        <p:nvSpPr>
          <p:cNvPr id="40" name="Shape 33"/>
          <p:cNvSpPr/>
          <p:nvPr/>
        </p:nvSpPr>
        <p:spPr>
          <a:xfrm>
            <a:off x="8074152" y="1399032"/>
            <a:ext cx="1417320" cy="457200"/>
          </a:xfrm>
          <a:prstGeom prst="roundRect">
            <a:avLst>
              <a:gd name="adj" fmla="val 10000"/>
            </a:avLst>
          </a:prstGeom>
          <a:solidFill>
            <a:srgbClr val="C0392B"/>
          </a:solidFill>
          <a:ln/>
        </p:spPr>
      </p:sp>
      <p:sp>
        <p:nvSpPr>
          <p:cNvPr id="41" name="Shape 34"/>
          <p:cNvSpPr/>
          <p:nvPr/>
        </p:nvSpPr>
        <p:spPr>
          <a:xfrm>
            <a:off x="8074152" y="1627632"/>
            <a:ext cx="1417320" cy="228600"/>
          </a:xfrm>
          <a:prstGeom prst="rect">
            <a:avLst/>
          </a:prstGeom>
          <a:solidFill>
            <a:srgbClr val="C0392B"/>
          </a:solidFill>
          <a:ln/>
        </p:spPr>
      </p:sp>
      <p:sp>
        <p:nvSpPr>
          <p:cNvPr id="42" name="Text 35"/>
          <p:cNvSpPr/>
          <p:nvPr/>
        </p:nvSpPr>
        <p:spPr>
          <a:xfrm>
            <a:off x="8110728" y="1399032"/>
            <a:ext cx="1344168"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anose="02020603050405020304" pitchFamily="18" charset="0"/>
                <a:ea typeface="Calibri" pitchFamily="34" charset="-122"/>
                <a:cs typeface="Times New Roman" panose="02020603050405020304" pitchFamily="18" charset="0"/>
              </a:rPr>
              <a:t>5. Export Module</a:t>
            </a:r>
            <a:endParaRPr lang="en-US" sz="900" dirty="0">
              <a:latin typeface="Times New Roman" panose="02020603050405020304" pitchFamily="18" charset="0"/>
              <a:cs typeface="Times New Roman" panose="02020603050405020304" pitchFamily="18" charset="0"/>
            </a:endParaRPr>
          </a:p>
        </p:txBody>
      </p:sp>
      <p:pic>
        <p:nvPicPr>
          <p:cNvPr id="43" name="Image 5" descr="/home/claude/pptx_work/v_cloud.png"/>
          <p:cNvPicPr>
            <a:picLocks noChangeAspect="1"/>
          </p:cNvPicPr>
          <p:nvPr/>
        </p:nvPicPr>
        <p:blipFill>
          <a:blip r:embed="rId8"/>
          <a:stretch>
            <a:fillRect/>
          </a:stretch>
        </p:blipFill>
        <p:spPr>
          <a:xfrm>
            <a:off x="8508492" y="1965960"/>
            <a:ext cx="548640" cy="548640"/>
          </a:xfrm>
          <a:prstGeom prst="rect">
            <a:avLst/>
          </a:prstGeom>
        </p:spPr>
      </p:pic>
      <p:sp>
        <p:nvSpPr>
          <p:cNvPr id="44" name="Text 36"/>
          <p:cNvSpPr/>
          <p:nvPr/>
        </p:nvSpPr>
        <p:spPr>
          <a:xfrm>
            <a:off x="8165592" y="2587752"/>
            <a:ext cx="1234440" cy="1325880"/>
          </a:xfrm>
          <a:prstGeom prst="rect">
            <a:avLst/>
          </a:prstGeom>
          <a:noFill/>
          <a:ln/>
        </p:spPr>
        <p:txBody>
          <a:bodyPr wrap="square" lIns="0" tIns="0" rIns="0" bIns="0" rtlCol="0" anchor="t"/>
          <a:lstStyle/>
          <a:p>
            <a:pPr marL="342900" indent="-342900" algn="l">
              <a:spcAft>
                <a:spcPts val="500"/>
              </a:spcAft>
              <a:buSzPct val="100000"/>
              <a:buChar char="●"/>
            </a:pPr>
            <a:r>
              <a:rPr lang="en-US" sz="680" dirty="0">
                <a:solidFill>
                  <a:srgbClr val="262626"/>
                </a:solidFill>
                <a:latin typeface="Times New Roman" panose="02020603050405020304" pitchFamily="18" charset="0"/>
                <a:ea typeface="Calibri" pitchFamily="34" charset="-122"/>
                <a:cs typeface="Times New Roman" panose="02020603050405020304" pitchFamily="18" charset="0"/>
              </a:rPr>
              <a:t>Save annotations</a:t>
            </a:r>
            <a:endParaRPr lang="en-US" sz="68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680" dirty="0">
                <a:solidFill>
                  <a:srgbClr val="262626"/>
                </a:solidFill>
                <a:latin typeface="Times New Roman" panose="02020603050405020304" pitchFamily="18" charset="0"/>
                <a:ea typeface="Calibri" pitchFamily="34" charset="-122"/>
                <a:cs typeface="Times New Roman" panose="02020603050405020304" pitchFamily="18" charset="0"/>
              </a:rPr>
              <a:t>(JSON / XML / CSV)</a:t>
            </a:r>
            <a:endParaRPr lang="en-US" sz="68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680" dirty="0">
                <a:solidFill>
                  <a:srgbClr val="262626"/>
                </a:solidFill>
                <a:latin typeface="Times New Roman" panose="02020603050405020304" pitchFamily="18" charset="0"/>
                <a:ea typeface="Calibri" pitchFamily="34" charset="-122"/>
                <a:cs typeface="Times New Roman" panose="02020603050405020304" pitchFamily="18" charset="0"/>
              </a:rPr>
              <a:t>Export annotated frames</a:t>
            </a:r>
            <a:endParaRPr lang="en-US" sz="68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680" dirty="0">
                <a:solidFill>
                  <a:srgbClr val="262626"/>
                </a:solidFill>
                <a:latin typeface="Times New Roman" panose="02020603050405020304" pitchFamily="18" charset="0"/>
                <a:ea typeface="Calibri" pitchFamily="34" charset="-122"/>
                <a:cs typeface="Times New Roman" panose="02020603050405020304" pitchFamily="18" charset="0"/>
              </a:rPr>
              <a:t>(with overlays)</a:t>
            </a:r>
            <a:endParaRPr lang="en-US" sz="680" dirty="0">
              <a:latin typeface="Times New Roman" panose="02020603050405020304" pitchFamily="18" charset="0"/>
              <a:cs typeface="Times New Roman" panose="02020603050405020304" pitchFamily="18" charset="0"/>
            </a:endParaRPr>
          </a:p>
          <a:p>
            <a:pPr marL="342900" indent="-342900" algn="l">
              <a:spcAft>
                <a:spcPts val="500"/>
              </a:spcAft>
              <a:buSzPct val="100000"/>
              <a:buChar char="●"/>
            </a:pPr>
            <a:r>
              <a:rPr lang="en-US" sz="680" dirty="0">
                <a:solidFill>
                  <a:srgbClr val="262626"/>
                </a:solidFill>
                <a:latin typeface="Times New Roman" panose="02020603050405020304" pitchFamily="18" charset="0"/>
                <a:ea typeface="Calibri" pitchFamily="34" charset="-122"/>
                <a:cs typeface="Times New Roman" panose="02020603050405020304" pitchFamily="18" charset="0"/>
              </a:rPr>
              <a:t>Export video (optional)</a:t>
            </a:r>
            <a:endParaRPr lang="en-US" sz="680" dirty="0">
              <a:latin typeface="Times New Roman" panose="02020603050405020304" pitchFamily="18" charset="0"/>
              <a:cs typeface="Times New Roman" panose="02020603050405020304" pitchFamily="18" charset="0"/>
            </a:endParaRPr>
          </a:p>
        </p:txBody>
      </p:sp>
      <p:sp>
        <p:nvSpPr>
          <p:cNvPr id="45" name="Shape 37"/>
          <p:cNvSpPr/>
          <p:nvPr/>
        </p:nvSpPr>
        <p:spPr>
          <a:xfrm>
            <a:off x="2075688" y="4114800"/>
            <a:ext cx="7598664" cy="832104"/>
          </a:xfrm>
          <a:prstGeom prst="roundRect">
            <a:avLst>
              <a:gd name="adj" fmla="val 5495"/>
            </a:avLst>
          </a:prstGeom>
          <a:solidFill>
            <a:srgbClr val="F2F2F2"/>
          </a:solidFill>
          <a:ln w="12700">
            <a:solidFill>
              <a:srgbClr val="A6A6A6"/>
            </a:solidFill>
            <a:prstDash val="solid"/>
          </a:ln>
        </p:spPr>
      </p:sp>
      <p:sp>
        <p:nvSpPr>
          <p:cNvPr id="46" name="Text 38"/>
          <p:cNvSpPr/>
          <p:nvPr/>
        </p:nvSpPr>
        <p:spPr>
          <a:xfrm>
            <a:off x="2075688" y="4169664"/>
            <a:ext cx="7598664" cy="256032"/>
          </a:xfrm>
          <a:prstGeom prst="rect">
            <a:avLst/>
          </a:prstGeom>
          <a:noFill/>
          <a:ln/>
        </p:spPr>
        <p:txBody>
          <a:bodyPr wrap="square" lIns="0" tIns="0" rIns="0" bIns="0" rtlCol="0" anchor="ctr"/>
          <a:lstStyle/>
          <a:p>
            <a:pPr marL="0" indent="0" algn="ctr">
              <a:buNone/>
            </a:pPr>
            <a:r>
              <a:rPr lang="en-US" sz="1150" b="1" dirty="0">
                <a:solidFill>
                  <a:srgbClr val="262626"/>
                </a:solidFill>
                <a:latin typeface="Times New Roman" panose="02020603050405020304" pitchFamily="18" charset="0"/>
                <a:ea typeface="Calibri" pitchFamily="34" charset="-122"/>
                <a:cs typeface="Times New Roman" panose="02020603050405020304" pitchFamily="18" charset="0"/>
              </a:rPr>
              <a:t>6. Utility &amp; Support Services</a:t>
            </a:r>
            <a:endParaRPr lang="en-US" sz="1150" dirty="0">
              <a:latin typeface="Times New Roman" panose="02020603050405020304" pitchFamily="18" charset="0"/>
              <a:cs typeface="Times New Roman" panose="02020603050405020304" pitchFamily="18" charset="0"/>
            </a:endParaRPr>
          </a:p>
        </p:txBody>
      </p:sp>
      <p:pic>
        <p:nvPicPr>
          <p:cNvPr id="47" name="Image 6" descr="/home/claude/pptx_work/v_gear.png"/>
          <p:cNvPicPr>
            <a:picLocks noChangeAspect="1"/>
          </p:cNvPicPr>
          <p:nvPr/>
        </p:nvPicPr>
        <p:blipFill>
          <a:blip r:embed="rId9"/>
          <a:stretch>
            <a:fillRect/>
          </a:stretch>
        </p:blipFill>
        <p:spPr>
          <a:xfrm>
            <a:off x="2331720" y="4407408"/>
            <a:ext cx="548640" cy="548640"/>
          </a:xfrm>
          <a:prstGeom prst="rect">
            <a:avLst/>
          </a:prstGeom>
        </p:spPr>
      </p:pic>
      <p:sp>
        <p:nvSpPr>
          <p:cNvPr id="48" name="Text 39"/>
          <p:cNvSpPr/>
          <p:nvPr/>
        </p:nvSpPr>
        <p:spPr>
          <a:xfrm>
            <a:off x="3108960" y="4425696"/>
            <a:ext cx="2651760" cy="466344"/>
          </a:xfrm>
          <a:prstGeom prst="rect">
            <a:avLst/>
          </a:prstGeom>
          <a:noFill/>
          <a:ln/>
        </p:spPr>
        <p:txBody>
          <a:bodyPr wrap="square" lIns="0" tIns="0" rIns="0" bIns="0" rtlCol="0" anchor="t"/>
          <a:lstStyle/>
          <a:p>
            <a:pPr marL="342900" indent="-342900" algn="l">
              <a:spcAft>
                <a:spcPts val="600"/>
              </a:spcAft>
              <a:buSzPct val="100000"/>
              <a:buChar char="●"/>
            </a:pPr>
            <a:r>
              <a:rPr lang="en-US" sz="830" dirty="0">
                <a:solidFill>
                  <a:srgbClr val="262626"/>
                </a:solidFill>
                <a:latin typeface="Times New Roman" panose="02020603050405020304" pitchFamily="18" charset="0"/>
                <a:ea typeface="Calibri" pitchFamily="34" charset="-122"/>
                <a:cs typeface="Times New Roman" panose="02020603050405020304" pitchFamily="18" charset="0"/>
              </a:rPr>
              <a:t>Configuration Manager</a:t>
            </a:r>
            <a:endParaRPr lang="en-US" sz="830" dirty="0">
              <a:latin typeface="Times New Roman" panose="02020603050405020304" pitchFamily="18" charset="0"/>
              <a:cs typeface="Times New Roman" panose="02020603050405020304" pitchFamily="18" charset="0"/>
            </a:endParaRPr>
          </a:p>
          <a:p>
            <a:pPr marL="342900" indent="-342900" algn="l">
              <a:spcAft>
                <a:spcPts val="600"/>
              </a:spcAft>
              <a:buSzPct val="100000"/>
              <a:buChar char="●"/>
            </a:pPr>
            <a:r>
              <a:rPr lang="en-US" sz="830" dirty="0">
                <a:solidFill>
                  <a:srgbClr val="262626"/>
                </a:solidFill>
                <a:latin typeface="Times New Roman" panose="02020603050405020304" pitchFamily="18" charset="0"/>
                <a:ea typeface="Calibri" pitchFamily="34" charset="-122"/>
                <a:cs typeface="Times New Roman" panose="02020603050405020304" pitchFamily="18" charset="0"/>
              </a:rPr>
              <a:t>(paths, thresholds, classes)</a:t>
            </a:r>
            <a:endParaRPr lang="en-US" sz="830" dirty="0">
              <a:latin typeface="Times New Roman" panose="02020603050405020304" pitchFamily="18" charset="0"/>
              <a:cs typeface="Times New Roman" panose="02020603050405020304" pitchFamily="18" charset="0"/>
            </a:endParaRPr>
          </a:p>
          <a:p>
            <a:pPr marL="342900" indent="-342900" algn="l">
              <a:spcAft>
                <a:spcPts val="600"/>
              </a:spcAft>
              <a:buSzPct val="100000"/>
              <a:buChar char="●"/>
            </a:pPr>
            <a:r>
              <a:rPr lang="en-US" sz="830" dirty="0">
                <a:solidFill>
                  <a:srgbClr val="262626"/>
                </a:solidFill>
                <a:latin typeface="Times New Roman" panose="02020603050405020304" pitchFamily="18" charset="0"/>
                <a:ea typeface="Calibri" pitchFamily="34" charset="-122"/>
                <a:cs typeface="Times New Roman" panose="02020603050405020304" pitchFamily="18" charset="0"/>
              </a:rPr>
              <a:t>Logging &amp; Error Handling</a:t>
            </a:r>
            <a:endParaRPr lang="en-US" sz="830" dirty="0">
              <a:latin typeface="Times New Roman" panose="02020603050405020304" pitchFamily="18" charset="0"/>
              <a:cs typeface="Times New Roman" panose="02020603050405020304" pitchFamily="18" charset="0"/>
            </a:endParaRPr>
          </a:p>
        </p:txBody>
      </p:sp>
      <p:sp>
        <p:nvSpPr>
          <p:cNvPr id="49" name="Text 40"/>
          <p:cNvSpPr/>
          <p:nvPr/>
        </p:nvSpPr>
        <p:spPr>
          <a:xfrm>
            <a:off x="5897880" y="4425696"/>
            <a:ext cx="2743200" cy="466344"/>
          </a:xfrm>
          <a:prstGeom prst="rect">
            <a:avLst/>
          </a:prstGeom>
          <a:noFill/>
          <a:ln/>
        </p:spPr>
        <p:txBody>
          <a:bodyPr wrap="square" lIns="0" tIns="0" rIns="0" bIns="0" rtlCol="0" anchor="t"/>
          <a:lstStyle/>
          <a:p>
            <a:pPr marL="342900" indent="-342900" algn="l">
              <a:spcAft>
                <a:spcPts val="600"/>
              </a:spcAft>
              <a:buSzPct val="100000"/>
              <a:buChar char="●"/>
            </a:pPr>
            <a:r>
              <a:rPr lang="en-US" sz="830" dirty="0">
                <a:solidFill>
                  <a:srgbClr val="262626"/>
                </a:solidFill>
                <a:latin typeface="Times New Roman" panose="02020603050405020304" pitchFamily="18" charset="0"/>
                <a:ea typeface="Calibri" pitchFamily="34" charset="-122"/>
                <a:cs typeface="Times New Roman" panose="02020603050405020304" pitchFamily="18" charset="0"/>
              </a:rPr>
              <a:t>Progress Tracking</a:t>
            </a:r>
            <a:endParaRPr lang="en-US" sz="830" dirty="0">
              <a:latin typeface="Times New Roman" panose="02020603050405020304" pitchFamily="18" charset="0"/>
              <a:cs typeface="Times New Roman" panose="02020603050405020304" pitchFamily="18" charset="0"/>
            </a:endParaRPr>
          </a:p>
          <a:p>
            <a:pPr marL="342900" indent="-342900" algn="l">
              <a:spcAft>
                <a:spcPts val="600"/>
              </a:spcAft>
              <a:buSzPct val="100000"/>
              <a:buChar char="●"/>
            </a:pPr>
            <a:r>
              <a:rPr lang="en-US" sz="830" dirty="0">
                <a:solidFill>
                  <a:srgbClr val="262626"/>
                </a:solidFill>
                <a:latin typeface="Times New Roman" panose="02020603050405020304" pitchFamily="18" charset="0"/>
                <a:ea typeface="Calibri" pitchFamily="34" charset="-122"/>
                <a:cs typeface="Times New Roman" panose="02020603050405020304" pitchFamily="18" charset="0"/>
              </a:rPr>
              <a:t>Temp File Manager</a:t>
            </a:r>
            <a:endParaRPr lang="en-US" sz="830" dirty="0">
              <a:latin typeface="Times New Roman" panose="02020603050405020304" pitchFamily="18" charset="0"/>
              <a:cs typeface="Times New Roman" panose="02020603050405020304" pitchFamily="18" charset="0"/>
            </a:endParaRPr>
          </a:p>
          <a:p>
            <a:pPr marL="342900" indent="-342900" algn="l">
              <a:spcAft>
                <a:spcPts val="600"/>
              </a:spcAft>
              <a:buSzPct val="100000"/>
              <a:buChar char="●"/>
            </a:pPr>
            <a:r>
              <a:rPr lang="en-US" sz="830" dirty="0">
                <a:solidFill>
                  <a:srgbClr val="262626"/>
                </a:solidFill>
                <a:latin typeface="Times New Roman" panose="02020603050405020304" pitchFamily="18" charset="0"/>
                <a:ea typeface="Calibri" pitchFamily="34" charset="-122"/>
                <a:cs typeface="Times New Roman" panose="02020603050405020304" pitchFamily="18" charset="0"/>
              </a:rPr>
              <a:t>User Preferences</a:t>
            </a:r>
            <a:endParaRPr lang="en-US" sz="830" dirty="0">
              <a:latin typeface="Times New Roman" panose="02020603050405020304" pitchFamily="18" charset="0"/>
              <a:cs typeface="Times New Roman" panose="02020603050405020304" pitchFamily="18" charset="0"/>
            </a:endParaRPr>
          </a:p>
        </p:txBody>
      </p:sp>
      <p:sp>
        <p:nvSpPr>
          <p:cNvPr id="50" name="Shape 41"/>
          <p:cNvSpPr/>
          <p:nvPr/>
        </p:nvSpPr>
        <p:spPr>
          <a:xfrm>
            <a:off x="9966960" y="896112"/>
            <a:ext cx="2084832" cy="4160520"/>
          </a:xfrm>
          <a:prstGeom prst="roundRect">
            <a:avLst>
              <a:gd name="adj" fmla="val 3509"/>
            </a:avLst>
          </a:prstGeom>
          <a:solidFill>
            <a:srgbClr val="FFF2CC"/>
          </a:solidFill>
          <a:ln w="19050">
            <a:solidFill>
              <a:srgbClr val="BF8F00"/>
            </a:solidFill>
            <a:prstDash val="solid"/>
          </a:ln>
          <a:effectLst>
            <a:outerShdw blurRad="38100" dist="25400" dir="5400000" algn="bl" rotWithShape="0">
              <a:srgbClr val="808080">
                <a:alpha val="20000"/>
              </a:srgbClr>
            </a:outerShdw>
          </a:effectLst>
        </p:spPr>
      </p:sp>
      <p:sp>
        <p:nvSpPr>
          <p:cNvPr id="51" name="Text 42"/>
          <p:cNvSpPr/>
          <p:nvPr/>
        </p:nvSpPr>
        <p:spPr>
          <a:xfrm>
            <a:off x="9966960" y="987552"/>
            <a:ext cx="2084832" cy="274320"/>
          </a:xfrm>
          <a:prstGeom prst="rect">
            <a:avLst/>
          </a:prstGeom>
          <a:noFill/>
          <a:ln/>
        </p:spPr>
        <p:txBody>
          <a:bodyPr wrap="square" lIns="0" tIns="0" rIns="0" bIns="0" rtlCol="0" anchor="ctr"/>
          <a:lstStyle/>
          <a:p>
            <a:pPr marL="0" indent="0" algn="ctr">
              <a:buNone/>
            </a:pPr>
            <a:r>
              <a:rPr lang="en-US" sz="1200" b="1" dirty="0">
                <a:solidFill>
                  <a:srgbClr val="262626"/>
                </a:solidFill>
                <a:latin typeface="Times New Roman" panose="02020603050405020304" pitchFamily="18" charset="0"/>
                <a:ea typeface="Calibri" pitchFamily="34" charset="-122"/>
                <a:cs typeface="Times New Roman" panose="02020603050405020304" pitchFamily="18" charset="0"/>
              </a:rPr>
              <a:t>Data Storage Layer</a:t>
            </a:r>
            <a:endParaRPr lang="en-US" sz="1200" dirty="0">
              <a:latin typeface="Times New Roman" panose="02020603050405020304" pitchFamily="18" charset="0"/>
              <a:cs typeface="Times New Roman" panose="02020603050405020304" pitchFamily="18" charset="0"/>
            </a:endParaRPr>
          </a:p>
        </p:txBody>
      </p:sp>
      <p:sp>
        <p:nvSpPr>
          <p:cNvPr id="52" name="Shape 43"/>
          <p:cNvSpPr/>
          <p:nvPr/>
        </p:nvSpPr>
        <p:spPr>
          <a:xfrm>
            <a:off x="10076688" y="1335024"/>
            <a:ext cx="1865376" cy="1051560"/>
          </a:xfrm>
          <a:prstGeom prst="roundRect">
            <a:avLst>
              <a:gd name="adj" fmla="val 4348"/>
            </a:avLst>
          </a:prstGeom>
          <a:solidFill>
            <a:srgbClr val="FFFFFF"/>
          </a:solidFill>
          <a:ln w="12700">
            <a:solidFill>
              <a:srgbClr val="BF8F00"/>
            </a:solidFill>
            <a:prstDash val="solid"/>
          </a:ln>
        </p:spPr>
      </p:sp>
      <p:pic>
        <p:nvPicPr>
          <p:cNvPr id="53" name="Image 7" descr="/home/claude/pptx_work/v_db_blue.png"/>
          <p:cNvPicPr>
            <a:picLocks noChangeAspect="1"/>
          </p:cNvPicPr>
          <p:nvPr/>
        </p:nvPicPr>
        <p:blipFill>
          <a:blip r:embed="rId10"/>
          <a:stretch>
            <a:fillRect/>
          </a:stretch>
        </p:blipFill>
        <p:spPr>
          <a:xfrm>
            <a:off x="10149840" y="1444752"/>
            <a:ext cx="365760" cy="365760"/>
          </a:xfrm>
          <a:prstGeom prst="rect">
            <a:avLst/>
          </a:prstGeom>
        </p:spPr>
      </p:pic>
      <p:sp>
        <p:nvSpPr>
          <p:cNvPr id="54" name="Text 44"/>
          <p:cNvSpPr/>
          <p:nvPr/>
        </p:nvSpPr>
        <p:spPr>
          <a:xfrm>
            <a:off x="10561320" y="1408176"/>
            <a:ext cx="1399032" cy="384048"/>
          </a:xfrm>
          <a:prstGeom prst="rect">
            <a:avLst/>
          </a:prstGeom>
          <a:noFill/>
          <a:ln/>
        </p:spPr>
        <p:txBody>
          <a:bodyPr wrap="square" lIns="0" tIns="0" rIns="0" bIns="0" rtlCol="0" anchor="t"/>
          <a:lstStyle/>
          <a:p>
            <a:pPr marL="0" indent="0" algn="l">
              <a:buNone/>
            </a:pPr>
            <a:r>
              <a:rPr lang="en-US" sz="950" b="1" dirty="0">
                <a:solidFill>
                  <a:srgbClr val="262626"/>
                </a:solidFill>
                <a:latin typeface="Times New Roman" panose="02020603050405020304" pitchFamily="18" charset="0"/>
                <a:ea typeface="Calibri" pitchFamily="34" charset="-122"/>
                <a:cs typeface="Times New Roman" panose="02020603050405020304" pitchFamily="18" charset="0"/>
              </a:rPr>
              <a:t>Frame Storage</a:t>
            </a:r>
            <a:endParaRPr lang="en-US" sz="950" dirty="0">
              <a:latin typeface="Times New Roman" panose="02020603050405020304" pitchFamily="18" charset="0"/>
              <a:cs typeface="Times New Roman" panose="02020603050405020304" pitchFamily="18" charset="0"/>
            </a:endParaRPr>
          </a:p>
        </p:txBody>
      </p:sp>
      <p:sp>
        <p:nvSpPr>
          <p:cNvPr id="55" name="Text 45"/>
          <p:cNvSpPr/>
          <p:nvPr/>
        </p:nvSpPr>
        <p:spPr>
          <a:xfrm>
            <a:off x="10149840" y="1810512"/>
            <a:ext cx="1719072" cy="548640"/>
          </a:xfrm>
          <a:prstGeom prst="rect">
            <a:avLst/>
          </a:prstGeom>
          <a:noFill/>
          <a:ln/>
        </p:spPr>
        <p:txBody>
          <a:bodyPr wrap="square" lIns="0" tIns="0" rIns="0" bIns="0" rtlCol="0" anchor="t"/>
          <a:lstStyle/>
          <a:p>
            <a:pPr marL="342900" indent="-342900" algn="l">
              <a:spcAft>
                <a:spcPts val="3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Extracted frames</a:t>
            </a:r>
            <a:endParaRPr lang="en-US" sz="800" dirty="0">
              <a:latin typeface="Times New Roman" panose="02020603050405020304" pitchFamily="18" charset="0"/>
              <a:cs typeface="Times New Roman" panose="02020603050405020304" pitchFamily="18" charset="0"/>
            </a:endParaRPr>
          </a:p>
          <a:p>
            <a:pPr marL="342900" indent="-342900" algn="l">
              <a:spcAft>
                <a:spcPts val="3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Organized by video</a:t>
            </a:r>
            <a:endParaRPr lang="en-US" sz="800" dirty="0">
              <a:latin typeface="Times New Roman" panose="02020603050405020304" pitchFamily="18" charset="0"/>
              <a:cs typeface="Times New Roman" panose="02020603050405020304" pitchFamily="18" charset="0"/>
            </a:endParaRPr>
          </a:p>
          <a:p>
            <a:pPr marL="342900" indent="-342900" algn="l">
              <a:spcAft>
                <a:spcPts val="3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 timestamp</a:t>
            </a:r>
            <a:endParaRPr lang="en-US" sz="800" dirty="0">
              <a:latin typeface="Times New Roman" panose="02020603050405020304" pitchFamily="18" charset="0"/>
              <a:cs typeface="Times New Roman" panose="02020603050405020304" pitchFamily="18" charset="0"/>
            </a:endParaRPr>
          </a:p>
        </p:txBody>
      </p:sp>
      <p:sp>
        <p:nvSpPr>
          <p:cNvPr id="56" name="Shape 46"/>
          <p:cNvSpPr/>
          <p:nvPr/>
        </p:nvSpPr>
        <p:spPr>
          <a:xfrm>
            <a:off x="10076688" y="2523744"/>
            <a:ext cx="1865376" cy="1051560"/>
          </a:xfrm>
          <a:prstGeom prst="roundRect">
            <a:avLst>
              <a:gd name="adj" fmla="val 4348"/>
            </a:avLst>
          </a:prstGeom>
          <a:solidFill>
            <a:srgbClr val="FFFFFF"/>
          </a:solidFill>
          <a:ln w="12700">
            <a:solidFill>
              <a:srgbClr val="BF8F00"/>
            </a:solidFill>
            <a:prstDash val="solid"/>
          </a:ln>
        </p:spPr>
      </p:sp>
      <p:pic>
        <p:nvPicPr>
          <p:cNvPr id="57" name="Image 8" descr="/home/claude/pptx_work/v_db_green.png"/>
          <p:cNvPicPr>
            <a:picLocks noChangeAspect="1"/>
          </p:cNvPicPr>
          <p:nvPr/>
        </p:nvPicPr>
        <p:blipFill>
          <a:blip r:embed="rId11"/>
          <a:stretch>
            <a:fillRect/>
          </a:stretch>
        </p:blipFill>
        <p:spPr>
          <a:xfrm>
            <a:off x="10149840" y="2633472"/>
            <a:ext cx="365760" cy="365760"/>
          </a:xfrm>
          <a:prstGeom prst="rect">
            <a:avLst/>
          </a:prstGeom>
        </p:spPr>
      </p:pic>
      <p:sp>
        <p:nvSpPr>
          <p:cNvPr id="58" name="Text 47"/>
          <p:cNvSpPr/>
          <p:nvPr/>
        </p:nvSpPr>
        <p:spPr>
          <a:xfrm>
            <a:off x="10561320" y="2596896"/>
            <a:ext cx="1399032" cy="384048"/>
          </a:xfrm>
          <a:prstGeom prst="rect">
            <a:avLst/>
          </a:prstGeom>
          <a:noFill/>
          <a:ln/>
        </p:spPr>
        <p:txBody>
          <a:bodyPr wrap="square" lIns="0" tIns="0" rIns="0" bIns="0" rtlCol="0" anchor="t"/>
          <a:lstStyle/>
          <a:p>
            <a:pPr marL="0" indent="0" algn="l">
              <a:buNone/>
            </a:pPr>
            <a:r>
              <a:rPr lang="en-US" sz="950" b="1" dirty="0">
                <a:solidFill>
                  <a:srgbClr val="262626"/>
                </a:solidFill>
                <a:latin typeface="Times New Roman" panose="02020603050405020304" pitchFamily="18" charset="0"/>
                <a:ea typeface="Calibri" pitchFamily="34" charset="-122"/>
                <a:cs typeface="Times New Roman" panose="02020603050405020304" pitchFamily="18" charset="0"/>
              </a:rPr>
              <a:t>Annotation Storage</a:t>
            </a:r>
            <a:endParaRPr lang="en-US" sz="950" dirty="0">
              <a:latin typeface="Times New Roman" panose="02020603050405020304" pitchFamily="18" charset="0"/>
              <a:cs typeface="Times New Roman" panose="02020603050405020304" pitchFamily="18" charset="0"/>
            </a:endParaRPr>
          </a:p>
        </p:txBody>
      </p:sp>
      <p:sp>
        <p:nvSpPr>
          <p:cNvPr id="59" name="Text 48"/>
          <p:cNvSpPr/>
          <p:nvPr/>
        </p:nvSpPr>
        <p:spPr>
          <a:xfrm>
            <a:off x="10149840" y="2999232"/>
            <a:ext cx="1719072" cy="548640"/>
          </a:xfrm>
          <a:prstGeom prst="rect">
            <a:avLst/>
          </a:prstGeom>
          <a:noFill/>
          <a:ln/>
        </p:spPr>
        <p:txBody>
          <a:bodyPr wrap="square" lIns="0" tIns="0" rIns="0" bIns="0" rtlCol="0" anchor="t"/>
          <a:lstStyle/>
          <a:p>
            <a:pPr marL="342900" indent="-342900" algn="l">
              <a:spcAft>
                <a:spcPts val="3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Annotations</a:t>
            </a:r>
            <a:endParaRPr lang="en-US" sz="800" dirty="0">
              <a:latin typeface="Times New Roman" panose="02020603050405020304" pitchFamily="18" charset="0"/>
              <a:cs typeface="Times New Roman" panose="02020603050405020304" pitchFamily="18" charset="0"/>
            </a:endParaRPr>
          </a:p>
          <a:p>
            <a:pPr marL="342900" indent="-342900" algn="l">
              <a:spcAft>
                <a:spcPts val="3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(JSON / XML / CSV)</a:t>
            </a:r>
            <a:endParaRPr lang="en-US" sz="800" dirty="0">
              <a:latin typeface="Times New Roman" panose="02020603050405020304" pitchFamily="18" charset="0"/>
              <a:cs typeface="Times New Roman" panose="02020603050405020304" pitchFamily="18" charset="0"/>
            </a:endParaRPr>
          </a:p>
          <a:p>
            <a:pPr marL="342900" indent="-342900" algn="l">
              <a:spcAft>
                <a:spcPts val="3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Label maps / classes</a:t>
            </a:r>
            <a:endParaRPr lang="en-US" sz="800" dirty="0">
              <a:latin typeface="Times New Roman" panose="02020603050405020304" pitchFamily="18" charset="0"/>
              <a:cs typeface="Times New Roman" panose="02020603050405020304" pitchFamily="18" charset="0"/>
            </a:endParaRPr>
          </a:p>
        </p:txBody>
      </p:sp>
      <p:sp>
        <p:nvSpPr>
          <p:cNvPr id="60" name="Shape 49"/>
          <p:cNvSpPr/>
          <p:nvPr/>
        </p:nvSpPr>
        <p:spPr>
          <a:xfrm>
            <a:off x="10076688" y="3712464"/>
            <a:ext cx="1865376" cy="1234440"/>
          </a:xfrm>
          <a:prstGeom prst="roundRect">
            <a:avLst>
              <a:gd name="adj" fmla="val 3704"/>
            </a:avLst>
          </a:prstGeom>
          <a:solidFill>
            <a:srgbClr val="FFFFFF"/>
          </a:solidFill>
          <a:ln w="12700">
            <a:solidFill>
              <a:srgbClr val="BF8F00"/>
            </a:solidFill>
            <a:prstDash val="solid"/>
          </a:ln>
        </p:spPr>
      </p:sp>
      <p:pic>
        <p:nvPicPr>
          <p:cNvPr id="61" name="Image 9" descr="/home/claude/pptx_work/v_folder_purple.png"/>
          <p:cNvPicPr>
            <a:picLocks noChangeAspect="1"/>
          </p:cNvPicPr>
          <p:nvPr/>
        </p:nvPicPr>
        <p:blipFill>
          <a:blip r:embed="rId12"/>
          <a:stretch>
            <a:fillRect/>
          </a:stretch>
        </p:blipFill>
        <p:spPr>
          <a:xfrm>
            <a:off x="10149840" y="3822192"/>
            <a:ext cx="365760" cy="365760"/>
          </a:xfrm>
          <a:prstGeom prst="rect">
            <a:avLst/>
          </a:prstGeom>
        </p:spPr>
      </p:pic>
      <p:sp>
        <p:nvSpPr>
          <p:cNvPr id="62" name="Text 50"/>
          <p:cNvSpPr/>
          <p:nvPr/>
        </p:nvSpPr>
        <p:spPr>
          <a:xfrm>
            <a:off x="10561320" y="3785616"/>
            <a:ext cx="1399032" cy="384048"/>
          </a:xfrm>
          <a:prstGeom prst="rect">
            <a:avLst/>
          </a:prstGeom>
          <a:noFill/>
          <a:ln/>
        </p:spPr>
        <p:txBody>
          <a:bodyPr wrap="square" lIns="0" tIns="0" rIns="0" bIns="0" rtlCol="0" anchor="t"/>
          <a:lstStyle/>
          <a:p>
            <a:pPr marL="0" indent="0" algn="l">
              <a:buNone/>
            </a:pPr>
            <a:r>
              <a:rPr lang="en-US" sz="950" b="1" dirty="0">
                <a:solidFill>
                  <a:srgbClr val="262626"/>
                </a:solidFill>
                <a:latin typeface="Times New Roman" panose="02020603050405020304" pitchFamily="18" charset="0"/>
                <a:ea typeface="Calibri" pitchFamily="34" charset="-122"/>
                <a:cs typeface="Times New Roman" panose="02020603050405020304" pitchFamily="18" charset="0"/>
              </a:rPr>
              <a:t>Project / Metadata</a:t>
            </a:r>
            <a:endParaRPr lang="en-US" sz="950" dirty="0">
              <a:latin typeface="Times New Roman" panose="02020603050405020304" pitchFamily="18" charset="0"/>
              <a:cs typeface="Times New Roman" panose="02020603050405020304" pitchFamily="18" charset="0"/>
            </a:endParaRPr>
          </a:p>
          <a:p>
            <a:pPr marL="0" indent="0" algn="l">
              <a:buNone/>
            </a:pPr>
            <a:r>
              <a:rPr lang="en-US" sz="950" b="1" dirty="0">
                <a:solidFill>
                  <a:srgbClr val="262626"/>
                </a:solidFill>
                <a:latin typeface="Times New Roman" panose="02020603050405020304" pitchFamily="18" charset="0"/>
                <a:ea typeface="Calibri" pitchFamily="34" charset="-122"/>
                <a:cs typeface="Times New Roman" panose="02020603050405020304" pitchFamily="18" charset="0"/>
              </a:rPr>
              <a:t>Storage</a:t>
            </a:r>
            <a:endParaRPr lang="en-US" sz="950" dirty="0">
              <a:latin typeface="Times New Roman" panose="02020603050405020304" pitchFamily="18" charset="0"/>
              <a:cs typeface="Times New Roman" panose="02020603050405020304" pitchFamily="18" charset="0"/>
            </a:endParaRPr>
          </a:p>
        </p:txBody>
      </p:sp>
      <p:sp>
        <p:nvSpPr>
          <p:cNvPr id="63" name="Text 51"/>
          <p:cNvSpPr/>
          <p:nvPr/>
        </p:nvSpPr>
        <p:spPr>
          <a:xfrm>
            <a:off x="10149840" y="4187952"/>
            <a:ext cx="1719072" cy="731520"/>
          </a:xfrm>
          <a:prstGeom prst="rect">
            <a:avLst/>
          </a:prstGeom>
          <a:noFill/>
          <a:ln/>
        </p:spPr>
        <p:txBody>
          <a:bodyPr wrap="square" lIns="0" tIns="0" rIns="0" bIns="0" rtlCol="0" anchor="t"/>
          <a:lstStyle/>
          <a:p>
            <a:pPr marL="342900" indent="-342900" algn="l">
              <a:spcAft>
                <a:spcPts val="3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Project config</a:t>
            </a:r>
            <a:endParaRPr lang="en-US" sz="800" dirty="0">
              <a:latin typeface="Times New Roman" panose="02020603050405020304" pitchFamily="18" charset="0"/>
              <a:cs typeface="Times New Roman" panose="02020603050405020304" pitchFamily="18" charset="0"/>
            </a:endParaRPr>
          </a:p>
          <a:p>
            <a:pPr marL="342900" indent="-342900" algn="l">
              <a:spcAft>
                <a:spcPts val="3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Video metadata</a:t>
            </a:r>
            <a:endParaRPr lang="en-US" sz="800" dirty="0">
              <a:latin typeface="Times New Roman" panose="02020603050405020304" pitchFamily="18" charset="0"/>
              <a:cs typeface="Times New Roman" panose="02020603050405020304" pitchFamily="18" charset="0"/>
            </a:endParaRPr>
          </a:p>
          <a:p>
            <a:pPr marL="342900" indent="-342900" algn="l">
              <a:spcAft>
                <a:spcPts val="300"/>
              </a:spcAft>
              <a:buSzPct val="100000"/>
              <a:buChar char="●"/>
            </a:pPr>
            <a:r>
              <a:rPr lang="en-US" sz="800" dirty="0">
                <a:solidFill>
                  <a:srgbClr val="262626"/>
                </a:solidFill>
                <a:latin typeface="Times New Roman" panose="02020603050405020304" pitchFamily="18" charset="0"/>
                <a:ea typeface="Calibri" pitchFamily="34" charset="-122"/>
                <a:cs typeface="Times New Roman" panose="02020603050405020304" pitchFamily="18" charset="0"/>
              </a:rPr>
              <a:t>User settings</a:t>
            </a:r>
            <a:endParaRPr lang="en-US" sz="800" dirty="0">
              <a:latin typeface="Times New Roman" panose="02020603050405020304" pitchFamily="18" charset="0"/>
              <a:cs typeface="Times New Roman" panose="02020603050405020304" pitchFamily="18" charset="0"/>
            </a:endParaRPr>
          </a:p>
        </p:txBody>
      </p:sp>
      <p:sp>
        <p:nvSpPr>
          <p:cNvPr id="64" name="Text 52"/>
          <p:cNvSpPr/>
          <p:nvPr/>
        </p:nvSpPr>
        <p:spPr>
          <a:xfrm>
            <a:off x="9784080" y="1901952"/>
            <a:ext cx="182880" cy="365760"/>
          </a:xfrm>
          <a:prstGeom prst="rect">
            <a:avLst/>
          </a:prstGeom>
          <a:noFill/>
          <a:ln/>
        </p:spPr>
        <p:txBody>
          <a:bodyPr wrap="square" lIns="0" tIns="0" rIns="0" bIns="0" rtlCol="0" anchor="ctr"/>
          <a:lstStyle/>
          <a:p>
            <a:pPr marL="0" indent="0" algn="ctr">
              <a:buNone/>
            </a:pPr>
            <a:r>
              <a:rPr lang="en-US" sz="1600" b="1" dirty="0">
                <a:solidFill>
                  <a:srgbClr val="595959"/>
                </a:solidFill>
                <a:latin typeface="Calibri" pitchFamily="34" charset="0"/>
                <a:ea typeface="Calibri" pitchFamily="34" charset="-122"/>
                <a:cs typeface="Calibri" pitchFamily="34" charset="-120"/>
              </a:rPr>
              <a:t>↔</a:t>
            </a:r>
            <a:endParaRPr lang="en-US" sz="1600" dirty="0"/>
          </a:p>
        </p:txBody>
      </p:sp>
      <p:sp>
        <p:nvSpPr>
          <p:cNvPr id="65" name="Shape 53"/>
          <p:cNvSpPr/>
          <p:nvPr/>
        </p:nvSpPr>
        <p:spPr>
          <a:xfrm>
            <a:off x="1965960" y="5221224"/>
            <a:ext cx="8229600" cy="1508760"/>
          </a:xfrm>
          <a:prstGeom prst="roundRect">
            <a:avLst>
              <a:gd name="adj" fmla="val 4848"/>
            </a:avLst>
          </a:prstGeom>
          <a:solidFill>
            <a:srgbClr val="DDEBF7"/>
          </a:solidFill>
          <a:ln w="15875">
            <a:solidFill>
              <a:srgbClr val="2E75B6"/>
            </a:solidFill>
            <a:prstDash val="solid"/>
          </a:ln>
        </p:spPr>
      </p:sp>
      <p:sp>
        <p:nvSpPr>
          <p:cNvPr id="66" name="Text 54"/>
          <p:cNvSpPr/>
          <p:nvPr/>
        </p:nvSpPr>
        <p:spPr>
          <a:xfrm>
            <a:off x="1965960" y="5294376"/>
            <a:ext cx="8229600" cy="274320"/>
          </a:xfrm>
          <a:prstGeom prst="rect">
            <a:avLst/>
          </a:prstGeom>
          <a:noFill/>
          <a:ln/>
        </p:spPr>
        <p:txBody>
          <a:bodyPr wrap="square" lIns="0" tIns="0" rIns="0" bIns="0" rtlCol="0" anchor="ctr"/>
          <a:lstStyle/>
          <a:p>
            <a:pPr marL="0" indent="0" algn="ctr">
              <a:buNone/>
            </a:pPr>
            <a:r>
              <a:rPr lang="en-US" sz="1300" b="1" dirty="0">
                <a:solidFill>
                  <a:srgbClr val="1F3864"/>
                </a:solidFill>
                <a:latin typeface="Times New Roman" panose="02020603050405020304" pitchFamily="18" charset="0"/>
                <a:ea typeface="Calibri" pitchFamily="34" charset="-122"/>
                <a:cs typeface="Times New Roman" panose="02020603050405020304" pitchFamily="18" charset="0"/>
              </a:rPr>
              <a:t>External Libraries / Services</a:t>
            </a:r>
            <a:endParaRPr lang="en-US" sz="1300" dirty="0">
              <a:latin typeface="Times New Roman" panose="02020603050405020304" pitchFamily="18" charset="0"/>
              <a:cs typeface="Times New Roman" panose="02020603050405020304" pitchFamily="18" charset="0"/>
            </a:endParaRPr>
          </a:p>
        </p:txBody>
      </p:sp>
      <p:sp>
        <p:nvSpPr>
          <p:cNvPr id="67" name="Shape 55"/>
          <p:cNvSpPr/>
          <p:nvPr/>
        </p:nvSpPr>
        <p:spPr>
          <a:xfrm>
            <a:off x="2057400" y="5605272"/>
            <a:ext cx="1536192" cy="1051560"/>
          </a:xfrm>
          <a:prstGeom prst="roundRect">
            <a:avLst>
              <a:gd name="adj" fmla="val 4348"/>
            </a:avLst>
          </a:prstGeom>
          <a:solidFill>
            <a:srgbClr val="FFFFFF"/>
          </a:solidFill>
          <a:ln w="12700">
            <a:solidFill>
              <a:srgbClr val="1F4E79"/>
            </a:solidFill>
            <a:prstDash val="solid"/>
          </a:ln>
        </p:spPr>
      </p:sp>
      <p:pic>
        <p:nvPicPr>
          <p:cNvPr id="68" name="Image 10" descr="/home/claude/pptx_work/v_opencv.png"/>
          <p:cNvPicPr>
            <a:picLocks noChangeAspect="1"/>
          </p:cNvPicPr>
          <p:nvPr/>
        </p:nvPicPr>
        <p:blipFill>
          <a:blip r:embed="rId13"/>
          <a:stretch>
            <a:fillRect/>
          </a:stretch>
        </p:blipFill>
        <p:spPr>
          <a:xfrm>
            <a:off x="2148840" y="5715000"/>
            <a:ext cx="365760" cy="365760"/>
          </a:xfrm>
          <a:prstGeom prst="rect">
            <a:avLst/>
          </a:prstGeom>
        </p:spPr>
      </p:pic>
      <p:sp>
        <p:nvSpPr>
          <p:cNvPr id="69" name="Text 56"/>
          <p:cNvSpPr/>
          <p:nvPr/>
        </p:nvSpPr>
        <p:spPr>
          <a:xfrm>
            <a:off x="2560320" y="5678424"/>
            <a:ext cx="941832" cy="274320"/>
          </a:xfrm>
          <a:prstGeom prst="rect">
            <a:avLst/>
          </a:prstGeom>
          <a:noFill/>
          <a:ln/>
        </p:spPr>
        <p:txBody>
          <a:bodyPr wrap="square" lIns="0" tIns="0" rIns="0" bIns="0" rtlCol="0" anchor="t"/>
          <a:lstStyle/>
          <a:p>
            <a:pPr marL="0" indent="0" algn="l">
              <a:buNone/>
            </a:pPr>
            <a:r>
              <a:rPr lang="en-US" sz="850" b="1" dirty="0">
                <a:solidFill>
                  <a:srgbClr val="262626"/>
                </a:solidFill>
                <a:latin typeface="Times New Roman" panose="02020603050405020304" pitchFamily="18" charset="0"/>
                <a:ea typeface="Calibri" pitchFamily="34" charset="-122"/>
                <a:cs typeface="Times New Roman" panose="02020603050405020304" pitchFamily="18" charset="0"/>
              </a:rPr>
              <a:t>OpenCV</a:t>
            </a:r>
            <a:endParaRPr lang="en-US" sz="850" dirty="0">
              <a:latin typeface="Times New Roman" panose="02020603050405020304" pitchFamily="18" charset="0"/>
              <a:cs typeface="Times New Roman" panose="02020603050405020304" pitchFamily="18" charset="0"/>
            </a:endParaRPr>
          </a:p>
        </p:txBody>
      </p:sp>
      <p:sp>
        <p:nvSpPr>
          <p:cNvPr id="70" name="Text 57"/>
          <p:cNvSpPr/>
          <p:nvPr/>
        </p:nvSpPr>
        <p:spPr>
          <a:xfrm>
            <a:off x="2148840" y="6080760"/>
            <a:ext cx="1353312" cy="502920"/>
          </a:xfrm>
          <a:prstGeom prst="rect">
            <a:avLst/>
          </a:prstGeom>
          <a:noFill/>
          <a:ln/>
        </p:spPr>
        <p:txBody>
          <a:bodyPr wrap="square" lIns="0" tIns="0" rIns="0" bIns="0" rtlCol="0" anchor="t"/>
          <a:lstStyle/>
          <a:p>
            <a:pPr marL="0" indent="0" algn="l">
              <a:buNone/>
            </a:pPr>
            <a:r>
              <a:rPr lang="en-US" sz="700" dirty="0">
                <a:solidFill>
                  <a:srgbClr val="262626"/>
                </a:solidFill>
                <a:latin typeface="Times New Roman" panose="02020603050405020304" pitchFamily="18" charset="0"/>
                <a:ea typeface="Calibri" pitchFamily="34" charset="-122"/>
                <a:cs typeface="Times New Roman" panose="02020603050405020304" pitchFamily="18" charset="0"/>
              </a:rPr>
              <a:t>Video reading</a:t>
            </a:r>
            <a:endParaRPr lang="en-US" sz="700" dirty="0">
              <a:latin typeface="Times New Roman" panose="02020603050405020304" pitchFamily="18" charset="0"/>
              <a:cs typeface="Times New Roman" panose="02020603050405020304" pitchFamily="18" charset="0"/>
            </a:endParaRPr>
          </a:p>
          <a:p>
            <a:pPr marL="0" indent="0" algn="l">
              <a:buNone/>
            </a:pPr>
            <a:r>
              <a:rPr lang="en-US" sz="700" dirty="0">
                <a:solidFill>
                  <a:srgbClr val="262626"/>
                </a:solidFill>
                <a:latin typeface="Times New Roman" panose="02020603050405020304" pitchFamily="18" charset="0"/>
                <a:ea typeface="Calibri" pitchFamily="34" charset="-122"/>
                <a:cs typeface="Times New Roman" panose="02020603050405020304" pitchFamily="18" charset="0"/>
              </a:rPr>
              <a:t>Frame extraction</a:t>
            </a:r>
            <a:endParaRPr lang="en-US" sz="700" dirty="0">
              <a:latin typeface="Times New Roman" panose="02020603050405020304" pitchFamily="18" charset="0"/>
              <a:cs typeface="Times New Roman" panose="02020603050405020304" pitchFamily="18" charset="0"/>
            </a:endParaRPr>
          </a:p>
          <a:p>
            <a:pPr marL="0" indent="0" algn="l">
              <a:buNone/>
            </a:pPr>
            <a:r>
              <a:rPr lang="en-US" sz="700" dirty="0">
                <a:solidFill>
                  <a:srgbClr val="262626"/>
                </a:solidFill>
                <a:latin typeface="Times New Roman" panose="02020603050405020304" pitchFamily="18" charset="0"/>
                <a:ea typeface="Calibri" pitchFamily="34" charset="-122"/>
                <a:cs typeface="Times New Roman" panose="02020603050405020304" pitchFamily="18" charset="0"/>
              </a:rPr>
              <a:t>Image processing</a:t>
            </a:r>
            <a:endParaRPr lang="en-US" sz="700" dirty="0">
              <a:latin typeface="Times New Roman" panose="02020603050405020304" pitchFamily="18" charset="0"/>
              <a:cs typeface="Times New Roman" panose="02020603050405020304" pitchFamily="18" charset="0"/>
            </a:endParaRPr>
          </a:p>
        </p:txBody>
      </p:sp>
      <p:sp>
        <p:nvSpPr>
          <p:cNvPr id="71" name="Shape 58"/>
          <p:cNvSpPr/>
          <p:nvPr/>
        </p:nvSpPr>
        <p:spPr>
          <a:xfrm>
            <a:off x="3685032" y="5605272"/>
            <a:ext cx="1536192" cy="1051560"/>
          </a:xfrm>
          <a:prstGeom prst="roundRect">
            <a:avLst>
              <a:gd name="adj" fmla="val 4348"/>
            </a:avLst>
          </a:prstGeom>
          <a:solidFill>
            <a:srgbClr val="FFFFFF"/>
          </a:solidFill>
          <a:ln w="12700">
            <a:solidFill>
              <a:srgbClr val="1F4E79"/>
            </a:solidFill>
            <a:prstDash val="solid"/>
          </a:ln>
        </p:spPr>
      </p:sp>
      <p:pic>
        <p:nvPicPr>
          <p:cNvPr id="72" name="Image 11" descr="/home/claude/pptx_work/v_ffmpeg.png"/>
          <p:cNvPicPr>
            <a:picLocks noChangeAspect="1"/>
          </p:cNvPicPr>
          <p:nvPr/>
        </p:nvPicPr>
        <p:blipFill>
          <a:blip r:embed="rId14"/>
          <a:stretch>
            <a:fillRect/>
          </a:stretch>
        </p:blipFill>
        <p:spPr>
          <a:xfrm>
            <a:off x="3776472" y="5715000"/>
            <a:ext cx="365760" cy="365760"/>
          </a:xfrm>
          <a:prstGeom prst="rect">
            <a:avLst/>
          </a:prstGeom>
        </p:spPr>
      </p:pic>
      <p:sp>
        <p:nvSpPr>
          <p:cNvPr id="73" name="Text 59"/>
          <p:cNvSpPr/>
          <p:nvPr/>
        </p:nvSpPr>
        <p:spPr>
          <a:xfrm>
            <a:off x="4187952" y="5678424"/>
            <a:ext cx="941832" cy="274320"/>
          </a:xfrm>
          <a:prstGeom prst="rect">
            <a:avLst/>
          </a:prstGeom>
          <a:noFill/>
          <a:ln/>
        </p:spPr>
        <p:txBody>
          <a:bodyPr wrap="square" lIns="0" tIns="0" rIns="0" bIns="0" rtlCol="0" anchor="t"/>
          <a:lstStyle/>
          <a:p>
            <a:pPr marL="0" indent="0" algn="l">
              <a:buNone/>
            </a:pPr>
            <a:r>
              <a:rPr lang="en-US" sz="850" b="1" dirty="0">
                <a:solidFill>
                  <a:srgbClr val="262626"/>
                </a:solidFill>
                <a:latin typeface="Times New Roman" panose="02020603050405020304" pitchFamily="18" charset="0"/>
                <a:ea typeface="Calibri" pitchFamily="34" charset="-122"/>
                <a:cs typeface="Times New Roman" panose="02020603050405020304" pitchFamily="18" charset="0"/>
              </a:rPr>
              <a:t>FFmpeg</a:t>
            </a:r>
            <a:endParaRPr lang="en-US" sz="850" dirty="0">
              <a:latin typeface="Times New Roman" panose="02020603050405020304" pitchFamily="18" charset="0"/>
              <a:cs typeface="Times New Roman" panose="02020603050405020304" pitchFamily="18" charset="0"/>
            </a:endParaRPr>
          </a:p>
        </p:txBody>
      </p:sp>
      <p:sp>
        <p:nvSpPr>
          <p:cNvPr id="74" name="Text 60"/>
          <p:cNvSpPr/>
          <p:nvPr/>
        </p:nvSpPr>
        <p:spPr>
          <a:xfrm>
            <a:off x="4187952" y="5925312"/>
            <a:ext cx="941832" cy="182880"/>
          </a:xfrm>
          <a:prstGeom prst="rect">
            <a:avLst/>
          </a:prstGeom>
          <a:noFill/>
          <a:ln/>
        </p:spPr>
        <p:txBody>
          <a:bodyPr wrap="square" lIns="0" tIns="0" rIns="0" bIns="0" rtlCol="0" anchor="ctr"/>
          <a:lstStyle/>
          <a:p>
            <a:pPr marL="0" indent="0" algn="l">
              <a:buNone/>
            </a:pPr>
            <a:r>
              <a:rPr lang="en-US" sz="650" i="1" dirty="0">
                <a:solidFill>
                  <a:srgbClr val="595959"/>
                </a:solidFill>
                <a:latin typeface="Calibri" pitchFamily="34" charset="0"/>
                <a:ea typeface="Calibri" pitchFamily="34" charset="-122"/>
                <a:cs typeface="Calibri" pitchFamily="34" charset="-120"/>
              </a:rPr>
              <a:t>(Optional)</a:t>
            </a:r>
            <a:endParaRPr lang="en-US" sz="650" dirty="0"/>
          </a:p>
        </p:txBody>
      </p:sp>
      <p:sp>
        <p:nvSpPr>
          <p:cNvPr id="75" name="Text 61"/>
          <p:cNvSpPr/>
          <p:nvPr/>
        </p:nvSpPr>
        <p:spPr>
          <a:xfrm>
            <a:off x="3776472" y="6135624"/>
            <a:ext cx="1353312" cy="457200"/>
          </a:xfrm>
          <a:prstGeom prst="rect">
            <a:avLst/>
          </a:prstGeom>
          <a:noFill/>
          <a:ln/>
        </p:spPr>
        <p:txBody>
          <a:bodyPr wrap="square" lIns="0" tIns="0" rIns="0" bIns="0" rtlCol="0" anchor="t"/>
          <a:lstStyle/>
          <a:p>
            <a:pPr marL="0" indent="0" algn="l">
              <a:buNone/>
            </a:pPr>
            <a:r>
              <a:rPr lang="en-US" sz="700" dirty="0">
                <a:solidFill>
                  <a:srgbClr val="262626"/>
                </a:solidFill>
                <a:latin typeface="Times New Roman" panose="02020603050405020304" pitchFamily="18" charset="0"/>
                <a:ea typeface="Calibri" pitchFamily="34" charset="-122"/>
                <a:cs typeface="Times New Roman" panose="02020603050405020304" pitchFamily="18" charset="0"/>
              </a:rPr>
              <a:t>Video decoding</a:t>
            </a:r>
            <a:endParaRPr lang="en-US" sz="700" dirty="0">
              <a:latin typeface="Times New Roman" panose="02020603050405020304" pitchFamily="18" charset="0"/>
              <a:cs typeface="Times New Roman" panose="02020603050405020304" pitchFamily="18" charset="0"/>
            </a:endParaRPr>
          </a:p>
          <a:p>
            <a:pPr marL="0" indent="0" algn="l">
              <a:buNone/>
            </a:pPr>
            <a:r>
              <a:rPr lang="en-US" sz="700" dirty="0">
                <a:solidFill>
                  <a:srgbClr val="262626"/>
                </a:solidFill>
                <a:latin typeface="Times New Roman" panose="02020603050405020304" pitchFamily="18" charset="0"/>
                <a:ea typeface="Calibri" pitchFamily="34" charset="-122"/>
                <a:cs typeface="Times New Roman" panose="02020603050405020304" pitchFamily="18" charset="0"/>
              </a:rPr>
              <a:t>(format support)</a:t>
            </a:r>
            <a:endParaRPr lang="en-US" sz="700" dirty="0">
              <a:latin typeface="Times New Roman" panose="02020603050405020304" pitchFamily="18" charset="0"/>
              <a:cs typeface="Times New Roman" panose="02020603050405020304" pitchFamily="18" charset="0"/>
            </a:endParaRPr>
          </a:p>
        </p:txBody>
      </p:sp>
      <p:sp>
        <p:nvSpPr>
          <p:cNvPr id="76" name="Shape 62"/>
          <p:cNvSpPr/>
          <p:nvPr/>
        </p:nvSpPr>
        <p:spPr>
          <a:xfrm>
            <a:off x="5312664" y="5605272"/>
            <a:ext cx="1536192" cy="1051560"/>
          </a:xfrm>
          <a:prstGeom prst="roundRect">
            <a:avLst>
              <a:gd name="adj" fmla="val 4348"/>
            </a:avLst>
          </a:prstGeom>
          <a:solidFill>
            <a:srgbClr val="FFFFFF"/>
          </a:solidFill>
          <a:ln w="12700">
            <a:solidFill>
              <a:srgbClr val="1F4E79"/>
            </a:solidFill>
            <a:prstDash val="solid"/>
          </a:ln>
        </p:spPr>
      </p:sp>
      <p:pic>
        <p:nvPicPr>
          <p:cNvPr id="77" name="Image 12" descr="/home/claude/pptx_work/v_ui.png"/>
          <p:cNvPicPr>
            <a:picLocks noChangeAspect="1"/>
          </p:cNvPicPr>
          <p:nvPr/>
        </p:nvPicPr>
        <p:blipFill>
          <a:blip r:embed="rId15"/>
          <a:stretch>
            <a:fillRect/>
          </a:stretch>
        </p:blipFill>
        <p:spPr>
          <a:xfrm>
            <a:off x="5404104" y="5715000"/>
            <a:ext cx="365760" cy="365760"/>
          </a:xfrm>
          <a:prstGeom prst="rect">
            <a:avLst/>
          </a:prstGeom>
        </p:spPr>
      </p:pic>
      <p:sp>
        <p:nvSpPr>
          <p:cNvPr id="78" name="Text 63"/>
          <p:cNvSpPr/>
          <p:nvPr/>
        </p:nvSpPr>
        <p:spPr>
          <a:xfrm>
            <a:off x="5815584" y="5678424"/>
            <a:ext cx="941832" cy="274320"/>
          </a:xfrm>
          <a:prstGeom prst="rect">
            <a:avLst/>
          </a:prstGeom>
          <a:noFill/>
          <a:ln/>
        </p:spPr>
        <p:txBody>
          <a:bodyPr wrap="square" lIns="0" tIns="0" rIns="0" bIns="0" rtlCol="0" anchor="t"/>
          <a:lstStyle/>
          <a:p>
            <a:pPr marL="0" indent="0" algn="l">
              <a:buNone/>
            </a:pPr>
            <a:r>
              <a:rPr lang="en-US" sz="850" b="1" dirty="0">
                <a:solidFill>
                  <a:srgbClr val="262626"/>
                </a:solidFill>
                <a:latin typeface="Times New Roman" panose="02020603050405020304" pitchFamily="18" charset="0"/>
                <a:ea typeface="Calibri" pitchFamily="34" charset="-122"/>
                <a:cs typeface="Times New Roman" panose="02020603050405020304" pitchFamily="18" charset="0"/>
              </a:rPr>
              <a:t>ImgUI / Tkinter / PyQt</a:t>
            </a:r>
            <a:endParaRPr lang="en-US" sz="850" dirty="0">
              <a:latin typeface="Times New Roman" panose="02020603050405020304" pitchFamily="18" charset="0"/>
              <a:cs typeface="Times New Roman" panose="02020603050405020304" pitchFamily="18" charset="0"/>
            </a:endParaRPr>
          </a:p>
        </p:txBody>
      </p:sp>
      <p:sp>
        <p:nvSpPr>
          <p:cNvPr id="79" name="Text 64"/>
          <p:cNvSpPr/>
          <p:nvPr/>
        </p:nvSpPr>
        <p:spPr>
          <a:xfrm>
            <a:off x="5815584" y="5925312"/>
            <a:ext cx="941832" cy="182880"/>
          </a:xfrm>
          <a:prstGeom prst="rect">
            <a:avLst/>
          </a:prstGeom>
          <a:noFill/>
          <a:ln/>
        </p:spPr>
        <p:txBody>
          <a:bodyPr wrap="square" lIns="0" tIns="0" rIns="0" bIns="0" rtlCol="0" anchor="ctr"/>
          <a:lstStyle/>
          <a:p>
            <a:pPr marL="0" indent="0" algn="l">
              <a:buNone/>
            </a:pPr>
            <a:r>
              <a:rPr lang="en-US" sz="650" i="1" dirty="0">
                <a:solidFill>
                  <a:srgbClr val="595959"/>
                </a:solidFill>
                <a:latin typeface="Calibri" pitchFamily="34" charset="0"/>
                <a:ea typeface="Calibri" pitchFamily="34" charset="-122"/>
                <a:cs typeface="Calibri" pitchFamily="34" charset="-120"/>
              </a:rPr>
              <a:t>(Frontend UI)</a:t>
            </a:r>
            <a:endParaRPr lang="en-US" sz="650" dirty="0"/>
          </a:p>
        </p:txBody>
      </p:sp>
      <p:sp>
        <p:nvSpPr>
          <p:cNvPr id="80" name="Text 65"/>
          <p:cNvSpPr/>
          <p:nvPr/>
        </p:nvSpPr>
        <p:spPr>
          <a:xfrm>
            <a:off x="5404104" y="6135624"/>
            <a:ext cx="1353312" cy="457200"/>
          </a:xfrm>
          <a:prstGeom prst="rect">
            <a:avLst/>
          </a:prstGeom>
          <a:noFill/>
          <a:ln/>
        </p:spPr>
        <p:txBody>
          <a:bodyPr wrap="square" lIns="0" tIns="0" rIns="0" bIns="0" rtlCol="0" anchor="t"/>
          <a:lstStyle/>
          <a:p>
            <a:pPr marL="0" indent="0" algn="l">
              <a:buNone/>
            </a:pPr>
            <a:r>
              <a:rPr lang="en-US" sz="700" dirty="0">
                <a:solidFill>
                  <a:srgbClr val="262626"/>
                </a:solidFill>
                <a:latin typeface="Times New Roman" panose="02020603050405020304" pitchFamily="18" charset="0"/>
                <a:ea typeface="Calibri" pitchFamily="34" charset="-122"/>
                <a:cs typeface="Times New Roman" panose="02020603050405020304" pitchFamily="18" charset="0"/>
              </a:rPr>
              <a:t>User interface for</a:t>
            </a:r>
            <a:endParaRPr lang="en-US" sz="700" dirty="0">
              <a:latin typeface="Times New Roman" panose="02020603050405020304" pitchFamily="18" charset="0"/>
              <a:cs typeface="Times New Roman" panose="02020603050405020304" pitchFamily="18" charset="0"/>
            </a:endParaRPr>
          </a:p>
          <a:p>
            <a:pPr marL="0" indent="0" algn="l">
              <a:buNone/>
            </a:pPr>
            <a:r>
              <a:rPr lang="en-US" sz="700" dirty="0">
                <a:solidFill>
                  <a:srgbClr val="262626"/>
                </a:solidFill>
                <a:latin typeface="Times New Roman" panose="02020603050405020304" pitchFamily="18" charset="0"/>
                <a:ea typeface="Calibri" pitchFamily="34" charset="-122"/>
                <a:cs typeface="Times New Roman" panose="02020603050405020304" pitchFamily="18" charset="0"/>
              </a:rPr>
              <a:t>annotation &amp; controls</a:t>
            </a:r>
            <a:endParaRPr lang="en-US" sz="700" dirty="0">
              <a:latin typeface="Times New Roman" panose="02020603050405020304" pitchFamily="18" charset="0"/>
              <a:cs typeface="Times New Roman" panose="02020603050405020304" pitchFamily="18" charset="0"/>
            </a:endParaRPr>
          </a:p>
        </p:txBody>
      </p:sp>
      <p:sp>
        <p:nvSpPr>
          <p:cNvPr id="81" name="Shape 66"/>
          <p:cNvSpPr/>
          <p:nvPr/>
        </p:nvSpPr>
        <p:spPr>
          <a:xfrm>
            <a:off x="6940296" y="5605272"/>
            <a:ext cx="1536192" cy="1051560"/>
          </a:xfrm>
          <a:prstGeom prst="roundRect">
            <a:avLst>
              <a:gd name="adj" fmla="val 4348"/>
            </a:avLst>
          </a:prstGeom>
          <a:solidFill>
            <a:srgbClr val="FFFFFF"/>
          </a:solidFill>
          <a:ln w="12700">
            <a:solidFill>
              <a:srgbClr val="1F4E79"/>
            </a:solidFill>
            <a:prstDash val="solid"/>
          </a:ln>
        </p:spPr>
      </p:sp>
      <p:pic>
        <p:nvPicPr>
          <p:cNvPr id="82" name="Image 13" descr="/home/claude/pptx_work/v_numpy.png"/>
          <p:cNvPicPr>
            <a:picLocks noChangeAspect="1"/>
          </p:cNvPicPr>
          <p:nvPr/>
        </p:nvPicPr>
        <p:blipFill>
          <a:blip r:embed="rId16"/>
          <a:stretch>
            <a:fillRect/>
          </a:stretch>
        </p:blipFill>
        <p:spPr>
          <a:xfrm>
            <a:off x="7031736" y="5715000"/>
            <a:ext cx="365760" cy="365760"/>
          </a:xfrm>
          <a:prstGeom prst="rect">
            <a:avLst/>
          </a:prstGeom>
        </p:spPr>
      </p:pic>
      <p:sp>
        <p:nvSpPr>
          <p:cNvPr id="83" name="Text 67"/>
          <p:cNvSpPr/>
          <p:nvPr/>
        </p:nvSpPr>
        <p:spPr>
          <a:xfrm>
            <a:off x="7443216" y="5678424"/>
            <a:ext cx="941832" cy="274320"/>
          </a:xfrm>
          <a:prstGeom prst="rect">
            <a:avLst/>
          </a:prstGeom>
          <a:noFill/>
          <a:ln/>
        </p:spPr>
        <p:txBody>
          <a:bodyPr wrap="square" lIns="0" tIns="0" rIns="0" bIns="0" rtlCol="0" anchor="t"/>
          <a:lstStyle/>
          <a:p>
            <a:pPr marL="0" indent="0" algn="l">
              <a:buNone/>
            </a:pPr>
            <a:r>
              <a:rPr lang="en-US" sz="850" b="1" dirty="0">
                <a:solidFill>
                  <a:srgbClr val="262626"/>
                </a:solidFill>
                <a:latin typeface="Calibri" pitchFamily="34" charset="0"/>
                <a:ea typeface="Calibri" pitchFamily="34" charset="-122"/>
                <a:cs typeface="Calibri" pitchFamily="34" charset="-120"/>
              </a:rPr>
              <a:t>NumPy</a:t>
            </a:r>
            <a:endParaRPr lang="en-US" sz="850" dirty="0"/>
          </a:p>
        </p:txBody>
      </p:sp>
      <p:sp>
        <p:nvSpPr>
          <p:cNvPr id="84" name="Text 68"/>
          <p:cNvSpPr/>
          <p:nvPr/>
        </p:nvSpPr>
        <p:spPr>
          <a:xfrm>
            <a:off x="7031736" y="6080760"/>
            <a:ext cx="1353312" cy="502920"/>
          </a:xfrm>
          <a:prstGeom prst="rect">
            <a:avLst/>
          </a:prstGeom>
          <a:noFill/>
          <a:ln/>
        </p:spPr>
        <p:txBody>
          <a:bodyPr wrap="square" lIns="0" tIns="0" rIns="0" bIns="0" rtlCol="0" anchor="t"/>
          <a:lstStyle/>
          <a:p>
            <a:pPr marL="0" indent="0" algn="l">
              <a:buNone/>
            </a:pPr>
            <a:r>
              <a:rPr lang="en-US" sz="700" dirty="0">
                <a:solidFill>
                  <a:srgbClr val="262626"/>
                </a:solidFill>
                <a:latin typeface="Times New Roman" panose="02020603050405020304" pitchFamily="18" charset="0"/>
                <a:ea typeface="Calibri" pitchFamily="34" charset="-122"/>
                <a:cs typeface="Times New Roman" panose="02020603050405020304" pitchFamily="18" charset="0"/>
              </a:rPr>
              <a:t>Array operations</a:t>
            </a:r>
            <a:endParaRPr lang="en-US" sz="700" dirty="0">
              <a:latin typeface="Times New Roman" panose="02020603050405020304" pitchFamily="18" charset="0"/>
              <a:cs typeface="Times New Roman" panose="02020603050405020304" pitchFamily="18" charset="0"/>
            </a:endParaRPr>
          </a:p>
        </p:txBody>
      </p:sp>
      <p:sp>
        <p:nvSpPr>
          <p:cNvPr id="85" name="Shape 69"/>
          <p:cNvSpPr/>
          <p:nvPr/>
        </p:nvSpPr>
        <p:spPr>
          <a:xfrm>
            <a:off x="8567928" y="5605272"/>
            <a:ext cx="1536192" cy="1051560"/>
          </a:xfrm>
          <a:prstGeom prst="roundRect">
            <a:avLst>
              <a:gd name="adj" fmla="val 4348"/>
            </a:avLst>
          </a:prstGeom>
          <a:solidFill>
            <a:srgbClr val="FFFFFF"/>
          </a:solidFill>
          <a:ln w="12700">
            <a:solidFill>
              <a:srgbClr val="1F4E79"/>
            </a:solidFill>
            <a:prstDash val="solid"/>
          </a:ln>
        </p:spPr>
      </p:sp>
      <p:pic>
        <p:nvPicPr>
          <p:cNvPr id="86" name="Image 14" descr="/home/claude/pptx_work/v_pandas.png"/>
          <p:cNvPicPr>
            <a:picLocks noChangeAspect="1"/>
          </p:cNvPicPr>
          <p:nvPr/>
        </p:nvPicPr>
        <p:blipFill>
          <a:blip r:embed="rId17"/>
          <a:stretch>
            <a:fillRect/>
          </a:stretch>
        </p:blipFill>
        <p:spPr>
          <a:xfrm>
            <a:off x="8659368" y="5715000"/>
            <a:ext cx="365760" cy="365760"/>
          </a:xfrm>
          <a:prstGeom prst="rect">
            <a:avLst/>
          </a:prstGeom>
        </p:spPr>
      </p:pic>
      <p:sp>
        <p:nvSpPr>
          <p:cNvPr id="87" name="Text 70"/>
          <p:cNvSpPr/>
          <p:nvPr/>
        </p:nvSpPr>
        <p:spPr>
          <a:xfrm>
            <a:off x="9070848" y="5678424"/>
            <a:ext cx="941832" cy="274320"/>
          </a:xfrm>
          <a:prstGeom prst="rect">
            <a:avLst/>
          </a:prstGeom>
          <a:noFill/>
          <a:ln/>
        </p:spPr>
        <p:txBody>
          <a:bodyPr wrap="square" lIns="0" tIns="0" rIns="0" bIns="0" rtlCol="0" anchor="t"/>
          <a:lstStyle/>
          <a:p>
            <a:pPr marL="0" indent="0" algn="l">
              <a:buNone/>
            </a:pPr>
            <a:r>
              <a:rPr lang="en-US" sz="850" b="1" dirty="0">
                <a:solidFill>
                  <a:srgbClr val="262626"/>
                </a:solidFill>
                <a:latin typeface="Times New Roman" panose="02020603050405020304" pitchFamily="18" charset="0"/>
                <a:ea typeface="Calibri" pitchFamily="34" charset="-122"/>
                <a:cs typeface="Times New Roman" panose="02020603050405020304" pitchFamily="18" charset="0"/>
              </a:rPr>
              <a:t>Pandas</a:t>
            </a:r>
            <a:endParaRPr lang="en-US" sz="850" dirty="0">
              <a:latin typeface="Times New Roman" panose="02020603050405020304" pitchFamily="18" charset="0"/>
              <a:cs typeface="Times New Roman" panose="02020603050405020304" pitchFamily="18" charset="0"/>
            </a:endParaRPr>
          </a:p>
        </p:txBody>
      </p:sp>
      <p:sp>
        <p:nvSpPr>
          <p:cNvPr id="88" name="Text 71"/>
          <p:cNvSpPr/>
          <p:nvPr/>
        </p:nvSpPr>
        <p:spPr>
          <a:xfrm>
            <a:off x="8659368" y="6080760"/>
            <a:ext cx="1353312" cy="502920"/>
          </a:xfrm>
          <a:prstGeom prst="rect">
            <a:avLst/>
          </a:prstGeom>
          <a:noFill/>
          <a:ln/>
        </p:spPr>
        <p:txBody>
          <a:bodyPr wrap="square" lIns="0" tIns="0" rIns="0" bIns="0" rtlCol="0" anchor="t"/>
          <a:lstStyle/>
          <a:p>
            <a:pPr marL="0" indent="0" algn="l">
              <a:buNone/>
            </a:pPr>
            <a:r>
              <a:rPr lang="en-US" sz="700" dirty="0">
                <a:solidFill>
                  <a:srgbClr val="262626"/>
                </a:solidFill>
                <a:latin typeface="Times New Roman" panose="02020603050405020304" pitchFamily="18" charset="0"/>
                <a:ea typeface="Calibri" pitchFamily="34" charset="-122"/>
                <a:cs typeface="Times New Roman" panose="02020603050405020304" pitchFamily="18" charset="0"/>
              </a:rPr>
              <a:t>Data handling</a:t>
            </a:r>
            <a:endParaRPr lang="en-US" sz="700" dirty="0">
              <a:latin typeface="Times New Roman" panose="02020603050405020304" pitchFamily="18" charset="0"/>
              <a:cs typeface="Times New Roman" panose="02020603050405020304" pitchFamily="18" charset="0"/>
            </a:endParaRPr>
          </a:p>
          <a:p>
            <a:pPr marL="0" indent="0" algn="l">
              <a:buNone/>
            </a:pPr>
            <a:r>
              <a:rPr lang="en-US" sz="700" dirty="0">
                <a:solidFill>
                  <a:srgbClr val="262626"/>
                </a:solidFill>
                <a:latin typeface="Times New Roman" panose="02020603050405020304" pitchFamily="18" charset="0"/>
                <a:ea typeface="Calibri" pitchFamily="34" charset="-122"/>
                <a:cs typeface="Times New Roman" panose="02020603050405020304" pitchFamily="18" charset="0"/>
              </a:rPr>
              <a:t>(annotations)</a:t>
            </a:r>
            <a:endParaRPr lang="en-US" sz="700" dirty="0">
              <a:latin typeface="Times New Roman" panose="02020603050405020304" pitchFamily="18" charset="0"/>
              <a:cs typeface="Times New Roman" panose="02020603050405020304" pitchFamily="18" charset="0"/>
            </a:endParaRPr>
          </a:p>
        </p:txBody>
      </p:sp>
      <p:sp>
        <p:nvSpPr>
          <p:cNvPr id="89" name="Shape 72"/>
          <p:cNvSpPr/>
          <p:nvPr/>
        </p:nvSpPr>
        <p:spPr>
          <a:xfrm>
            <a:off x="3200400" y="5056632"/>
            <a:ext cx="914" cy="164592"/>
          </a:xfrm>
          <a:prstGeom prst="line">
            <a:avLst/>
          </a:prstGeom>
          <a:noFill/>
          <a:ln w="12700">
            <a:solidFill>
              <a:srgbClr val="595959"/>
            </a:solidFill>
            <a:prstDash val="dash"/>
            <a:headEnd type="triangle"/>
            <a:tailEnd type="triangle"/>
          </a:ln>
        </p:spPr>
      </p:sp>
      <p:sp>
        <p:nvSpPr>
          <p:cNvPr id="90" name="Shape 73"/>
          <p:cNvSpPr/>
          <p:nvPr/>
        </p:nvSpPr>
        <p:spPr>
          <a:xfrm>
            <a:off x="4709160" y="5056632"/>
            <a:ext cx="914" cy="164592"/>
          </a:xfrm>
          <a:prstGeom prst="line">
            <a:avLst/>
          </a:prstGeom>
          <a:noFill/>
          <a:ln w="12700">
            <a:solidFill>
              <a:srgbClr val="595959"/>
            </a:solidFill>
            <a:prstDash val="dash"/>
            <a:headEnd type="triangle"/>
            <a:tailEnd type="triangle"/>
          </a:ln>
        </p:spPr>
      </p:sp>
      <p:sp>
        <p:nvSpPr>
          <p:cNvPr id="91" name="Shape 74"/>
          <p:cNvSpPr/>
          <p:nvPr/>
        </p:nvSpPr>
        <p:spPr>
          <a:xfrm>
            <a:off x="6217920" y="5056632"/>
            <a:ext cx="914" cy="164592"/>
          </a:xfrm>
          <a:prstGeom prst="line">
            <a:avLst/>
          </a:prstGeom>
          <a:noFill/>
          <a:ln w="12700">
            <a:solidFill>
              <a:srgbClr val="595959"/>
            </a:solidFill>
            <a:prstDash val="dash"/>
            <a:headEnd type="triangle"/>
            <a:tailEnd type="triangle"/>
          </a:ln>
        </p:spPr>
      </p:sp>
      <p:sp>
        <p:nvSpPr>
          <p:cNvPr id="92" name="Shape 75"/>
          <p:cNvSpPr/>
          <p:nvPr/>
        </p:nvSpPr>
        <p:spPr>
          <a:xfrm>
            <a:off x="7726680" y="5056632"/>
            <a:ext cx="914" cy="164592"/>
          </a:xfrm>
          <a:prstGeom prst="line">
            <a:avLst/>
          </a:prstGeom>
          <a:noFill/>
          <a:ln w="12700">
            <a:solidFill>
              <a:srgbClr val="595959"/>
            </a:solidFill>
            <a:prstDash val="dash"/>
            <a:headEnd type="triangle"/>
            <a:tailEnd type="triangle"/>
          </a:ln>
        </p:spPr>
      </p:sp>
      <p:sp>
        <p:nvSpPr>
          <p:cNvPr id="93" name="Shape 76"/>
          <p:cNvSpPr/>
          <p:nvPr/>
        </p:nvSpPr>
        <p:spPr>
          <a:xfrm>
            <a:off x="9235440" y="5056632"/>
            <a:ext cx="914" cy="164592"/>
          </a:xfrm>
          <a:prstGeom prst="line">
            <a:avLst/>
          </a:prstGeom>
          <a:noFill/>
          <a:ln w="12700">
            <a:solidFill>
              <a:srgbClr val="595959"/>
            </a:solidFill>
            <a:prstDash val="dash"/>
            <a:headEnd type="triangle"/>
            <a:tailEnd type="triangle"/>
          </a:ln>
        </p:spPr>
      </p:sp>
      <p:sp>
        <p:nvSpPr>
          <p:cNvPr id="94" name="Shape 77"/>
          <p:cNvSpPr/>
          <p:nvPr/>
        </p:nvSpPr>
        <p:spPr>
          <a:xfrm>
            <a:off x="10378440" y="5221224"/>
            <a:ext cx="1673352" cy="1508760"/>
          </a:xfrm>
          <a:prstGeom prst="roundRect">
            <a:avLst>
              <a:gd name="adj" fmla="val 3636"/>
            </a:avLst>
          </a:prstGeom>
          <a:solidFill>
            <a:srgbClr val="FFFFFF"/>
          </a:solidFill>
          <a:ln w="12700">
            <a:solidFill>
              <a:srgbClr val="A6A6A6"/>
            </a:solidFill>
            <a:prstDash val="solid"/>
          </a:ln>
        </p:spPr>
      </p:sp>
      <p:sp>
        <p:nvSpPr>
          <p:cNvPr id="95" name="Text 78"/>
          <p:cNvSpPr/>
          <p:nvPr/>
        </p:nvSpPr>
        <p:spPr>
          <a:xfrm>
            <a:off x="10378440" y="5276088"/>
            <a:ext cx="1673352" cy="228600"/>
          </a:xfrm>
          <a:prstGeom prst="rect">
            <a:avLst/>
          </a:prstGeom>
          <a:noFill/>
          <a:ln/>
        </p:spPr>
        <p:txBody>
          <a:bodyPr wrap="square" lIns="0" tIns="0" rIns="0" bIns="0" rtlCol="0" anchor="ctr"/>
          <a:lstStyle/>
          <a:p>
            <a:pPr marL="0" indent="0" algn="ctr">
              <a:buNone/>
            </a:pPr>
            <a:r>
              <a:rPr lang="en-US" sz="1000" b="1" dirty="0">
                <a:solidFill>
                  <a:srgbClr val="262626"/>
                </a:solidFill>
                <a:latin typeface="Times New Roman" panose="02020603050405020304" pitchFamily="18" charset="0"/>
                <a:ea typeface="Calibri" pitchFamily="34" charset="-122"/>
                <a:cs typeface="Times New Roman" panose="02020603050405020304" pitchFamily="18" charset="0"/>
              </a:rPr>
              <a:t>Legend</a:t>
            </a:r>
            <a:endParaRPr lang="en-US" sz="1000" dirty="0">
              <a:latin typeface="Times New Roman" panose="02020603050405020304" pitchFamily="18" charset="0"/>
              <a:cs typeface="Times New Roman" panose="02020603050405020304" pitchFamily="18" charset="0"/>
            </a:endParaRPr>
          </a:p>
        </p:txBody>
      </p:sp>
      <p:sp>
        <p:nvSpPr>
          <p:cNvPr id="96" name="Shape 79"/>
          <p:cNvSpPr/>
          <p:nvPr/>
        </p:nvSpPr>
        <p:spPr>
          <a:xfrm>
            <a:off x="10488168" y="5623560"/>
            <a:ext cx="292608" cy="914"/>
          </a:xfrm>
          <a:prstGeom prst="line">
            <a:avLst/>
          </a:prstGeom>
          <a:noFill/>
          <a:ln w="15875">
            <a:solidFill>
              <a:srgbClr val="595959"/>
            </a:solidFill>
            <a:prstDash val="solid"/>
            <a:tailEnd type="triangle"/>
          </a:ln>
        </p:spPr>
      </p:sp>
      <p:sp>
        <p:nvSpPr>
          <p:cNvPr id="97" name="Text 80"/>
          <p:cNvSpPr/>
          <p:nvPr/>
        </p:nvSpPr>
        <p:spPr>
          <a:xfrm>
            <a:off x="10881360" y="5532120"/>
            <a:ext cx="1124712" cy="201168"/>
          </a:xfrm>
          <a:prstGeom prst="rect">
            <a:avLst/>
          </a:prstGeom>
          <a:noFill/>
          <a:ln/>
        </p:spPr>
        <p:txBody>
          <a:bodyPr wrap="square" lIns="0" tIns="0" rIns="0" bIns="0" rtlCol="0" anchor="ctr"/>
          <a:lstStyle/>
          <a:p>
            <a:pPr marL="0" indent="0" algn="l">
              <a:buNone/>
            </a:pPr>
            <a:r>
              <a:rPr lang="en-US" sz="730" dirty="0">
                <a:solidFill>
                  <a:srgbClr val="262626"/>
                </a:solidFill>
                <a:latin typeface="Times New Roman" panose="02020603050405020304" pitchFamily="18" charset="0"/>
                <a:ea typeface="Calibri" pitchFamily="34" charset="-122"/>
                <a:cs typeface="Times New Roman" panose="02020603050405020304" pitchFamily="18" charset="0"/>
              </a:rPr>
              <a:t>Data Flow</a:t>
            </a:r>
            <a:endParaRPr lang="en-US" sz="730" dirty="0">
              <a:latin typeface="Times New Roman" panose="02020603050405020304" pitchFamily="18" charset="0"/>
              <a:cs typeface="Times New Roman" panose="02020603050405020304" pitchFamily="18" charset="0"/>
            </a:endParaRPr>
          </a:p>
        </p:txBody>
      </p:sp>
      <p:sp>
        <p:nvSpPr>
          <p:cNvPr id="98" name="Shape 81"/>
          <p:cNvSpPr/>
          <p:nvPr/>
        </p:nvSpPr>
        <p:spPr>
          <a:xfrm>
            <a:off x="10488168" y="5861304"/>
            <a:ext cx="292608" cy="914"/>
          </a:xfrm>
          <a:prstGeom prst="line">
            <a:avLst/>
          </a:prstGeom>
          <a:noFill/>
          <a:ln w="15875">
            <a:solidFill>
              <a:srgbClr val="595959"/>
            </a:solidFill>
            <a:prstDash val="dash"/>
            <a:tailEnd type="triangle"/>
          </a:ln>
        </p:spPr>
      </p:sp>
      <p:sp>
        <p:nvSpPr>
          <p:cNvPr id="99" name="Text 82"/>
          <p:cNvSpPr/>
          <p:nvPr/>
        </p:nvSpPr>
        <p:spPr>
          <a:xfrm>
            <a:off x="10881360" y="5769864"/>
            <a:ext cx="1124712" cy="201168"/>
          </a:xfrm>
          <a:prstGeom prst="rect">
            <a:avLst/>
          </a:prstGeom>
          <a:noFill/>
          <a:ln/>
        </p:spPr>
        <p:txBody>
          <a:bodyPr wrap="square" lIns="0" tIns="0" rIns="0" bIns="0" rtlCol="0" anchor="ctr"/>
          <a:lstStyle/>
          <a:p>
            <a:pPr marL="0" indent="0" algn="l">
              <a:buNone/>
            </a:pPr>
            <a:r>
              <a:rPr lang="en-US" sz="730" dirty="0">
                <a:solidFill>
                  <a:srgbClr val="262626"/>
                </a:solidFill>
                <a:latin typeface="Times New Roman" panose="02020603050405020304" pitchFamily="18" charset="0"/>
                <a:ea typeface="Calibri" pitchFamily="34" charset="-122"/>
                <a:cs typeface="Times New Roman" panose="02020603050405020304" pitchFamily="18" charset="0"/>
              </a:rPr>
              <a:t>Service/Dependency</a:t>
            </a:r>
            <a:endParaRPr lang="en-US" sz="730" dirty="0">
              <a:latin typeface="Times New Roman" panose="02020603050405020304" pitchFamily="18" charset="0"/>
              <a:cs typeface="Times New Roman" panose="02020603050405020304" pitchFamily="18" charset="0"/>
            </a:endParaRPr>
          </a:p>
        </p:txBody>
      </p:sp>
      <p:sp>
        <p:nvSpPr>
          <p:cNvPr id="100" name="Shape 83"/>
          <p:cNvSpPr/>
          <p:nvPr/>
        </p:nvSpPr>
        <p:spPr>
          <a:xfrm>
            <a:off x="10488168" y="6025896"/>
            <a:ext cx="292608" cy="182880"/>
          </a:xfrm>
          <a:prstGeom prst="rect">
            <a:avLst/>
          </a:prstGeom>
          <a:solidFill>
            <a:srgbClr val="FFFFFF"/>
          </a:solidFill>
          <a:ln w="12700">
            <a:solidFill>
              <a:srgbClr val="1F4E79"/>
            </a:solidFill>
            <a:prstDash val="solid"/>
          </a:ln>
        </p:spPr>
      </p:sp>
      <p:sp>
        <p:nvSpPr>
          <p:cNvPr id="101" name="Text 84"/>
          <p:cNvSpPr/>
          <p:nvPr/>
        </p:nvSpPr>
        <p:spPr>
          <a:xfrm>
            <a:off x="10881360" y="6025896"/>
            <a:ext cx="1124712" cy="201168"/>
          </a:xfrm>
          <a:prstGeom prst="rect">
            <a:avLst/>
          </a:prstGeom>
          <a:noFill/>
          <a:ln/>
        </p:spPr>
        <p:txBody>
          <a:bodyPr wrap="square" lIns="0" tIns="0" rIns="0" bIns="0" rtlCol="0" anchor="ctr"/>
          <a:lstStyle/>
          <a:p>
            <a:pPr marL="0" indent="0" algn="l">
              <a:buNone/>
            </a:pPr>
            <a:r>
              <a:rPr lang="en-US" sz="730" dirty="0">
                <a:solidFill>
                  <a:srgbClr val="262626"/>
                </a:solidFill>
                <a:latin typeface="Times New Roman" panose="02020603050405020304" pitchFamily="18" charset="0"/>
                <a:ea typeface="Calibri" pitchFamily="34" charset="-122"/>
                <a:cs typeface="Times New Roman" panose="02020603050405020304" pitchFamily="18" charset="0"/>
              </a:rPr>
              <a:t>Module</a:t>
            </a:r>
            <a:endParaRPr lang="en-US" sz="730" dirty="0">
              <a:latin typeface="Times New Roman" panose="02020603050405020304" pitchFamily="18" charset="0"/>
              <a:cs typeface="Times New Roman" panose="02020603050405020304" pitchFamily="18" charset="0"/>
            </a:endParaRPr>
          </a:p>
        </p:txBody>
      </p:sp>
      <p:pic>
        <p:nvPicPr>
          <p:cNvPr id="102" name="Image 15" descr="/home/claude/pptx_work/v_db_blue.png"/>
          <p:cNvPicPr>
            <a:picLocks noChangeAspect="1"/>
          </p:cNvPicPr>
          <p:nvPr/>
        </p:nvPicPr>
        <p:blipFill>
          <a:blip r:embed="rId10"/>
          <a:stretch>
            <a:fillRect/>
          </a:stretch>
        </p:blipFill>
        <p:spPr>
          <a:xfrm>
            <a:off x="10543032" y="6245352"/>
            <a:ext cx="182880" cy="182880"/>
          </a:xfrm>
          <a:prstGeom prst="rect">
            <a:avLst/>
          </a:prstGeom>
        </p:spPr>
      </p:pic>
      <p:sp>
        <p:nvSpPr>
          <p:cNvPr id="103" name="Text 85"/>
          <p:cNvSpPr/>
          <p:nvPr/>
        </p:nvSpPr>
        <p:spPr>
          <a:xfrm>
            <a:off x="10881360" y="6300216"/>
            <a:ext cx="1124712" cy="201168"/>
          </a:xfrm>
          <a:prstGeom prst="rect">
            <a:avLst/>
          </a:prstGeom>
          <a:noFill/>
          <a:ln/>
        </p:spPr>
        <p:txBody>
          <a:bodyPr wrap="square" lIns="0" tIns="0" rIns="0" bIns="0" rtlCol="0" anchor="ctr"/>
          <a:lstStyle/>
          <a:p>
            <a:pPr marL="0" indent="0" algn="l">
              <a:buNone/>
            </a:pPr>
            <a:r>
              <a:rPr lang="en-US" sz="730" dirty="0">
                <a:solidFill>
                  <a:srgbClr val="262626"/>
                </a:solidFill>
                <a:latin typeface="Times New Roman" panose="02020603050405020304" pitchFamily="18" charset="0"/>
                <a:ea typeface="Calibri" pitchFamily="34" charset="-122"/>
                <a:cs typeface="Times New Roman" panose="02020603050405020304" pitchFamily="18" charset="0"/>
              </a:rPr>
              <a:t>Data Store</a:t>
            </a:r>
            <a:endParaRPr lang="en-US" sz="73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B40833-8464-869C-B442-4974F3B1D2CE}"/>
              </a:ext>
            </a:extLst>
          </p:cNvPr>
          <p:cNvSpPr txBox="1"/>
          <p:nvPr/>
        </p:nvSpPr>
        <p:spPr>
          <a:xfrm>
            <a:off x="820947" y="1768414"/>
            <a:ext cx="10550106" cy="5028556"/>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The Video-to-Frames Extraction and Annotation Tool is designed to simplify the process of converting video data into structured image datasets for computer vision and machine learning applications. The system accepts video files as input and automatically extracts individual frames based on configurable parameters such as frame rate or time interval. Extracted frames can then be organized, filtered, viewed, and manually annotated with labels, bounding boxes, points, or polygons.</a:t>
            </a:r>
          </a:p>
          <a:p>
            <a:pPr algn="just">
              <a:lnSpc>
                <a:spcPct val="150000"/>
              </a:lnSpc>
            </a:pPr>
            <a:r>
              <a:rPr lang="en-IN" dirty="0">
                <a:latin typeface="Times New Roman" panose="02020603050405020304" pitchFamily="18" charset="0"/>
                <a:cs typeface="Times New Roman" panose="02020603050405020304" pitchFamily="18" charset="0"/>
              </a:rPr>
              <a:t>The tool provides an integrated workflow for video processing, frame management, annotation, and dataset export. OpenCV can be used for video reading and frame extraction, while libraries such as NumPy and Pandas support image and annotation data handling. Annotations can be stored in commonly used formats such as JSON, XML, or CSV, allowing the generated dataset to be used for object detection, image classification, tracking, and other computer vision tasks. The proposed system reduces repetitive manual work, improves dataset organization, and provides a practical pipeline for transforming raw video into machine-learning-ready annotated data.</a:t>
            </a:r>
          </a:p>
        </p:txBody>
      </p:sp>
      <p:pic>
        <p:nvPicPr>
          <p:cNvPr id="4" name="Picture 1">
            <a:extLst>
              <a:ext uri="{FF2B5EF4-FFF2-40B4-BE49-F238E27FC236}">
                <a16:creationId xmlns:a16="http://schemas.microsoft.com/office/drawing/2014/main" id="{421A6536-2E6C-EAB5-E613-D218A7863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545" y="61030"/>
            <a:ext cx="10396268" cy="1199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0912F61-E4C9-F6AB-C823-7C5F628079F1}"/>
              </a:ext>
            </a:extLst>
          </p:cNvPr>
          <p:cNvSpPr txBox="1"/>
          <p:nvPr/>
        </p:nvSpPr>
        <p:spPr>
          <a:xfrm>
            <a:off x="4973848" y="1277620"/>
            <a:ext cx="4865298"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6218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499</Words>
  <Application>Microsoft Office PowerPoint</Application>
  <PresentationFormat>Widescreen</PresentationFormat>
  <Paragraphs>107</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Times New Roman</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yashu reddy</cp:lastModifiedBy>
  <cp:revision>2</cp:revision>
  <dcterms:created xsi:type="dcterms:W3CDTF">2026-08-22T03:29:26Z</dcterms:created>
  <dcterms:modified xsi:type="dcterms:W3CDTF">2026-08-22T03:41:24Z</dcterms:modified>
</cp:coreProperties>
</file>