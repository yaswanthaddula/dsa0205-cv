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7" r:id="rId2"/>
    <p:sldId id="258" r:id="rId3"/>
    <p:sldId id="256" r:id="rId4"/>
    <p:sldId id="259" r:id="rId5"/>
  </p:sldIdLst>
  <p:sldSz cx="13990638" cy="9921875"/>
  <p:notesSz cx="9921875" cy="13990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9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013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4CC5A-2AD3-3B45-A879-F0F235157443}"/>
              </a:ext>
            </a:extLst>
          </p:cNvPr>
          <p:cNvSpPr txBox="1"/>
          <p:nvPr/>
        </p:nvSpPr>
        <p:spPr>
          <a:xfrm>
            <a:off x="1715599" y="2546029"/>
            <a:ext cx="10559440" cy="3170099"/>
          </a:xfrm>
          <a:prstGeom prst="rect">
            <a:avLst/>
          </a:prstGeom>
          <a:noFill/>
        </p:spPr>
        <p:txBody>
          <a:bodyPr wrap="square">
            <a:spAutoFit/>
          </a:bodyPr>
          <a:lstStyle/>
          <a:p>
            <a:pPr algn="ctr"/>
            <a:r>
              <a:rPr lang="en-IN" sz="4000" b="1" dirty="0">
                <a:latin typeface="Times New Roman" panose="02020603050405020304" pitchFamily="18" charset="0"/>
                <a:ea typeface="Tahoma" panose="020B0604030504040204" pitchFamily="34" charset="0"/>
                <a:cs typeface="Times New Roman" panose="02020603050405020304" pitchFamily="18" charset="0"/>
              </a:rPr>
              <a:t> Enhancing a Backlit Portrait Photograph</a:t>
            </a:r>
          </a:p>
          <a:p>
            <a:pPr algn="ctr"/>
            <a:endParaRPr lang="en-IN" sz="4000" b="1"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DSA0205-Computer Vision with Open CV</a:t>
            </a:r>
          </a:p>
          <a:p>
            <a:pPr algn="ctr"/>
            <a:endParaRPr lang="en-IN" sz="3000"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Guided By</a:t>
            </a:r>
          </a:p>
          <a:p>
            <a:pPr algn="ctr"/>
            <a:r>
              <a:rPr lang="en-IN" sz="3000" dirty="0">
                <a:latin typeface="Times New Roman" panose="02020603050405020304" pitchFamily="18" charset="0"/>
                <a:ea typeface="Tahoma" panose="020B0604030504040204" pitchFamily="34" charset="0"/>
                <a:cs typeface="Times New Roman" panose="02020603050405020304" pitchFamily="18" charset="0"/>
              </a:rPr>
              <a:t>Dr. Narenthira Kumar A</a:t>
            </a:r>
            <a:endParaRPr lang="en-US" sz="3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1">
            <a:extLst>
              <a:ext uri="{FF2B5EF4-FFF2-40B4-BE49-F238E27FC236}">
                <a16:creationId xmlns:a16="http://schemas.microsoft.com/office/drawing/2014/main" id="{49D8E52A-0601-D530-9726-6A3B9C71D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27696B6-BA1C-6C0D-4AD0-3CCBB247F99C}"/>
              </a:ext>
            </a:extLst>
          </p:cNvPr>
          <p:cNvSpPr txBox="1"/>
          <p:nvPr/>
        </p:nvSpPr>
        <p:spPr>
          <a:xfrm>
            <a:off x="9848589" y="7375845"/>
            <a:ext cx="6995786" cy="646331"/>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Name: A. Yaswanth</a:t>
            </a:r>
          </a:p>
          <a:p>
            <a:r>
              <a:rPr lang="en-IN" sz="1800" b="1" dirty="0" err="1">
                <a:latin typeface="Times New Roman" panose="02020603050405020304" pitchFamily="18" charset="0"/>
                <a:cs typeface="Times New Roman" panose="02020603050405020304" pitchFamily="18" charset="0"/>
              </a:rPr>
              <a:t>Reg.No</a:t>
            </a:r>
            <a:r>
              <a:rPr lang="en-IN" sz="1800" b="1" dirty="0">
                <a:latin typeface="Times New Roman" panose="02020603050405020304" pitchFamily="18" charset="0"/>
                <a:cs typeface="Times New Roman" panose="02020603050405020304" pitchFamily="18" charset="0"/>
              </a:rPr>
              <a:t>: 192324179</a:t>
            </a:r>
          </a:p>
        </p:txBody>
      </p:sp>
    </p:spTree>
    <p:extLst>
      <p:ext uri="{BB962C8B-B14F-4D97-AF65-F5344CB8AC3E}">
        <p14:creationId xmlns:p14="http://schemas.microsoft.com/office/powerpoint/2010/main" val="3134112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44741C69-0B1C-C97F-BEFC-B6C3CC8E8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4F335A1-7406-8543-F21A-198002B7966D}"/>
              </a:ext>
            </a:extLst>
          </p:cNvPr>
          <p:cNvSpPr txBox="1"/>
          <p:nvPr/>
        </p:nvSpPr>
        <p:spPr>
          <a:xfrm>
            <a:off x="5605398" y="1825834"/>
            <a:ext cx="6995786"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Abstract</a:t>
            </a:r>
          </a:p>
        </p:txBody>
      </p:sp>
      <p:sp>
        <p:nvSpPr>
          <p:cNvPr id="11" name="TextBox 10">
            <a:extLst>
              <a:ext uri="{FF2B5EF4-FFF2-40B4-BE49-F238E27FC236}">
                <a16:creationId xmlns:a16="http://schemas.microsoft.com/office/drawing/2014/main" id="{D3AD5419-BF0F-B0D9-8919-872E725BAC99}"/>
              </a:ext>
            </a:extLst>
          </p:cNvPr>
          <p:cNvSpPr txBox="1"/>
          <p:nvPr/>
        </p:nvSpPr>
        <p:spPr>
          <a:xfrm>
            <a:off x="676406" y="2672880"/>
            <a:ext cx="12626235" cy="6673943"/>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Backlit portrait photographs often suffer from poor visibility because the light source is positioned behind the subject, causing the face to appear dark while the background appears overly bright. This project proposes an automated image enhancement system to improve the quality of backlit portrait images using digital image processing techniques. The system performs image preprocessing,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lighting conditions and shadow regions, and applies enhancement methods such as Contrast Limited Adaptive Histogram Equalization (CLAHE), Gamma Correction, White Balance, Contrast Enhancement, and Brightness Adjustment to restore facial details while preserving natural </a:t>
            </a:r>
            <a:r>
              <a:rPr lang="en-IN" sz="2400" dirty="0" err="1">
                <a:latin typeface="Times New Roman" panose="02020603050405020304" pitchFamily="18" charset="0"/>
                <a:cs typeface="Times New Roman" panose="02020603050405020304" pitchFamily="18" charset="0"/>
              </a:rPr>
              <a:t>colors</a:t>
            </a:r>
            <a:r>
              <a:rPr lang="en-IN" sz="2400" dirty="0">
                <a:latin typeface="Times New Roman" panose="02020603050405020304" pitchFamily="18" charset="0"/>
                <a:cs typeface="Times New Roman" panose="02020603050405020304" pitchFamily="18" charset="0"/>
              </a:rPr>
              <a:t> and background quality. The enhanced image is evaluated using image quality metrics such as PSNR and SSIM to measure the effectiveness of the enhancement. The proposed system, implemented using Python and OpenCV, provides an efficient solution for producing clear, balanced, and visually appealing portrait photographs, making it suitable for applications in mobile photography, photo editing, surveillance, and digital imaging.</a:t>
            </a:r>
          </a:p>
        </p:txBody>
      </p:sp>
    </p:spTree>
    <p:extLst>
      <p:ext uri="{BB962C8B-B14F-4D97-AF65-F5344CB8AC3E}">
        <p14:creationId xmlns:p14="http://schemas.microsoft.com/office/powerpoint/2010/main" val="39164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0" y="45720"/>
            <a:ext cx="13990320" cy="502920"/>
          </a:xfrm>
          <a:prstGeom prst="rect">
            <a:avLst/>
          </a:prstGeom>
          <a:noFill/>
          <a:ln/>
        </p:spPr>
        <p:txBody>
          <a:bodyPr wrap="square" rtlCol="0" anchor="ctr"/>
          <a:lstStyle/>
          <a:p>
            <a:pPr marL="0" indent="0" algn="ctr">
              <a:buNone/>
            </a:pPr>
            <a:r>
              <a:rPr lang="en-US" sz="2600" b="1" dirty="0">
                <a:solidFill>
                  <a:srgbClr val="1B2A4A"/>
                </a:solidFill>
                <a:latin typeface="Times New Roman" panose="02020603050405020304" pitchFamily="18" charset="0"/>
                <a:ea typeface="Calibri" pitchFamily="34" charset="-122"/>
                <a:cs typeface="Times New Roman" panose="02020603050405020304" pitchFamily="18" charset="0"/>
              </a:rPr>
              <a:t>ENHANCING A BACKLIT PORTRAIT PHOTOGRAPH</a:t>
            </a:r>
            <a:endParaRPr lang="en-US" sz="2600" dirty="0">
              <a:latin typeface="Times New Roman" panose="02020603050405020304" pitchFamily="18" charset="0"/>
              <a:cs typeface="Times New Roman" panose="02020603050405020304" pitchFamily="18" charset="0"/>
            </a:endParaRPr>
          </a:p>
        </p:txBody>
      </p:sp>
      <p:sp>
        <p:nvSpPr>
          <p:cNvPr id="5" name="Shape 3"/>
          <p:cNvSpPr/>
          <p:nvPr/>
        </p:nvSpPr>
        <p:spPr>
          <a:xfrm>
            <a:off x="137160" y="777240"/>
            <a:ext cx="2331720" cy="5212080"/>
          </a:xfrm>
          <a:prstGeom prst="roundRect">
            <a:avLst>
              <a:gd name="adj" fmla="val 1961"/>
            </a:avLst>
          </a:prstGeom>
          <a:solidFill>
            <a:srgbClr val="FFFFFF"/>
          </a:solidFill>
          <a:ln w="19050">
            <a:solidFill>
              <a:srgbClr val="1B4F8F"/>
            </a:solidFill>
            <a:prstDash val="solid"/>
          </a:ln>
        </p:spPr>
      </p:sp>
      <p:sp>
        <p:nvSpPr>
          <p:cNvPr id="6" name="Shape 4"/>
          <p:cNvSpPr/>
          <p:nvPr/>
        </p:nvSpPr>
        <p:spPr>
          <a:xfrm>
            <a:off x="137160" y="777240"/>
            <a:ext cx="2331720" cy="384048"/>
          </a:xfrm>
          <a:prstGeom prst="rect">
            <a:avLst/>
          </a:prstGeom>
          <a:solidFill>
            <a:srgbClr val="1B2A4A"/>
          </a:solidFill>
          <a:ln/>
        </p:spPr>
      </p:sp>
      <p:sp>
        <p:nvSpPr>
          <p:cNvPr id="7" name="Text 5"/>
          <p:cNvSpPr/>
          <p:nvPr/>
        </p:nvSpPr>
        <p:spPr>
          <a:xfrm>
            <a:off x="137160" y="777240"/>
            <a:ext cx="2331720" cy="384048"/>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Tahoma" panose="020B0604030504040204" pitchFamily="34" charset="0"/>
                <a:cs typeface="Times New Roman" panose="02020603050405020304" pitchFamily="18" charset="0"/>
              </a:rPr>
              <a:t>INPUT IMAGE</a:t>
            </a:r>
            <a:endParaRPr lang="en-US" sz="13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 6"/>
          <p:cNvSpPr/>
          <p:nvPr/>
        </p:nvSpPr>
        <p:spPr>
          <a:xfrm>
            <a:off x="137160" y="1234440"/>
            <a:ext cx="2331720" cy="274320"/>
          </a:xfrm>
          <a:prstGeom prst="rect">
            <a:avLst/>
          </a:prstGeom>
          <a:noFill/>
          <a:ln/>
        </p:spPr>
        <p:txBody>
          <a:bodyPr wrap="square" rtlCol="0" anchor="ctr"/>
          <a:lstStyle/>
          <a:p>
            <a:pPr marL="0" indent="0" algn="ctr">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Backlit Portrait</a:t>
            </a:r>
            <a:endParaRPr lang="en-US" sz="1200" dirty="0">
              <a:latin typeface="Times New Roman" panose="02020603050405020304" pitchFamily="18" charset="0"/>
              <a:cs typeface="Times New Roman" panose="02020603050405020304" pitchFamily="18" charset="0"/>
            </a:endParaRPr>
          </a:p>
        </p:txBody>
      </p:sp>
      <p:pic>
        <p:nvPicPr>
          <p:cNvPr id="9" name="Image 0" descr="backlit.png"/>
          <p:cNvPicPr>
            <a:picLocks noChangeAspect="1"/>
          </p:cNvPicPr>
          <p:nvPr/>
        </p:nvPicPr>
        <p:blipFill>
          <a:blip r:embed="rId3"/>
          <a:stretch>
            <a:fillRect/>
          </a:stretch>
        </p:blipFill>
        <p:spPr>
          <a:xfrm>
            <a:off x="274320" y="1554480"/>
            <a:ext cx="2057400" cy="1920240"/>
          </a:xfrm>
          <a:prstGeom prst="rect">
            <a:avLst/>
          </a:prstGeom>
        </p:spPr>
      </p:pic>
      <p:sp>
        <p:nvSpPr>
          <p:cNvPr id="10" name="Shape 7"/>
          <p:cNvSpPr/>
          <p:nvPr/>
        </p:nvSpPr>
        <p:spPr>
          <a:xfrm>
            <a:off x="274320" y="3657600"/>
            <a:ext cx="2057400" cy="2011680"/>
          </a:xfrm>
          <a:prstGeom prst="roundRect">
            <a:avLst>
              <a:gd name="adj" fmla="val 2273"/>
            </a:avLst>
          </a:prstGeom>
          <a:solidFill>
            <a:srgbClr val="FFFFFF"/>
          </a:solidFill>
          <a:ln w="19050">
            <a:solidFill>
              <a:srgbClr val="1B4F8F"/>
            </a:solidFill>
            <a:prstDash val="solid"/>
          </a:ln>
        </p:spPr>
      </p:sp>
      <p:sp>
        <p:nvSpPr>
          <p:cNvPr id="11" name="Text 8"/>
          <p:cNvSpPr/>
          <p:nvPr/>
        </p:nvSpPr>
        <p:spPr>
          <a:xfrm>
            <a:off x="274320" y="3749040"/>
            <a:ext cx="2057400" cy="274320"/>
          </a:xfrm>
          <a:prstGeom prst="rect">
            <a:avLst/>
          </a:prstGeom>
          <a:noFill/>
          <a:ln/>
        </p:spPr>
        <p:txBody>
          <a:bodyPr wrap="square" rtlCol="0" anchor="ctr"/>
          <a:lstStyle/>
          <a:p>
            <a:pPr marL="0" indent="0" algn="ctr">
              <a:buNone/>
            </a:pPr>
            <a:r>
              <a:rPr lang="en-US" sz="1100" b="1" dirty="0">
                <a:solidFill>
                  <a:srgbClr val="000000"/>
                </a:solidFill>
                <a:latin typeface="Times New Roman" panose="02020603050405020304" pitchFamily="18" charset="0"/>
                <a:ea typeface="Calibri" pitchFamily="34" charset="-122"/>
                <a:cs typeface="Times New Roman" panose="02020603050405020304" pitchFamily="18" charset="0"/>
              </a:rPr>
              <a:t>Source</a:t>
            </a:r>
            <a:endParaRPr lang="en-US" sz="1100" dirty="0">
              <a:latin typeface="Times New Roman" panose="02020603050405020304" pitchFamily="18" charset="0"/>
              <a:cs typeface="Times New Roman" panose="02020603050405020304" pitchFamily="18" charset="0"/>
            </a:endParaRPr>
          </a:p>
        </p:txBody>
      </p:sp>
      <p:pic>
        <p:nvPicPr>
          <p:cNvPr id="12" name="Image 1" descr="icons/camera.png"/>
          <p:cNvPicPr>
            <a:picLocks noChangeAspect="1"/>
          </p:cNvPicPr>
          <p:nvPr/>
        </p:nvPicPr>
        <p:blipFill>
          <a:blip r:embed="rId4"/>
          <a:stretch>
            <a:fillRect/>
          </a:stretch>
        </p:blipFill>
        <p:spPr>
          <a:xfrm>
            <a:off x="457200" y="4114800"/>
            <a:ext cx="320040" cy="320040"/>
          </a:xfrm>
          <a:prstGeom prst="rect">
            <a:avLst/>
          </a:prstGeom>
        </p:spPr>
      </p:pic>
      <p:sp>
        <p:nvSpPr>
          <p:cNvPr id="13" name="Text 9"/>
          <p:cNvSpPr/>
          <p:nvPr/>
        </p:nvSpPr>
        <p:spPr>
          <a:xfrm>
            <a:off x="868680" y="4069080"/>
            <a:ext cx="1463040" cy="365760"/>
          </a:xfrm>
          <a:prstGeom prst="rect">
            <a:avLst/>
          </a:prstGeom>
          <a:noFill/>
          <a:ln/>
        </p:spPr>
        <p:txBody>
          <a:bodyPr wrap="square" rtlCol="0" anchor="ctr"/>
          <a:lstStyle/>
          <a:p>
            <a:pPr marL="0" indent="0" algn="l">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Camera</a:t>
            </a:r>
            <a:endParaRPr lang="en-US" sz="1100" dirty="0">
              <a:latin typeface="Times New Roman" panose="02020603050405020304" pitchFamily="18" charset="0"/>
              <a:cs typeface="Times New Roman" panose="02020603050405020304" pitchFamily="18" charset="0"/>
            </a:endParaRPr>
          </a:p>
        </p:txBody>
      </p:sp>
      <p:pic>
        <p:nvPicPr>
          <p:cNvPr id="14" name="Image 2" descr="icons/folder.png"/>
          <p:cNvPicPr>
            <a:picLocks noChangeAspect="1"/>
          </p:cNvPicPr>
          <p:nvPr/>
        </p:nvPicPr>
        <p:blipFill>
          <a:blip r:embed="rId5"/>
          <a:stretch>
            <a:fillRect/>
          </a:stretch>
        </p:blipFill>
        <p:spPr>
          <a:xfrm>
            <a:off x="457200" y="4572000"/>
            <a:ext cx="320040" cy="320040"/>
          </a:xfrm>
          <a:prstGeom prst="rect">
            <a:avLst/>
          </a:prstGeom>
        </p:spPr>
      </p:pic>
      <p:sp>
        <p:nvSpPr>
          <p:cNvPr id="15" name="Text 10"/>
          <p:cNvSpPr/>
          <p:nvPr/>
        </p:nvSpPr>
        <p:spPr>
          <a:xfrm>
            <a:off x="868680" y="4526280"/>
            <a:ext cx="1463040" cy="365760"/>
          </a:xfrm>
          <a:prstGeom prst="rect">
            <a:avLst/>
          </a:prstGeom>
          <a:noFill/>
          <a:ln/>
        </p:spPr>
        <p:txBody>
          <a:bodyPr wrap="square" rtlCol="0" anchor="ctr"/>
          <a:lstStyle/>
          <a:p>
            <a:pPr marL="0" indent="0" algn="l">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Image File</a:t>
            </a:r>
            <a:endParaRPr lang="en-US" sz="1100" dirty="0">
              <a:latin typeface="Times New Roman" panose="02020603050405020304" pitchFamily="18" charset="0"/>
              <a:cs typeface="Times New Roman" panose="02020603050405020304" pitchFamily="18" charset="0"/>
            </a:endParaRPr>
          </a:p>
        </p:txBody>
      </p:sp>
      <p:sp>
        <p:nvSpPr>
          <p:cNvPr id="16" name="Shape 11"/>
          <p:cNvSpPr/>
          <p:nvPr/>
        </p:nvSpPr>
        <p:spPr>
          <a:xfrm>
            <a:off x="2606040" y="777240"/>
            <a:ext cx="2788920" cy="5212080"/>
          </a:xfrm>
          <a:prstGeom prst="roundRect">
            <a:avLst>
              <a:gd name="adj" fmla="val 1639"/>
            </a:avLst>
          </a:prstGeom>
          <a:solidFill>
            <a:srgbClr val="FFFFFF"/>
          </a:solidFill>
          <a:ln w="19050">
            <a:solidFill>
              <a:srgbClr val="E07B1E"/>
            </a:solidFill>
            <a:prstDash val="solid"/>
          </a:ln>
        </p:spPr>
      </p:sp>
      <p:sp>
        <p:nvSpPr>
          <p:cNvPr id="17" name="Shape 12"/>
          <p:cNvSpPr/>
          <p:nvPr/>
        </p:nvSpPr>
        <p:spPr>
          <a:xfrm>
            <a:off x="2606040" y="777240"/>
            <a:ext cx="2788920" cy="384048"/>
          </a:xfrm>
          <a:prstGeom prst="rect">
            <a:avLst/>
          </a:prstGeom>
          <a:solidFill>
            <a:srgbClr val="E07B1E"/>
          </a:solidFill>
          <a:ln/>
        </p:spPr>
      </p:sp>
      <p:sp>
        <p:nvSpPr>
          <p:cNvPr id="18" name="Text 13"/>
          <p:cNvSpPr/>
          <p:nvPr/>
        </p:nvSpPr>
        <p:spPr>
          <a:xfrm>
            <a:off x="2606040" y="777240"/>
            <a:ext cx="2788920" cy="384048"/>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1. IMAGE PREPROCESSING</a:t>
            </a:r>
            <a:endParaRPr lang="en-US" sz="1300" dirty="0">
              <a:latin typeface="Times New Roman" panose="02020603050405020304" pitchFamily="18" charset="0"/>
              <a:cs typeface="Times New Roman" panose="02020603050405020304" pitchFamily="18" charset="0"/>
            </a:endParaRPr>
          </a:p>
        </p:txBody>
      </p:sp>
      <p:sp>
        <p:nvSpPr>
          <p:cNvPr id="19" name="Shape 14"/>
          <p:cNvSpPr/>
          <p:nvPr/>
        </p:nvSpPr>
        <p:spPr>
          <a:xfrm>
            <a:off x="2743200" y="1344168"/>
            <a:ext cx="2514600" cy="777240"/>
          </a:xfrm>
          <a:prstGeom prst="roundRect">
            <a:avLst>
              <a:gd name="adj" fmla="val 7059"/>
            </a:avLst>
          </a:prstGeom>
          <a:solidFill>
            <a:srgbClr val="FFFFFF"/>
          </a:solidFill>
          <a:ln w="15875">
            <a:solidFill>
              <a:srgbClr val="E07B1E"/>
            </a:solidFill>
            <a:prstDash val="solid"/>
          </a:ln>
        </p:spPr>
      </p:sp>
      <p:pic>
        <p:nvPicPr>
          <p:cNvPr id="20" name="Image 3" descr="icons/camera.png"/>
          <p:cNvPicPr>
            <a:picLocks noChangeAspect="1"/>
          </p:cNvPicPr>
          <p:nvPr/>
        </p:nvPicPr>
        <p:blipFill>
          <a:blip r:embed="rId4"/>
          <a:stretch>
            <a:fillRect/>
          </a:stretch>
        </p:blipFill>
        <p:spPr>
          <a:xfrm>
            <a:off x="2834640" y="1417320"/>
            <a:ext cx="630936" cy="630936"/>
          </a:xfrm>
          <a:prstGeom prst="rect">
            <a:avLst/>
          </a:prstGeom>
        </p:spPr>
      </p:pic>
      <p:sp>
        <p:nvSpPr>
          <p:cNvPr id="21" name="Text 15"/>
          <p:cNvSpPr/>
          <p:nvPr/>
        </p:nvSpPr>
        <p:spPr>
          <a:xfrm>
            <a:off x="3575304" y="1344168"/>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Image Acquisition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(OpenCV)</a:t>
            </a:r>
            <a:endParaRPr lang="en-US" sz="1100" dirty="0">
              <a:latin typeface="Times New Roman" panose="02020603050405020304" pitchFamily="18" charset="0"/>
              <a:cs typeface="Times New Roman" panose="02020603050405020304" pitchFamily="18" charset="0"/>
            </a:endParaRPr>
          </a:p>
        </p:txBody>
      </p:sp>
      <p:sp>
        <p:nvSpPr>
          <p:cNvPr id="22" name="Shape 16"/>
          <p:cNvSpPr/>
          <p:nvPr/>
        </p:nvSpPr>
        <p:spPr>
          <a:xfrm>
            <a:off x="4000500" y="2121408"/>
            <a:ext cx="0" cy="123444"/>
          </a:xfrm>
          <a:prstGeom prst="line">
            <a:avLst/>
          </a:prstGeom>
          <a:noFill/>
          <a:ln w="22225">
            <a:solidFill>
              <a:srgbClr val="333333"/>
            </a:solidFill>
            <a:prstDash val="solid"/>
            <a:tailEnd type="triangle"/>
          </a:ln>
        </p:spPr>
      </p:sp>
      <p:sp>
        <p:nvSpPr>
          <p:cNvPr id="23" name="Shape 17"/>
          <p:cNvSpPr/>
          <p:nvPr/>
        </p:nvSpPr>
        <p:spPr>
          <a:xfrm>
            <a:off x="2743200" y="2244852"/>
            <a:ext cx="2514600" cy="777240"/>
          </a:xfrm>
          <a:prstGeom prst="roundRect">
            <a:avLst>
              <a:gd name="adj" fmla="val 7059"/>
            </a:avLst>
          </a:prstGeom>
          <a:solidFill>
            <a:srgbClr val="FFFFFF"/>
          </a:solidFill>
          <a:ln w="15875">
            <a:solidFill>
              <a:srgbClr val="E07B1E"/>
            </a:solidFill>
            <a:prstDash val="solid"/>
          </a:ln>
        </p:spPr>
      </p:sp>
      <p:pic>
        <p:nvPicPr>
          <p:cNvPr id="24" name="Image 4" descr="icons/resize.png"/>
          <p:cNvPicPr>
            <a:picLocks noChangeAspect="1"/>
          </p:cNvPicPr>
          <p:nvPr/>
        </p:nvPicPr>
        <p:blipFill>
          <a:blip r:embed="rId6"/>
          <a:stretch>
            <a:fillRect/>
          </a:stretch>
        </p:blipFill>
        <p:spPr>
          <a:xfrm>
            <a:off x="2834640" y="2318004"/>
            <a:ext cx="630936" cy="630936"/>
          </a:xfrm>
          <a:prstGeom prst="rect">
            <a:avLst/>
          </a:prstGeom>
        </p:spPr>
      </p:pic>
      <p:sp>
        <p:nvSpPr>
          <p:cNvPr id="25" name="Text 18"/>
          <p:cNvSpPr/>
          <p:nvPr/>
        </p:nvSpPr>
        <p:spPr>
          <a:xfrm>
            <a:off x="3575304" y="2244852"/>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Resize
</a:t>
            </a:r>
            <a:endParaRPr lang="en-US" sz="1100" dirty="0">
              <a:latin typeface="Times New Roman" panose="02020603050405020304" pitchFamily="18" charset="0"/>
              <a:cs typeface="Times New Roman" panose="02020603050405020304" pitchFamily="18" charset="0"/>
            </a:endParaRPr>
          </a:p>
        </p:txBody>
      </p:sp>
      <p:sp>
        <p:nvSpPr>
          <p:cNvPr id="26" name="Shape 19"/>
          <p:cNvSpPr/>
          <p:nvPr/>
        </p:nvSpPr>
        <p:spPr>
          <a:xfrm>
            <a:off x="4000500" y="3022092"/>
            <a:ext cx="0" cy="123444"/>
          </a:xfrm>
          <a:prstGeom prst="line">
            <a:avLst/>
          </a:prstGeom>
          <a:noFill/>
          <a:ln w="22225">
            <a:solidFill>
              <a:srgbClr val="333333"/>
            </a:solidFill>
            <a:prstDash val="solid"/>
            <a:tailEnd type="triangle"/>
          </a:ln>
        </p:spPr>
      </p:sp>
      <p:sp>
        <p:nvSpPr>
          <p:cNvPr id="27" name="Shape 20"/>
          <p:cNvSpPr/>
          <p:nvPr/>
        </p:nvSpPr>
        <p:spPr>
          <a:xfrm>
            <a:off x="2743200" y="3145536"/>
            <a:ext cx="2514600" cy="777240"/>
          </a:xfrm>
          <a:prstGeom prst="roundRect">
            <a:avLst>
              <a:gd name="adj" fmla="val 7059"/>
            </a:avLst>
          </a:prstGeom>
          <a:solidFill>
            <a:srgbClr val="FFFFFF"/>
          </a:solidFill>
          <a:ln w="15875">
            <a:solidFill>
              <a:srgbClr val="E07B1E"/>
            </a:solidFill>
            <a:prstDash val="solid"/>
          </a:ln>
        </p:spPr>
      </p:sp>
      <p:sp>
        <p:nvSpPr>
          <p:cNvPr id="28" name="Shape 21"/>
          <p:cNvSpPr/>
          <p:nvPr/>
        </p:nvSpPr>
        <p:spPr>
          <a:xfrm>
            <a:off x="2926080" y="3351276"/>
            <a:ext cx="292608" cy="292608"/>
          </a:xfrm>
          <a:prstGeom prst="ellipse">
            <a:avLst/>
          </a:prstGeom>
          <a:solidFill>
            <a:srgbClr val="FF0000">
              <a:alpha val="70000"/>
            </a:srgbClr>
          </a:solidFill>
          <a:ln/>
        </p:spPr>
      </p:sp>
      <p:sp>
        <p:nvSpPr>
          <p:cNvPr id="29" name="Shape 22"/>
          <p:cNvSpPr/>
          <p:nvPr/>
        </p:nvSpPr>
        <p:spPr>
          <a:xfrm>
            <a:off x="3072384" y="3351276"/>
            <a:ext cx="292608" cy="292608"/>
          </a:xfrm>
          <a:prstGeom prst="ellipse">
            <a:avLst/>
          </a:prstGeom>
          <a:solidFill>
            <a:srgbClr val="00B050">
              <a:alpha val="70000"/>
            </a:srgbClr>
          </a:solidFill>
          <a:ln/>
        </p:spPr>
      </p:sp>
      <p:sp>
        <p:nvSpPr>
          <p:cNvPr id="30" name="Shape 23"/>
          <p:cNvSpPr/>
          <p:nvPr/>
        </p:nvSpPr>
        <p:spPr>
          <a:xfrm>
            <a:off x="2999232" y="3506724"/>
            <a:ext cx="292608" cy="292608"/>
          </a:xfrm>
          <a:prstGeom prst="ellipse">
            <a:avLst/>
          </a:prstGeom>
          <a:solidFill>
            <a:srgbClr val="0070C0">
              <a:alpha val="70000"/>
            </a:srgbClr>
          </a:solidFill>
          <a:ln/>
        </p:spPr>
      </p:sp>
      <p:sp>
        <p:nvSpPr>
          <p:cNvPr id="31" name="Text 24"/>
          <p:cNvSpPr/>
          <p:nvPr/>
        </p:nvSpPr>
        <p:spPr>
          <a:xfrm>
            <a:off x="3401568" y="3145536"/>
            <a:ext cx="1901952" cy="777240"/>
          </a:xfrm>
          <a:prstGeom prst="rect">
            <a:avLst/>
          </a:prstGeom>
          <a:noFill/>
          <a:ln/>
        </p:spPr>
        <p:txBody>
          <a:bodyPr wrap="square" rtlCol="0" anchor="ctr"/>
          <a:lstStyle/>
          <a:p>
            <a:pPr marL="0" indent="0">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Color Space Conversion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(BGR to RGB)</a:t>
            </a:r>
            <a:endParaRPr lang="en-US" sz="1100" dirty="0">
              <a:latin typeface="Times New Roman" panose="02020603050405020304" pitchFamily="18" charset="0"/>
              <a:cs typeface="Times New Roman" panose="02020603050405020304" pitchFamily="18" charset="0"/>
            </a:endParaRPr>
          </a:p>
        </p:txBody>
      </p:sp>
      <p:sp>
        <p:nvSpPr>
          <p:cNvPr id="32" name="Shape 25"/>
          <p:cNvSpPr/>
          <p:nvPr/>
        </p:nvSpPr>
        <p:spPr>
          <a:xfrm>
            <a:off x="4000500" y="3922776"/>
            <a:ext cx="0" cy="123444"/>
          </a:xfrm>
          <a:prstGeom prst="line">
            <a:avLst/>
          </a:prstGeom>
          <a:noFill/>
          <a:ln w="22225">
            <a:solidFill>
              <a:srgbClr val="333333"/>
            </a:solidFill>
            <a:prstDash val="solid"/>
            <a:tailEnd type="triangle"/>
          </a:ln>
        </p:spPr>
      </p:sp>
      <p:sp>
        <p:nvSpPr>
          <p:cNvPr id="33" name="Shape 26"/>
          <p:cNvSpPr/>
          <p:nvPr/>
        </p:nvSpPr>
        <p:spPr>
          <a:xfrm>
            <a:off x="2743200" y="4046220"/>
            <a:ext cx="2514600" cy="777240"/>
          </a:xfrm>
          <a:prstGeom prst="roundRect">
            <a:avLst>
              <a:gd name="adj" fmla="val 7059"/>
            </a:avLst>
          </a:prstGeom>
          <a:solidFill>
            <a:srgbClr val="FFFFFF"/>
          </a:solidFill>
          <a:ln w="15875">
            <a:solidFill>
              <a:srgbClr val="E07B1E"/>
            </a:solidFill>
            <a:prstDash val="solid"/>
          </a:ln>
        </p:spPr>
      </p:sp>
      <p:pic>
        <p:nvPicPr>
          <p:cNvPr id="34" name="Image 5" descr="icons/noise.png"/>
          <p:cNvPicPr>
            <a:picLocks noChangeAspect="1"/>
          </p:cNvPicPr>
          <p:nvPr/>
        </p:nvPicPr>
        <p:blipFill>
          <a:blip r:embed="rId7"/>
          <a:stretch>
            <a:fillRect/>
          </a:stretch>
        </p:blipFill>
        <p:spPr>
          <a:xfrm>
            <a:off x="2834640" y="4119372"/>
            <a:ext cx="630936" cy="630936"/>
          </a:xfrm>
          <a:prstGeom prst="rect">
            <a:avLst/>
          </a:prstGeom>
        </p:spPr>
      </p:pic>
      <p:sp>
        <p:nvSpPr>
          <p:cNvPr id="35" name="Text 27"/>
          <p:cNvSpPr/>
          <p:nvPr/>
        </p:nvSpPr>
        <p:spPr>
          <a:xfrm>
            <a:off x="3575304" y="4046220"/>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Noise Reduction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(Gaussian Blur)</a:t>
            </a:r>
            <a:endParaRPr lang="en-US" sz="1100" dirty="0">
              <a:latin typeface="Times New Roman" panose="02020603050405020304" pitchFamily="18" charset="0"/>
              <a:cs typeface="Times New Roman" panose="02020603050405020304" pitchFamily="18" charset="0"/>
            </a:endParaRPr>
          </a:p>
        </p:txBody>
      </p:sp>
      <p:sp>
        <p:nvSpPr>
          <p:cNvPr id="36" name="Shape 28"/>
          <p:cNvSpPr/>
          <p:nvPr/>
        </p:nvSpPr>
        <p:spPr>
          <a:xfrm>
            <a:off x="4000500" y="4823460"/>
            <a:ext cx="0" cy="123444"/>
          </a:xfrm>
          <a:prstGeom prst="line">
            <a:avLst/>
          </a:prstGeom>
          <a:noFill/>
          <a:ln w="22225">
            <a:solidFill>
              <a:srgbClr val="333333"/>
            </a:solidFill>
            <a:prstDash val="solid"/>
            <a:tailEnd type="triangle"/>
          </a:ln>
        </p:spPr>
      </p:sp>
      <p:sp>
        <p:nvSpPr>
          <p:cNvPr id="37" name="Shape 29"/>
          <p:cNvSpPr/>
          <p:nvPr/>
        </p:nvSpPr>
        <p:spPr>
          <a:xfrm>
            <a:off x="2743200" y="4946904"/>
            <a:ext cx="2514600" cy="777240"/>
          </a:xfrm>
          <a:prstGeom prst="roundRect">
            <a:avLst>
              <a:gd name="adj" fmla="val 7059"/>
            </a:avLst>
          </a:prstGeom>
          <a:solidFill>
            <a:srgbClr val="FFFFFF"/>
          </a:solidFill>
          <a:ln w="15875">
            <a:solidFill>
              <a:srgbClr val="E07B1E"/>
            </a:solidFill>
            <a:prstDash val="solid"/>
          </a:ln>
        </p:spPr>
      </p:sp>
      <p:pic>
        <p:nvPicPr>
          <p:cNvPr id="38" name="Image 6" descr="icons/histogram.png"/>
          <p:cNvPicPr>
            <a:picLocks noChangeAspect="1"/>
          </p:cNvPicPr>
          <p:nvPr/>
        </p:nvPicPr>
        <p:blipFill>
          <a:blip r:embed="rId8"/>
          <a:stretch>
            <a:fillRect/>
          </a:stretch>
        </p:blipFill>
        <p:spPr>
          <a:xfrm>
            <a:off x="2834640" y="5020056"/>
            <a:ext cx="630936" cy="630936"/>
          </a:xfrm>
          <a:prstGeom prst="rect">
            <a:avLst/>
          </a:prstGeom>
        </p:spPr>
      </p:pic>
      <p:sp>
        <p:nvSpPr>
          <p:cNvPr id="39" name="Text 30"/>
          <p:cNvSpPr/>
          <p:nvPr/>
        </p:nvSpPr>
        <p:spPr>
          <a:xfrm>
            <a:off x="3575304" y="4946904"/>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Histogram Analysis
</a:t>
            </a:r>
            <a:endParaRPr lang="en-US" sz="1100" dirty="0">
              <a:latin typeface="Times New Roman" panose="02020603050405020304" pitchFamily="18" charset="0"/>
              <a:cs typeface="Times New Roman" panose="02020603050405020304" pitchFamily="18" charset="0"/>
            </a:endParaRPr>
          </a:p>
        </p:txBody>
      </p:sp>
      <p:sp>
        <p:nvSpPr>
          <p:cNvPr id="40" name="Shape 31"/>
          <p:cNvSpPr/>
          <p:nvPr/>
        </p:nvSpPr>
        <p:spPr>
          <a:xfrm>
            <a:off x="5532120" y="777240"/>
            <a:ext cx="2788920" cy="5212080"/>
          </a:xfrm>
          <a:prstGeom prst="roundRect">
            <a:avLst>
              <a:gd name="adj" fmla="val 1639"/>
            </a:avLst>
          </a:prstGeom>
          <a:solidFill>
            <a:srgbClr val="FFFFFF"/>
          </a:solidFill>
          <a:ln w="19050">
            <a:solidFill>
              <a:srgbClr val="3F8F3F"/>
            </a:solidFill>
            <a:prstDash val="solid"/>
          </a:ln>
        </p:spPr>
      </p:sp>
      <p:sp>
        <p:nvSpPr>
          <p:cNvPr id="41" name="Shape 32"/>
          <p:cNvSpPr/>
          <p:nvPr/>
        </p:nvSpPr>
        <p:spPr>
          <a:xfrm>
            <a:off x="5532120" y="777240"/>
            <a:ext cx="2788920" cy="384048"/>
          </a:xfrm>
          <a:prstGeom prst="rect">
            <a:avLst/>
          </a:prstGeom>
          <a:solidFill>
            <a:srgbClr val="3F8F3F"/>
          </a:solidFill>
          <a:ln/>
        </p:spPr>
      </p:sp>
      <p:sp>
        <p:nvSpPr>
          <p:cNvPr id="42" name="Text 33"/>
          <p:cNvSpPr/>
          <p:nvPr/>
        </p:nvSpPr>
        <p:spPr>
          <a:xfrm>
            <a:off x="5532120" y="777240"/>
            <a:ext cx="2788920" cy="384048"/>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2. BACKLIGHT ANALYSIS</a:t>
            </a:r>
            <a:endParaRPr lang="en-US" sz="1300" dirty="0">
              <a:latin typeface="Times New Roman" panose="02020603050405020304" pitchFamily="18" charset="0"/>
              <a:cs typeface="Times New Roman" panose="02020603050405020304" pitchFamily="18" charset="0"/>
            </a:endParaRPr>
          </a:p>
        </p:txBody>
      </p:sp>
      <p:sp>
        <p:nvSpPr>
          <p:cNvPr id="43" name="Shape 34"/>
          <p:cNvSpPr/>
          <p:nvPr/>
        </p:nvSpPr>
        <p:spPr>
          <a:xfrm>
            <a:off x="5669280" y="1344168"/>
            <a:ext cx="2514600" cy="777240"/>
          </a:xfrm>
          <a:prstGeom prst="roundRect">
            <a:avLst>
              <a:gd name="adj" fmla="val 7059"/>
            </a:avLst>
          </a:prstGeom>
          <a:solidFill>
            <a:srgbClr val="FFFFFF"/>
          </a:solidFill>
          <a:ln w="15875">
            <a:solidFill>
              <a:srgbClr val="3F8F3F"/>
            </a:solidFill>
            <a:prstDash val="solid"/>
          </a:ln>
        </p:spPr>
      </p:sp>
      <p:pic>
        <p:nvPicPr>
          <p:cNvPr id="44" name="Image 7" descr="icons/face.png"/>
          <p:cNvPicPr>
            <a:picLocks noChangeAspect="1"/>
          </p:cNvPicPr>
          <p:nvPr/>
        </p:nvPicPr>
        <p:blipFill>
          <a:blip r:embed="rId9"/>
          <a:stretch>
            <a:fillRect/>
          </a:stretch>
        </p:blipFill>
        <p:spPr>
          <a:xfrm>
            <a:off x="5760720" y="1417320"/>
            <a:ext cx="630936" cy="630936"/>
          </a:xfrm>
          <a:prstGeom prst="rect">
            <a:avLst/>
          </a:prstGeom>
        </p:spPr>
      </p:pic>
      <p:sp>
        <p:nvSpPr>
          <p:cNvPr id="45" name="Text 35"/>
          <p:cNvSpPr/>
          <p:nvPr/>
        </p:nvSpPr>
        <p:spPr>
          <a:xfrm>
            <a:off x="6501384" y="1344168"/>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Face Detection
</a:t>
            </a:r>
            <a:endParaRPr lang="en-US" sz="1100" dirty="0">
              <a:latin typeface="Times New Roman" panose="02020603050405020304" pitchFamily="18" charset="0"/>
              <a:cs typeface="Times New Roman" panose="02020603050405020304" pitchFamily="18" charset="0"/>
            </a:endParaRPr>
          </a:p>
        </p:txBody>
      </p:sp>
      <p:sp>
        <p:nvSpPr>
          <p:cNvPr id="46" name="Shape 36"/>
          <p:cNvSpPr/>
          <p:nvPr/>
        </p:nvSpPr>
        <p:spPr>
          <a:xfrm>
            <a:off x="6926580" y="2121408"/>
            <a:ext cx="0" cy="123444"/>
          </a:xfrm>
          <a:prstGeom prst="line">
            <a:avLst/>
          </a:prstGeom>
          <a:noFill/>
          <a:ln w="22225">
            <a:solidFill>
              <a:srgbClr val="333333"/>
            </a:solidFill>
            <a:prstDash val="solid"/>
            <a:tailEnd type="triangle"/>
          </a:ln>
        </p:spPr>
      </p:sp>
      <p:sp>
        <p:nvSpPr>
          <p:cNvPr id="47" name="Shape 37"/>
          <p:cNvSpPr/>
          <p:nvPr/>
        </p:nvSpPr>
        <p:spPr>
          <a:xfrm>
            <a:off x="5669280" y="2244852"/>
            <a:ext cx="2514600" cy="777240"/>
          </a:xfrm>
          <a:prstGeom prst="roundRect">
            <a:avLst>
              <a:gd name="adj" fmla="val 7059"/>
            </a:avLst>
          </a:prstGeom>
          <a:solidFill>
            <a:srgbClr val="FFFFFF"/>
          </a:solidFill>
          <a:ln w="15875">
            <a:solidFill>
              <a:srgbClr val="3F8F3F"/>
            </a:solidFill>
            <a:prstDash val="solid"/>
          </a:ln>
        </p:spPr>
      </p:sp>
      <p:sp>
        <p:nvSpPr>
          <p:cNvPr id="48" name="Shape 38"/>
          <p:cNvSpPr/>
          <p:nvPr/>
        </p:nvSpPr>
        <p:spPr>
          <a:xfrm>
            <a:off x="5751576" y="2459736"/>
            <a:ext cx="347472" cy="347472"/>
          </a:xfrm>
          <a:prstGeom prst="ellipse">
            <a:avLst/>
          </a:prstGeom>
          <a:solidFill>
            <a:srgbClr val="FFFFFF"/>
          </a:solidFill>
          <a:ln w="19050">
            <a:solidFill>
              <a:srgbClr val="1A1A1A"/>
            </a:solidFill>
            <a:prstDash val="solid"/>
          </a:ln>
        </p:spPr>
      </p:sp>
      <p:sp>
        <p:nvSpPr>
          <p:cNvPr id="49" name="Shape 39"/>
          <p:cNvSpPr/>
          <p:nvPr/>
        </p:nvSpPr>
        <p:spPr>
          <a:xfrm>
            <a:off x="5751576" y="2459736"/>
            <a:ext cx="347472" cy="347472"/>
          </a:xfrm>
          <a:prstGeom prst="pie">
            <a:avLst>
              <a:gd name="adj1" fmla="val 5400000"/>
              <a:gd name="adj2" fmla="val 16200000"/>
            </a:avLst>
          </a:prstGeom>
          <a:solidFill>
            <a:srgbClr val="1A1A1A"/>
          </a:solidFill>
          <a:ln/>
        </p:spPr>
      </p:sp>
      <p:sp>
        <p:nvSpPr>
          <p:cNvPr id="50" name="Text 40"/>
          <p:cNvSpPr/>
          <p:nvPr/>
        </p:nvSpPr>
        <p:spPr>
          <a:xfrm>
            <a:off x="6327648" y="2244852"/>
            <a:ext cx="1901952" cy="777240"/>
          </a:xfrm>
          <a:prstGeom prst="rect">
            <a:avLst/>
          </a:prstGeom>
          <a:noFill/>
          <a:ln/>
        </p:spPr>
        <p:txBody>
          <a:bodyPr wrap="square" rtlCol="0" anchor="ctr"/>
          <a:lstStyle/>
          <a:p>
            <a:pPr marL="0" indent="0">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Shadow Detection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(Dark Region Analysis)</a:t>
            </a:r>
            <a:endParaRPr lang="en-US" sz="1100" dirty="0">
              <a:latin typeface="Times New Roman" panose="02020603050405020304" pitchFamily="18" charset="0"/>
              <a:cs typeface="Times New Roman" panose="02020603050405020304" pitchFamily="18" charset="0"/>
            </a:endParaRPr>
          </a:p>
        </p:txBody>
      </p:sp>
      <p:sp>
        <p:nvSpPr>
          <p:cNvPr id="51" name="Shape 41"/>
          <p:cNvSpPr/>
          <p:nvPr/>
        </p:nvSpPr>
        <p:spPr>
          <a:xfrm>
            <a:off x="6926580" y="3022092"/>
            <a:ext cx="0" cy="123444"/>
          </a:xfrm>
          <a:prstGeom prst="line">
            <a:avLst/>
          </a:prstGeom>
          <a:noFill/>
          <a:ln w="22225">
            <a:solidFill>
              <a:srgbClr val="333333"/>
            </a:solidFill>
            <a:prstDash val="solid"/>
            <a:tailEnd type="triangle"/>
          </a:ln>
        </p:spPr>
      </p:sp>
      <p:sp>
        <p:nvSpPr>
          <p:cNvPr id="52" name="Shape 42"/>
          <p:cNvSpPr/>
          <p:nvPr/>
        </p:nvSpPr>
        <p:spPr>
          <a:xfrm>
            <a:off x="5669280" y="3145536"/>
            <a:ext cx="2514600" cy="777240"/>
          </a:xfrm>
          <a:prstGeom prst="roundRect">
            <a:avLst>
              <a:gd name="adj" fmla="val 7059"/>
            </a:avLst>
          </a:prstGeom>
          <a:solidFill>
            <a:srgbClr val="FFFFFF"/>
          </a:solidFill>
          <a:ln w="15875">
            <a:solidFill>
              <a:srgbClr val="3F8F3F"/>
            </a:solidFill>
            <a:prstDash val="solid"/>
          </a:ln>
        </p:spPr>
      </p:sp>
      <p:pic>
        <p:nvPicPr>
          <p:cNvPr id="53" name="Image 8" descr="icons/sun.png"/>
          <p:cNvPicPr>
            <a:picLocks noChangeAspect="1"/>
          </p:cNvPicPr>
          <p:nvPr/>
        </p:nvPicPr>
        <p:blipFill>
          <a:blip r:embed="rId10"/>
          <a:stretch>
            <a:fillRect/>
          </a:stretch>
        </p:blipFill>
        <p:spPr>
          <a:xfrm>
            <a:off x="5760720" y="3218688"/>
            <a:ext cx="630936" cy="630936"/>
          </a:xfrm>
          <a:prstGeom prst="rect">
            <a:avLst/>
          </a:prstGeom>
        </p:spPr>
      </p:pic>
      <p:sp>
        <p:nvSpPr>
          <p:cNvPr id="54" name="Text 43"/>
          <p:cNvSpPr/>
          <p:nvPr/>
        </p:nvSpPr>
        <p:spPr>
          <a:xfrm>
            <a:off x="6501384" y="3145536"/>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Brightness Analysis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(Luminance Estimation)</a:t>
            </a:r>
            <a:endParaRPr lang="en-US" sz="1100" dirty="0">
              <a:latin typeface="Times New Roman" panose="02020603050405020304" pitchFamily="18" charset="0"/>
              <a:cs typeface="Times New Roman" panose="02020603050405020304" pitchFamily="18" charset="0"/>
            </a:endParaRPr>
          </a:p>
        </p:txBody>
      </p:sp>
      <p:sp>
        <p:nvSpPr>
          <p:cNvPr id="55" name="Shape 44"/>
          <p:cNvSpPr/>
          <p:nvPr/>
        </p:nvSpPr>
        <p:spPr>
          <a:xfrm>
            <a:off x="6926580" y="3922776"/>
            <a:ext cx="0" cy="123444"/>
          </a:xfrm>
          <a:prstGeom prst="line">
            <a:avLst/>
          </a:prstGeom>
          <a:noFill/>
          <a:ln w="22225">
            <a:solidFill>
              <a:srgbClr val="333333"/>
            </a:solidFill>
            <a:prstDash val="solid"/>
            <a:tailEnd type="triangle"/>
          </a:ln>
        </p:spPr>
      </p:sp>
      <p:sp>
        <p:nvSpPr>
          <p:cNvPr id="56" name="Shape 45"/>
          <p:cNvSpPr/>
          <p:nvPr/>
        </p:nvSpPr>
        <p:spPr>
          <a:xfrm>
            <a:off x="5669280" y="4046220"/>
            <a:ext cx="2514600" cy="777240"/>
          </a:xfrm>
          <a:prstGeom prst="roundRect">
            <a:avLst>
              <a:gd name="adj" fmla="val 7059"/>
            </a:avLst>
          </a:prstGeom>
          <a:solidFill>
            <a:srgbClr val="FFFFFF"/>
          </a:solidFill>
          <a:ln w="15875">
            <a:solidFill>
              <a:srgbClr val="3F8F3F"/>
            </a:solidFill>
            <a:prstDash val="solid"/>
          </a:ln>
        </p:spPr>
      </p:sp>
      <p:pic>
        <p:nvPicPr>
          <p:cNvPr id="57" name="Image 9" descr="icons/lightbulb.png"/>
          <p:cNvPicPr>
            <a:picLocks noChangeAspect="1"/>
          </p:cNvPicPr>
          <p:nvPr/>
        </p:nvPicPr>
        <p:blipFill>
          <a:blip r:embed="rId11"/>
          <a:stretch>
            <a:fillRect/>
          </a:stretch>
        </p:blipFill>
        <p:spPr>
          <a:xfrm>
            <a:off x="5760720" y="4119372"/>
            <a:ext cx="630936" cy="630936"/>
          </a:xfrm>
          <a:prstGeom prst="rect">
            <a:avLst/>
          </a:prstGeom>
        </p:spPr>
      </p:pic>
      <p:sp>
        <p:nvSpPr>
          <p:cNvPr id="58" name="Text 46"/>
          <p:cNvSpPr/>
          <p:nvPr/>
        </p:nvSpPr>
        <p:spPr>
          <a:xfrm>
            <a:off x="6501384" y="4046220"/>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Illumination Estimation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(Global &amp; Local)</a:t>
            </a:r>
            <a:endParaRPr lang="en-US" sz="1100" dirty="0">
              <a:latin typeface="Times New Roman" panose="02020603050405020304" pitchFamily="18" charset="0"/>
              <a:cs typeface="Times New Roman" panose="02020603050405020304" pitchFamily="18" charset="0"/>
            </a:endParaRPr>
          </a:p>
        </p:txBody>
      </p:sp>
      <p:sp>
        <p:nvSpPr>
          <p:cNvPr id="59" name="Shape 47"/>
          <p:cNvSpPr/>
          <p:nvPr/>
        </p:nvSpPr>
        <p:spPr>
          <a:xfrm>
            <a:off x="6926580" y="4823460"/>
            <a:ext cx="0" cy="123444"/>
          </a:xfrm>
          <a:prstGeom prst="line">
            <a:avLst/>
          </a:prstGeom>
          <a:noFill/>
          <a:ln w="22225">
            <a:solidFill>
              <a:srgbClr val="333333"/>
            </a:solidFill>
            <a:prstDash val="solid"/>
            <a:tailEnd type="triangle"/>
          </a:ln>
        </p:spPr>
      </p:sp>
      <p:sp>
        <p:nvSpPr>
          <p:cNvPr id="60" name="Shape 48"/>
          <p:cNvSpPr/>
          <p:nvPr/>
        </p:nvSpPr>
        <p:spPr>
          <a:xfrm>
            <a:off x="5669280" y="4946904"/>
            <a:ext cx="2514600" cy="777240"/>
          </a:xfrm>
          <a:prstGeom prst="roundRect">
            <a:avLst>
              <a:gd name="adj" fmla="val 7059"/>
            </a:avLst>
          </a:prstGeom>
          <a:solidFill>
            <a:srgbClr val="FFFFFF"/>
          </a:solidFill>
          <a:ln w="15875">
            <a:solidFill>
              <a:srgbClr val="3F8F3F"/>
            </a:solidFill>
            <a:prstDash val="solid"/>
          </a:ln>
        </p:spPr>
      </p:sp>
      <p:pic>
        <p:nvPicPr>
          <p:cNvPr id="61" name="Image 10" descr="icons/segmentation.png"/>
          <p:cNvPicPr>
            <a:picLocks noChangeAspect="1"/>
          </p:cNvPicPr>
          <p:nvPr/>
        </p:nvPicPr>
        <p:blipFill>
          <a:blip r:embed="rId12"/>
          <a:stretch>
            <a:fillRect/>
          </a:stretch>
        </p:blipFill>
        <p:spPr>
          <a:xfrm>
            <a:off x="5760720" y="5020056"/>
            <a:ext cx="630936" cy="630936"/>
          </a:xfrm>
          <a:prstGeom prst="rect">
            <a:avLst/>
          </a:prstGeom>
        </p:spPr>
      </p:pic>
      <p:sp>
        <p:nvSpPr>
          <p:cNvPr id="62" name="Text 49"/>
          <p:cNvSpPr/>
          <p:nvPr/>
        </p:nvSpPr>
        <p:spPr>
          <a:xfrm>
            <a:off x="6501384" y="4946904"/>
            <a:ext cx="1609344" cy="77724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Foreground–Background
Segmentation
</a:t>
            </a:r>
            <a:endParaRPr lang="en-US" sz="1100" dirty="0">
              <a:latin typeface="Times New Roman" panose="02020603050405020304" pitchFamily="18" charset="0"/>
              <a:cs typeface="Times New Roman" panose="02020603050405020304" pitchFamily="18" charset="0"/>
            </a:endParaRPr>
          </a:p>
        </p:txBody>
      </p:sp>
      <p:sp>
        <p:nvSpPr>
          <p:cNvPr id="63" name="Shape 50"/>
          <p:cNvSpPr/>
          <p:nvPr/>
        </p:nvSpPr>
        <p:spPr>
          <a:xfrm>
            <a:off x="8458200" y="777240"/>
            <a:ext cx="2788920" cy="5212080"/>
          </a:xfrm>
          <a:prstGeom prst="roundRect">
            <a:avLst>
              <a:gd name="adj" fmla="val 1639"/>
            </a:avLst>
          </a:prstGeom>
          <a:solidFill>
            <a:srgbClr val="FFFFFF"/>
          </a:solidFill>
          <a:ln w="19050">
            <a:solidFill>
              <a:srgbClr val="7A4FA3"/>
            </a:solidFill>
            <a:prstDash val="solid"/>
          </a:ln>
        </p:spPr>
      </p:sp>
      <p:sp>
        <p:nvSpPr>
          <p:cNvPr id="64" name="Shape 51"/>
          <p:cNvSpPr/>
          <p:nvPr/>
        </p:nvSpPr>
        <p:spPr>
          <a:xfrm>
            <a:off x="8458200" y="777240"/>
            <a:ext cx="2788920" cy="384048"/>
          </a:xfrm>
          <a:prstGeom prst="rect">
            <a:avLst/>
          </a:prstGeom>
          <a:solidFill>
            <a:srgbClr val="7A4FA3"/>
          </a:solidFill>
          <a:ln/>
        </p:spPr>
      </p:sp>
      <p:sp>
        <p:nvSpPr>
          <p:cNvPr id="65" name="Text 52"/>
          <p:cNvSpPr/>
          <p:nvPr/>
        </p:nvSpPr>
        <p:spPr>
          <a:xfrm>
            <a:off x="8458200" y="777240"/>
            <a:ext cx="2788920" cy="384048"/>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3. IMAGE ENHANCEMENT</a:t>
            </a:r>
            <a:endParaRPr lang="en-US" sz="1300" dirty="0">
              <a:latin typeface="Times New Roman" panose="02020603050405020304" pitchFamily="18" charset="0"/>
              <a:cs typeface="Times New Roman" panose="02020603050405020304" pitchFamily="18" charset="0"/>
            </a:endParaRPr>
          </a:p>
        </p:txBody>
      </p:sp>
      <p:sp>
        <p:nvSpPr>
          <p:cNvPr id="66" name="Shape 53"/>
          <p:cNvSpPr/>
          <p:nvPr/>
        </p:nvSpPr>
        <p:spPr>
          <a:xfrm>
            <a:off x="8595360" y="1344168"/>
            <a:ext cx="2514600" cy="640080"/>
          </a:xfrm>
          <a:prstGeom prst="roundRect">
            <a:avLst>
              <a:gd name="adj" fmla="val 8571"/>
            </a:avLst>
          </a:prstGeom>
          <a:solidFill>
            <a:srgbClr val="FFFFFF"/>
          </a:solidFill>
          <a:ln w="15875">
            <a:solidFill>
              <a:srgbClr val="7A4FA3"/>
            </a:solidFill>
            <a:prstDash val="solid"/>
          </a:ln>
        </p:spPr>
      </p:sp>
      <p:pic>
        <p:nvPicPr>
          <p:cNvPr id="67" name="Image 11" descr="icons/linechart.png"/>
          <p:cNvPicPr>
            <a:picLocks noChangeAspect="1"/>
          </p:cNvPicPr>
          <p:nvPr/>
        </p:nvPicPr>
        <p:blipFill>
          <a:blip r:embed="rId13"/>
          <a:stretch>
            <a:fillRect/>
          </a:stretch>
        </p:blipFill>
        <p:spPr>
          <a:xfrm>
            <a:off x="8686800" y="1417320"/>
            <a:ext cx="493776" cy="493776"/>
          </a:xfrm>
          <a:prstGeom prst="rect">
            <a:avLst/>
          </a:prstGeom>
        </p:spPr>
      </p:pic>
      <p:sp>
        <p:nvSpPr>
          <p:cNvPr id="68" name="Text 54"/>
          <p:cNvSpPr/>
          <p:nvPr/>
        </p:nvSpPr>
        <p:spPr>
          <a:xfrm>
            <a:off x="9290304" y="1344168"/>
            <a:ext cx="1746504" cy="64008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CLAHE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(Contrast Enhancement)</a:t>
            </a:r>
            <a:endParaRPr lang="en-US" sz="1100" dirty="0">
              <a:latin typeface="Times New Roman" panose="02020603050405020304" pitchFamily="18" charset="0"/>
              <a:cs typeface="Times New Roman" panose="02020603050405020304" pitchFamily="18" charset="0"/>
            </a:endParaRPr>
          </a:p>
        </p:txBody>
      </p:sp>
      <p:sp>
        <p:nvSpPr>
          <p:cNvPr id="69" name="Shape 55"/>
          <p:cNvSpPr/>
          <p:nvPr/>
        </p:nvSpPr>
        <p:spPr>
          <a:xfrm>
            <a:off x="9852660" y="1984248"/>
            <a:ext cx="0" cy="82296"/>
          </a:xfrm>
          <a:prstGeom prst="line">
            <a:avLst/>
          </a:prstGeom>
          <a:noFill/>
          <a:ln w="22225">
            <a:solidFill>
              <a:srgbClr val="333333"/>
            </a:solidFill>
            <a:prstDash val="solid"/>
            <a:tailEnd type="triangle"/>
          </a:ln>
        </p:spPr>
      </p:sp>
      <p:sp>
        <p:nvSpPr>
          <p:cNvPr id="70" name="Shape 56"/>
          <p:cNvSpPr/>
          <p:nvPr/>
        </p:nvSpPr>
        <p:spPr>
          <a:xfrm>
            <a:off x="8595360" y="2066544"/>
            <a:ext cx="2514600" cy="640080"/>
          </a:xfrm>
          <a:prstGeom prst="roundRect">
            <a:avLst>
              <a:gd name="adj" fmla="val 8571"/>
            </a:avLst>
          </a:prstGeom>
          <a:solidFill>
            <a:srgbClr val="FFFFFF"/>
          </a:solidFill>
          <a:ln w="15875">
            <a:solidFill>
              <a:srgbClr val="7A4FA3"/>
            </a:solidFill>
            <a:prstDash val="solid"/>
          </a:ln>
        </p:spPr>
      </p:sp>
      <p:sp>
        <p:nvSpPr>
          <p:cNvPr id="71" name="Text 57"/>
          <p:cNvSpPr/>
          <p:nvPr/>
        </p:nvSpPr>
        <p:spPr>
          <a:xfrm>
            <a:off x="8595360" y="2066544"/>
            <a:ext cx="457200" cy="640080"/>
          </a:xfrm>
          <a:prstGeom prst="rect">
            <a:avLst/>
          </a:prstGeom>
          <a:noFill/>
          <a:ln/>
        </p:spPr>
        <p:txBody>
          <a:bodyPr wrap="square" rtlCol="0" anchor="ctr"/>
          <a:lstStyle/>
          <a:p>
            <a:pPr marL="0" indent="0" algn="ctr">
              <a:buNone/>
            </a:pPr>
            <a:r>
              <a:rPr lang="en-US" sz="2200" b="1" i="1" dirty="0">
                <a:solidFill>
                  <a:srgbClr val="000000"/>
                </a:solidFill>
                <a:latin typeface="Calibri" pitchFamily="34" charset="0"/>
                <a:ea typeface="Calibri" pitchFamily="34" charset="-122"/>
                <a:cs typeface="Calibri" pitchFamily="34" charset="-120"/>
              </a:rPr>
              <a:t>γ</a:t>
            </a:r>
            <a:endParaRPr lang="en-US" sz="2200" dirty="0"/>
          </a:p>
        </p:txBody>
      </p:sp>
      <p:sp>
        <p:nvSpPr>
          <p:cNvPr id="72" name="Text 58"/>
          <p:cNvSpPr/>
          <p:nvPr/>
        </p:nvSpPr>
        <p:spPr>
          <a:xfrm>
            <a:off x="9198864" y="2066544"/>
            <a:ext cx="1956816" cy="640080"/>
          </a:xfrm>
          <a:prstGeom prst="rect">
            <a:avLst/>
          </a:prstGeom>
          <a:noFill/>
          <a:ln/>
        </p:spPr>
        <p:txBody>
          <a:bodyPr wrap="square" rtlCol="0" anchor="ctr"/>
          <a:lstStyle/>
          <a:p>
            <a:pPr marL="0" indent="0">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Gamma Correction
</a:t>
            </a:r>
            <a:r>
              <a:rPr lang="en-US" sz="850" dirty="0">
                <a:solidFill>
                  <a:srgbClr val="444444"/>
                </a:solidFill>
                <a:latin typeface="Times New Roman" panose="02020603050405020304" pitchFamily="18" charset="0"/>
                <a:ea typeface="Calibri" pitchFamily="34" charset="-122"/>
                <a:cs typeface="Times New Roman" panose="02020603050405020304" pitchFamily="18" charset="0"/>
              </a:rPr>
              <a:t>(Brightness Adjustment)</a:t>
            </a:r>
            <a:endParaRPr lang="en-US" sz="1050" dirty="0">
              <a:latin typeface="Times New Roman" panose="02020603050405020304" pitchFamily="18" charset="0"/>
              <a:cs typeface="Times New Roman" panose="02020603050405020304" pitchFamily="18" charset="0"/>
            </a:endParaRPr>
          </a:p>
        </p:txBody>
      </p:sp>
      <p:sp>
        <p:nvSpPr>
          <p:cNvPr id="73" name="Shape 59"/>
          <p:cNvSpPr/>
          <p:nvPr/>
        </p:nvSpPr>
        <p:spPr>
          <a:xfrm>
            <a:off x="9852660" y="2706624"/>
            <a:ext cx="0" cy="82296"/>
          </a:xfrm>
          <a:prstGeom prst="line">
            <a:avLst/>
          </a:prstGeom>
          <a:noFill/>
          <a:ln w="22225">
            <a:solidFill>
              <a:srgbClr val="333333"/>
            </a:solidFill>
            <a:prstDash val="solid"/>
            <a:tailEnd type="triangle"/>
          </a:ln>
        </p:spPr>
      </p:sp>
      <p:sp>
        <p:nvSpPr>
          <p:cNvPr id="74" name="Shape 60"/>
          <p:cNvSpPr/>
          <p:nvPr/>
        </p:nvSpPr>
        <p:spPr>
          <a:xfrm>
            <a:off x="8595360" y="2788920"/>
            <a:ext cx="2514600" cy="640080"/>
          </a:xfrm>
          <a:prstGeom prst="roundRect">
            <a:avLst>
              <a:gd name="adj" fmla="val 8571"/>
            </a:avLst>
          </a:prstGeom>
          <a:solidFill>
            <a:srgbClr val="FFFFFF"/>
          </a:solidFill>
          <a:ln w="15875">
            <a:solidFill>
              <a:srgbClr val="7A4FA3"/>
            </a:solidFill>
            <a:prstDash val="solid"/>
          </a:ln>
        </p:spPr>
      </p:sp>
      <p:pic>
        <p:nvPicPr>
          <p:cNvPr id="75" name="Image 12" descr="icons/colorwheel.png"/>
          <p:cNvPicPr>
            <a:picLocks noChangeAspect="1"/>
          </p:cNvPicPr>
          <p:nvPr/>
        </p:nvPicPr>
        <p:blipFill>
          <a:blip r:embed="rId14"/>
          <a:stretch>
            <a:fillRect/>
          </a:stretch>
        </p:blipFill>
        <p:spPr>
          <a:xfrm>
            <a:off x="8686800" y="2862072"/>
            <a:ext cx="493776" cy="493776"/>
          </a:xfrm>
          <a:prstGeom prst="rect">
            <a:avLst/>
          </a:prstGeom>
        </p:spPr>
      </p:pic>
      <p:sp>
        <p:nvSpPr>
          <p:cNvPr id="76" name="Text 61"/>
          <p:cNvSpPr/>
          <p:nvPr/>
        </p:nvSpPr>
        <p:spPr>
          <a:xfrm>
            <a:off x="9290304" y="2788920"/>
            <a:ext cx="1746504" cy="64008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White Balance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(Color Correction)</a:t>
            </a:r>
            <a:endParaRPr lang="en-US" sz="1100" dirty="0">
              <a:latin typeface="Times New Roman" panose="02020603050405020304" pitchFamily="18" charset="0"/>
              <a:cs typeface="Times New Roman" panose="02020603050405020304" pitchFamily="18" charset="0"/>
            </a:endParaRPr>
          </a:p>
        </p:txBody>
      </p:sp>
      <p:sp>
        <p:nvSpPr>
          <p:cNvPr id="77" name="Shape 62"/>
          <p:cNvSpPr/>
          <p:nvPr/>
        </p:nvSpPr>
        <p:spPr>
          <a:xfrm>
            <a:off x="9852660" y="3429000"/>
            <a:ext cx="0" cy="82296"/>
          </a:xfrm>
          <a:prstGeom prst="line">
            <a:avLst/>
          </a:prstGeom>
          <a:noFill/>
          <a:ln w="22225">
            <a:solidFill>
              <a:srgbClr val="333333"/>
            </a:solidFill>
            <a:prstDash val="solid"/>
            <a:tailEnd type="triangle"/>
          </a:ln>
        </p:spPr>
      </p:sp>
      <p:sp>
        <p:nvSpPr>
          <p:cNvPr id="78" name="Shape 63"/>
          <p:cNvSpPr/>
          <p:nvPr/>
        </p:nvSpPr>
        <p:spPr>
          <a:xfrm>
            <a:off x="8595360" y="3511296"/>
            <a:ext cx="2514600" cy="640080"/>
          </a:xfrm>
          <a:prstGeom prst="roundRect">
            <a:avLst>
              <a:gd name="adj" fmla="val 8571"/>
            </a:avLst>
          </a:prstGeom>
          <a:solidFill>
            <a:srgbClr val="FFFFFF"/>
          </a:solidFill>
          <a:ln w="15875">
            <a:solidFill>
              <a:srgbClr val="7A4FA3"/>
            </a:solidFill>
            <a:prstDash val="solid"/>
          </a:ln>
        </p:spPr>
      </p:sp>
      <p:sp>
        <p:nvSpPr>
          <p:cNvPr id="79" name="Shape 64"/>
          <p:cNvSpPr/>
          <p:nvPr/>
        </p:nvSpPr>
        <p:spPr>
          <a:xfrm>
            <a:off x="8705088" y="3685032"/>
            <a:ext cx="292608" cy="292608"/>
          </a:xfrm>
          <a:prstGeom prst="ellipse">
            <a:avLst/>
          </a:prstGeom>
          <a:solidFill>
            <a:srgbClr val="FFFFFF"/>
          </a:solidFill>
          <a:ln w="19050">
            <a:solidFill>
              <a:srgbClr val="1A1A1A"/>
            </a:solidFill>
            <a:prstDash val="solid"/>
          </a:ln>
        </p:spPr>
      </p:sp>
      <p:sp>
        <p:nvSpPr>
          <p:cNvPr id="80" name="Shape 65"/>
          <p:cNvSpPr/>
          <p:nvPr/>
        </p:nvSpPr>
        <p:spPr>
          <a:xfrm>
            <a:off x="8705088" y="3685032"/>
            <a:ext cx="292608" cy="292608"/>
          </a:xfrm>
          <a:prstGeom prst="pie">
            <a:avLst>
              <a:gd name="adj1" fmla="val 5400000"/>
              <a:gd name="adj2" fmla="val 16200000"/>
            </a:avLst>
          </a:prstGeom>
          <a:solidFill>
            <a:srgbClr val="1A1A1A"/>
          </a:solidFill>
          <a:ln/>
        </p:spPr>
      </p:sp>
      <p:sp>
        <p:nvSpPr>
          <p:cNvPr id="81" name="Text 66"/>
          <p:cNvSpPr/>
          <p:nvPr/>
        </p:nvSpPr>
        <p:spPr>
          <a:xfrm>
            <a:off x="9198864" y="3511296"/>
            <a:ext cx="1956816" cy="640080"/>
          </a:xfrm>
          <a:prstGeom prst="rect">
            <a:avLst/>
          </a:prstGeom>
          <a:noFill/>
          <a:ln/>
        </p:spPr>
        <p:txBody>
          <a:bodyPr wrap="square" rtlCol="0" anchor="ctr"/>
          <a:lstStyle/>
          <a:p>
            <a:pPr marL="0" indent="0">
              <a:buNone/>
            </a:pPr>
            <a:r>
              <a:rPr lang="en-US" sz="1050" b="1" dirty="0">
                <a:solidFill>
                  <a:srgbClr val="111111"/>
                </a:solidFill>
                <a:latin typeface="Times New Roman" panose="02020603050405020304" pitchFamily="18" charset="0"/>
                <a:ea typeface="Calibri" pitchFamily="34" charset="-122"/>
                <a:cs typeface="Times New Roman" panose="02020603050405020304" pitchFamily="18" charset="0"/>
              </a:rPr>
              <a:t>Contrast Enhancement
</a:t>
            </a:r>
            <a:r>
              <a:rPr lang="en-US" sz="850" dirty="0">
                <a:solidFill>
                  <a:srgbClr val="444444"/>
                </a:solidFill>
                <a:latin typeface="Times New Roman" panose="02020603050405020304" pitchFamily="18" charset="0"/>
                <a:ea typeface="Calibri" pitchFamily="34" charset="-122"/>
                <a:cs typeface="Times New Roman" panose="02020603050405020304" pitchFamily="18" charset="0"/>
              </a:rPr>
              <a:t>(Improve Visibility)</a:t>
            </a:r>
            <a:endParaRPr lang="en-US" sz="1050" dirty="0">
              <a:latin typeface="Times New Roman" panose="02020603050405020304" pitchFamily="18" charset="0"/>
              <a:cs typeface="Times New Roman" panose="02020603050405020304" pitchFamily="18" charset="0"/>
            </a:endParaRPr>
          </a:p>
        </p:txBody>
      </p:sp>
      <p:sp>
        <p:nvSpPr>
          <p:cNvPr id="82" name="Shape 67"/>
          <p:cNvSpPr/>
          <p:nvPr/>
        </p:nvSpPr>
        <p:spPr>
          <a:xfrm>
            <a:off x="9852660" y="4151376"/>
            <a:ext cx="0" cy="82296"/>
          </a:xfrm>
          <a:prstGeom prst="line">
            <a:avLst/>
          </a:prstGeom>
          <a:noFill/>
          <a:ln w="22225">
            <a:solidFill>
              <a:srgbClr val="333333"/>
            </a:solidFill>
            <a:prstDash val="solid"/>
            <a:tailEnd type="triangle"/>
          </a:ln>
        </p:spPr>
      </p:sp>
      <p:sp>
        <p:nvSpPr>
          <p:cNvPr id="83" name="Shape 68"/>
          <p:cNvSpPr/>
          <p:nvPr/>
        </p:nvSpPr>
        <p:spPr>
          <a:xfrm>
            <a:off x="8595360" y="4233672"/>
            <a:ext cx="2514600" cy="640080"/>
          </a:xfrm>
          <a:prstGeom prst="roundRect">
            <a:avLst>
              <a:gd name="adj" fmla="val 8571"/>
            </a:avLst>
          </a:prstGeom>
          <a:solidFill>
            <a:srgbClr val="FFFFFF"/>
          </a:solidFill>
          <a:ln w="15875">
            <a:solidFill>
              <a:srgbClr val="7A4FA3"/>
            </a:solidFill>
            <a:prstDash val="solid"/>
          </a:ln>
        </p:spPr>
      </p:sp>
      <p:pic>
        <p:nvPicPr>
          <p:cNvPr id="84" name="Image 13" descr="icons/mountain.png"/>
          <p:cNvPicPr>
            <a:picLocks noChangeAspect="1"/>
          </p:cNvPicPr>
          <p:nvPr/>
        </p:nvPicPr>
        <p:blipFill>
          <a:blip r:embed="rId15"/>
          <a:stretch>
            <a:fillRect/>
          </a:stretch>
        </p:blipFill>
        <p:spPr>
          <a:xfrm>
            <a:off x="8686800" y="4306824"/>
            <a:ext cx="493776" cy="493776"/>
          </a:xfrm>
          <a:prstGeom prst="rect">
            <a:avLst/>
          </a:prstGeom>
        </p:spPr>
      </p:pic>
      <p:sp>
        <p:nvSpPr>
          <p:cNvPr id="85" name="Text 69"/>
          <p:cNvSpPr/>
          <p:nvPr/>
        </p:nvSpPr>
        <p:spPr>
          <a:xfrm>
            <a:off x="9290304" y="4233672"/>
            <a:ext cx="1746504" cy="64008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Tone Mapping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(Preserve Background)</a:t>
            </a:r>
            <a:endParaRPr lang="en-US" sz="1100" dirty="0">
              <a:latin typeface="Times New Roman" panose="02020603050405020304" pitchFamily="18" charset="0"/>
              <a:cs typeface="Times New Roman" panose="02020603050405020304" pitchFamily="18" charset="0"/>
            </a:endParaRPr>
          </a:p>
        </p:txBody>
      </p:sp>
      <p:sp>
        <p:nvSpPr>
          <p:cNvPr id="86" name="Shape 70"/>
          <p:cNvSpPr/>
          <p:nvPr/>
        </p:nvSpPr>
        <p:spPr>
          <a:xfrm>
            <a:off x="9852660" y="4873752"/>
            <a:ext cx="0" cy="82296"/>
          </a:xfrm>
          <a:prstGeom prst="line">
            <a:avLst/>
          </a:prstGeom>
          <a:noFill/>
          <a:ln w="22225">
            <a:solidFill>
              <a:srgbClr val="333333"/>
            </a:solidFill>
            <a:prstDash val="solid"/>
            <a:tailEnd type="triangle"/>
          </a:ln>
        </p:spPr>
      </p:sp>
      <p:sp>
        <p:nvSpPr>
          <p:cNvPr id="87" name="Shape 71"/>
          <p:cNvSpPr/>
          <p:nvPr/>
        </p:nvSpPr>
        <p:spPr>
          <a:xfrm>
            <a:off x="8595360" y="4956048"/>
            <a:ext cx="2514600" cy="640080"/>
          </a:xfrm>
          <a:prstGeom prst="roundRect">
            <a:avLst>
              <a:gd name="adj" fmla="val 8571"/>
            </a:avLst>
          </a:prstGeom>
          <a:solidFill>
            <a:srgbClr val="FFFFFF"/>
          </a:solidFill>
          <a:ln w="15875">
            <a:solidFill>
              <a:srgbClr val="7A4FA3"/>
            </a:solidFill>
            <a:prstDash val="solid"/>
          </a:ln>
        </p:spPr>
      </p:sp>
      <p:pic>
        <p:nvPicPr>
          <p:cNvPr id="88" name="Image 14" descr="icons/sun.png"/>
          <p:cNvPicPr>
            <a:picLocks noChangeAspect="1"/>
          </p:cNvPicPr>
          <p:nvPr/>
        </p:nvPicPr>
        <p:blipFill>
          <a:blip r:embed="rId10"/>
          <a:stretch>
            <a:fillRect/>
          </a:stretch>
        </p:blipFill>
        <p:spPr>
          <a:xfrm>
            <a:off x="8686800" y="5029200"/>
            <a:ext cx="493776" cy="493776"/>
          </a:xfrm>
          <a:prstGeom prst="rect">
            <a:avLst/>
          </a:prstGeom>
        </p:spPr>
      </p:pic>
      <p:sp>
        <p:nvSpPr>
          <p:cNvPr id="89" name="Text 72"/>
          <p:cNvSpPr/>
          <p:nvPr/>
        </p:nvSpPr>
        <p:spPr>
          <a:xfrm>
            <a:off x="9290304" y="4956048"/>
            <a:ext cx="1746504" cy="640080"/>
          </a:xfrm>
          <a:prstGeom prst="rect">
            <a:avLst/>
          </a:prstGeom>
          <a:noFill/>
          <a:ln/>
        </p:spPr>
        <p:txBody>
          <a:bodyPr wrap="square" rtlCol="0" anchor="ctr"/>
          <a:lstStyle/>
          <a:p>
            <a:pPr marL="0" indent="0" algn="l">
              <a:buNone/>
            </a:pPr>
            <a:r>
              <a:rPr lang="en-US" sz="1100" b="1" dirty="0">
                <a:solidFill>
                  <a:srgbClr val="111111"/>
                </a:solidFill>
                <a:latin typeface="Times New Roman" panose="02020603050405020304" pitchFamily="18" charset="0"/>
                <a:ea typeface="Calibri" pitchFamily="34" charset="-122"/>
                <a:cs typeface="Times New Roman" panose="02020603050405020304" pitchFamily="18" charset="0"/>
              </a:rPr>
              <a:t>Brightness Adjustment
</a:t>
            </a:r>
            <a:r>
              <a:rPr lang="en-US" sz="900" dirty="0">
                <a:solidFill>
                  <a:srgbClr val="444444"/>
                </a:solidFill>
                <a:latin typeface="Times New Roman" panose="02020603050405020304" pitchFamily="18" charset="0"/>
                <a:ea typeface="Calibri" pitchFamily="34" charset="-122"/>
                <a:cs typeface="Times New Roman" panose="02020603050405020304" pitchFamily="18" charset="0"/>
              </a:rPr>
              <a:t>(Face Illumination)</a:t>
            </a:r>
            <a:endParaRPr lang="en-US" sz="1100" dirty="0">
              <a:latin typeface="Times New Roman" panose="02020603050405020304" pitchFamily="18" charset="0"/>
              <a:cs typeface="Times New Roman" panose="02020603050405020304" pitchFamily="18" charset="0"/>
            </a:endParaRPr>
          </a:p>
        </p:txBody>
      </p:sp>
      <p:sp>
        <p:nvSpPr>
          <p:cNvPr id="90" name="Shape 73"/>
          <p:cNvSpPr/>
          <p:nvPr/>
        </p:nvSpPr>
        <p:spPr>
          <a:xfrm>
            <a:off x="11384280" y="777240"/>
            <a:ext cx="2468880" cy="5212080"/>
          </a:xfrm>
          <a:prstGeom prst="roundRect">
            <a:avLst>
              <a:gd name="adj" fmla="val 1852"/>
            </a:avLst>
          </a:prstGeom>
          <a:solidFill>
            <a:srgbClr val="FFFFFF"/>
          </a:solidFill>
          <a:ln w="19050">
            <a:solidFill>
              <a:srgbClr val="1B4F8F"/>
            </a:solidFill>
            <a:prstDash val="solid"/>
          </a:ln>
        </p:spPr>
      </p:sp>
      <p:sp>
        <p:nvSpPr>
          <p:cNvPr id="91" name="Shape 74"/>
          <p:cNvSpPr/>
          <p:nvPr/>
        </p:nvSpPr>
        <p:spPr>
          <a:xfrm>
            <a:off x="11384280" y="777240"/>
            <a:ext cx="2468880" cy="384048"/>
          </a:xfrm>
          <a:prstGeom prst="rect">
            <a:avLst/>
          </a:prstGeom>
          <a:solidFill>
            <a:srgbClr val="1B2A4A"/>
          </a:solidFill>
          <a:ln/>
        </p:spPr>
      </p:sp>
      <p:sp>
        <p:nvSpPr>
          <p:cNvPr id="92" name="Text 75"/>
          <p:cNvSpPr/>
          <p:nvPr/>
        </p:nvSpPr>
        <p:spPr>
          <a:xfrm>
            <a:off x="11384280" y="777240"/>
            <a:ext cx="2468880" cy="384048"/>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4. OUTPUT IMAGE</a:t>
            </a:r>
            <a:endParaRPr lang="en-US" sz="1300" dirty="0">
              <a:latin typeface="Times New Roman" panose="02020603050405020304" pitchFamily="18" charset="0"/>
              <a:cs typeface="Times New Roman" panose="02020603050405020304" pitchFamily="18" charset="0"/>
            </a:endParaRPr>
          </a:p>
        </p:txBody>
      </p:sp>
      <p:sp>
        <p:nvSpPr>
          <p:cNvPr id="93" name="Text 76"/>
          <p:cNvSpPr/>
          <p:nvPr/>
        </p:nvSpPr>
        <p:spPr>
          <a:xfrm>
            <a:off x="11384280" y="1234440"/>
            <a:ext cx="2468880" cy="274320"/>
          </a:xfrm>
          <a:prstGeom prst="rect">
            <a:avLst/>
          </a:prstGeom>
          <a:noFill/>
          <a:ln/>
        </p:spPr>
        <p:txBody>
          <a:bodyPr wrap="square" rtlCol="0" anchor="ctr"/>
          <a:lstStyle/>
          <a:p>
            <a:pPr marL="0" indent="0" algn="ctr">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Enhanced Portrait</a:t>
            </a:r>
            <a:endParaRPr lang="en-US" sz="1200" dirty="0">
              <a:latin typeface="Times New Roman" panose="02020603050405020304" pitchFamily="18" charset="0"/>
              <a:cs typeface="Times New Roman" panose="02020603050405020304" pitchFamily="18" charset="0"/>
            </a:endParaRPr>
          </a:p>
        </p:txBody>
      </p:sp>
      <p:pic>
        <p:nvPicPr>
          <p:cNvPr id="94" name="Image 15" descr="enhanced.png"/>
          <p:cNvPicPr>
            <a:picLocks noChangeAspect="1"/>
          </p:cNvPicPr>
          <p:nvPr/>
        </p:nvPicPr>
        <p:blipFill>
          <a:blip r:embed="rId16"/>
          <a:stretch>
            <a:fillRect/>
          </a:stretch>
        </p:blipFill>
        <p:spPr>
          <a:xfrm>
            <a:off x="11521440" y="1554480"/>
            <a:ext cx="2194560" cy="1920240"/>
          </a:xfrm>
          <a:prstGeom prst="rect">
            <a:avLst/>
          </a:prstGeom>
        </p:spPr>
      </p:pic>
      <p:sp>
        <p:nvSpPr>
          <p:cNvPr id="95" name="Shape 77"/>
          <p:cNvSpPr/>
          <p:nvPr/>
        </p:nvSpPr>
        <p:spPr>
          <a:xfrm>
            <a:off x="11475720" y="3657600"/>
            <a:ext cx="2286000" cy="2194560"/>
          </a:xfrm>
          <a:prstGeom prst="roundRect">
            <a:avLst>
              <a:gd name="adj" fmla="val 2083"/>
            </a:avLst>
          </a:prstGeom>
          <a:solidFill>
            <a:srgbClr val="FFFFFF"/>
          </a:solidFill>
          <a:ln w="19050">
            <a:solidFill>
              <a:srgbClr val="1B4F8F"/>
            </a:solidFill>
            <a:prstDash val="solid"/>
          </a:ln>
        </p:spPr>
      </p:sp>
      <p:sp>
        <p:nvSpPr>
          <p:cNvPr id="96" name="Text 78"/>
          <p:cNvSpPr/>
          <p:nvPr/>
        </p:nvSpPr>
        <p:spPr>
          <a:xfrm>
            <a:off x="11475720" y="3721608"/>
            <a:ext cx="2286000" cy="274320"/>
          </a:xfrm>
          <a:prstGeom prst="rect">
            <a:avLst/>
          </a:prstGeom>
          <a:noFill/>
          <a:ln/>
        </p:spPr>
        <p:txBody>
          <a:bodyPr wrap="square" rtlCol="0" anchor="ctr"/>
          <a:lstStyle/>
          <a:p>
            <a:pPr marL="0" indent="0" algn="ctr">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Results</a:t>
            </a:r>
            <a:endParaRPr lang="en-US" sz="1200" dirty="0">
              <a:latin typeface="Times New Roman" panose="02020603050405020304" pitchFamily="18" charset="0"/>
              <a:cs typeface="Times New Roman" panose="02020603050405020304" pitchFamily="18" charset="0"/>
            </a:endParaRPr>
          </a:p>
        </p:txBody>
      </p:sp>
      <p:pic>
        <p:nvPicPr>
          <p:cNvPr id="97" name="Image 16" descr="icons/check.png"/>
          <p:cNvPicPr>
            <a:picLocks noChangeAspect="1"/>
          </p:cNvPicPr>
          <p:nvPr/>
        </p:nvPicPr>
        <p:blipFill>
          <a:blip r:embed="rId17"/>
          <a:stretch>
            <a:fillRect/>
          </a:stretch>
        </p:blipFill>
        <p:spPr>
          <a:xfrm>
            <a:off x="11585448" y="4050792"/>
            <a:ext cx="182880" cy="182880"/>
          </a:xfrm>
          <a:prstGeom prst="rect">
            <a:avLst/>
          </a:prstGeom>
        </p:spPr>
      </p:pic>
      <p:sp>
        <p:nvSpPr>
          <p:cNvPr id="98" name="Text 79"/>
          <p:cNvSpPr/>
          <p:nvPr/>
        </p:nvSpPr>
        <p:spPr>
          <a:xfrm>
            <a:off x="11841480" y="3995928"/>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Face Clearly Visible</a:t>
            </a:r>
            <a:endParaRPr lang="en-US" sz="1000" dirty="0">
              <a:latin typeface="Times New Roman" panose="02020603050405020304" pitchFamily="18" charset="0"/>
              <a:cs typeface="Times New Roman" panose="02020603050405020304" pitchFamily="18" charset="0"/>
            </a:endParaRPr>
          </a:p>
        </p:txBody>
      </p:sp>
      <p:pic>
        <p:nvPicPr>
          <p:cNvPr id="99" name="Image 17" descr="icons/check.png"/>
          <p:cNvPicPr>
            <a:picLocks noChangeAspect="1"/>
          </p:cNvPicPr>
          <p:nvPr/>
        </p:nvPicPr>
        <p:blipFill>
          <a:blip r:embed="rId17"/>
          <a:stretch>
            <a:fillRect/>
          </a:stretch>
        </p:blipFill>
        <p:spPr>
          <a:xfrm>
            <a:off x="11585448" y="4343400"/>
            <a:ext cx="182880" cy="182880"/>
          </a:xfrm>
          <a:prstGeom prst="rect">
            <a:avLst/>
          </a:prstGeom>
        </p:spPr>
      </p:pic>
      <p:sp>
        <p:nvSpPr>
          <p:cNvPr id="100" name="Text 80"/>
          <p:cNvSpPr/>
          <p:nvPr/>
        </p:nvSpPr>
        <p:spPr>
          <a:xfrm>
            <a:off x="11841480" y="4288536"/>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Reduced Shadows</a:t>
            </a:r>
            <a:endParaRPr lang="en-US" sz="1000" dirty="0">
              <a:latin typeface="Times New Roman" panose="02020603050405020304" pitchFamily="18" charset="0"/>
              <a:cs typeface="Times New Roman" panose="02020603050405020304" pitchFamily="18" charset="0"/>
            </a:endParaRPr>
          </a:p>
        </p:txBody>
      </p:sp>
      <p:pic>
        <p:nvPicPr>
          <p:cNvPr id="101" name="Image 18" descr="icons/check.png"/>
          <p:cNvPicPr>
            <a:picLocks noChangeAspect="1"/>
          </p:cNvPicPr>
          <p:nvPr/>
        </p:nvPicPr>
        <p:blipFill>
          <a:blip r:embed="rId17"/>
          <a:stretch>
            <a:fillRect/>
          </a:stretch>
        </p:blipFill>
        <p:spPr>
          <a:xfrm>
            <a:off x="11585448" y="4636008"/>
            <a:ext cx="182880" cy="182880"/>
          </a:xfrm>
          <a:prstGeom prst="rect">
            <a:avLst/>
          </a:prstGeom>
        </p:spPr>
      </p:pic>
      <p:sp>
        <p:nvSpPr>
          <p:cNvPr id="102" name="Text 81"/>
          <p:cNvSpPr/>
          <p:nvPr/>
        </p:nvSpPr>
        <p:spPr>
          <a:xfrm>
            <a:off x="11841480" y="4581144"/>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Balanced Brightness</a:t>
            </a:r>
            <a:endParaRPr lang="en-US" sz="1000" dirty="0">
              <a:latin typeface="Times New Roman" panose="02020603050405020304" pitchFamily="18" charset="0"/>
              <a:cs typeface="Times New Roman" panose="02020603050405020304" pitchFamily="18" charset="0"/>
            </a:endParaRPr>
          </a:p>
        </p:txBody>
      </p:sp>
      <p:pic>
        <p:nvPicPr>
          <p:cNvPr id="103" name="Image 19" descr="icons/check.png"/>
          <p:cNvPicPr>
            <a:picLocks noChangeAspect="1"/>
          </p:cNvPicPr>
          <p:nvPr/>
        </p:nvPicPr>
        <p:blipFill>
          <a:blip r:embed="rId17"/>
          <a:stretch>
            <a:fillRect/>
          </a:stretch>
        </p:blipFill>
        <p:spPr>
          <a:xfrm>
            <a:off x="11585448" y="4928616"/>
            <a:ext cx="182880" cy="182880"/>
          </a:xfrm>
          <a:prstGeom prst="rect">
            <a:avLst/>
          </a:prstGeom>
        </p:spPr>
      </p:pic>
      <p:sp>
        <p:nvSpPr>
          <p:cNvPr id="104" name="Text 82"/>
          <p:cNvSpPr/>
          <p:nvPr/>
        </p:nvSpPr>
        <p:spPr>
          <a:xfrm>
            <a:off x="11841480" y="4873752"/>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Natural Skin Tone</a:t>
            </a:r>
            <a:endParaRPr lang="en-US" sz="1000" dirty="0">
              <a:latin typeface="Times New Roman" panose="02020603050405020304" pitchFamily="18" charset="0"/>
              <a:cs typeface="Times New Roman" panose="02020603050405020304" pitchFamily="18" charset="0"/>
            </a:endParaRPr>
          </a:p>
        </p:txBody>
      </p:sp>
      <p:pic>
        <p:nvPicPr>
          <p:cNvPr id="105" name="Image 20" descr="icons/check.png"/>
          <p:cNvPicPr>
            <a:picLocks noChangeAspect="1"/>
          </p:cNvPicPr>
          <p:nvPr/>
        </p:nvPicPr>
        <p:blipFill>
          <a:blip r:embed="rId17"/>
          <a:stretch>
            <a:fillRect/>
          </a:stretch>
        </p:blipFill>
        <p:spPr>
          <a:xfrm>
            <a:off x="11585448" y="5221224"/>
            <a:ext cx="182880" cy="182880"/>
          </a:xfrm>
          <a:prstGeom prst="rect">
            <a:avLst/>
          </a:prstGeom>
        </p:spPr>
      </p:pic>
      <p:sp>
        <p:nvSpPr>
          <p:cNvPr id="106" name="Text 83"/>
          <p:cNvSpPr/>
          <p:nvPr/>
        </p:nvSpPr>
        <p:spPr>
          <a:xfrm>
            <a:off x="11841480" y="5166360"/>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Better Contrast</a:t>
            </a:r>
            <a:endParaRPr lang="en-US" sz="1000" dirty="0">
              <a:latin typeface="Times New Roman" panose="02020603050405020304" pitchFamily="18" charset="0"/>
              <a:cs typeface="Times New Roman" panose="02020603050405020304" pitchFamily="18" charset="0"/>
            </a:endParaRPr>
          </a:p>
        </p:txBody>
      </p:sp>
      <p:pic>
        <p:nvPicPr>
          <p:cNvPr id="107" name="Image 21" descr="icons/check.png"/>
          <p:cNvPicPr>
            <a:picLocks noChangeAspect="1"/>
          </p:cNvPicPr>
          <p:nvPr/>
        </p:nvPicPr>
        <p:blipFill>
          <a:blip r:embed="rId17"/>
          <a:stretch>
            <a:fillRect/>
          </a:stretch>
        </p:blipFill>
        <p:spPr>
          <a:xfrm>
            <a:off x="11585448" y="5513832"/>
            <a:ext cx="182880" cy="182880"/>
          </a:xfrm>
          <a:prstGeom prst="rect">
            <a:avLst/>
          </a:prstGeom>
        </p:spPr>
      </p:pic>
      <p:sp>
        <p:nvSpPr>
          <p:cNvPr id="108" name="Text 84"/>
          <p:cNvSpPr/>
          <p:nvPr/>
        </p:nvSpPr>
        <p:spPr>
          <a:xfrm>
            <a:off x="11841480" y="5458968"/>
            <a:ext cx="1874520" cy="292608"/>
          </a:xfrm>
          <a:prstGeom prst="rect">
            <a:avLst/>
          </a:prstGeom>
          <a:noFill/>
          <a:ln/>
        </p:spPr>
        <p:txBody>
          <a:bodyPr wrap="square" rtlCol="0" anchor="ct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High Quality Image</a:t>
            </a:r>
            <a:endParaRPr lang="en-US" sz="1000" dirty="0">
              <a:latin typeface="Times New Roman" panose="02020603050405020304" pitchFamily="18" charset="0"/>
              <a:cs typeface="Times New Roman" panose="02020603050405020304" pitchFamily="18" charset="0"/>
            </a:endParaRPr>
          </a:p>
        </p:txBody>
      </p:sp>
      <p:sp>
        <p:nvSpPr>
          <p:cNvPr id="109" name="Shape 85"/>
          <p:cNvSpPr/>
          <p:nvPr/>
        </p:nvSpPr>
        <p:spPr>
          <a:xfrm>
            <a:off x="2487168" y="3063240"/>
            <a:ext cx="100584" cy="0"/>
          </a:xfrm>
          <a:prstGeom prst="line">
            <a:avLst/>
          </a:prstGeom>
          <a:noFill/>
          <a:ln w="28575">
            <a:solidFill>
              <a:srgbClr val="1B4F8F"/>
            </a:solidFill>
            <a:prstDash val="solid"/>
            <a:tailEnd type="triangle"/>
          </a:ln>
        </p:spPr>
      </p:sp>
      <p:sp>
        <p:nvSpPr>
          <p:cNvPr id="110" name="Shape 86"/>
          <p:cNvSpPr/>
          <p:nvPr/>
        </p:nvSpPr>
        <p:spPr>
          <a:xfrm>
            <a:off x="5413248" y="3063240"/>
            <a:ext cx="100584" cy="0"/>
          </a:xfrm>
          <a:prstGeom prst="line">
            <a:avLst/>
          </a:prstGeom>
          <a:noFill/>
          <a:ln w="28575">
            <a:solidFill>
              <a:srgbClr val="E07B1E"/>
            </a:solidFill>
            <a:prstDash val="solid"/>
            <a:tailEnd type="triangle"/>
          </a:ln>
        </p:spPr>
      </p:sp>
      <p:sp>
        <p:nvSpPr>
          <p:cNvPr id="111" name="Shape 87"/>
          <p:cNvSpPr/>
          <p:nvPr/>
        </p:nvSpPr>
        <p:spPr>
          <a:xfrm>
            <a:off x="8339328" y="3063240"/>
            <a:ext cx="100584" cy="0"/>
          </a:xfrm>
          <a:prstGeom prst="line">
            <a:avLst/>
          </a:prstGeom>
          <a:noFill/>
          <a:ln w="28575">
            <a:solidFill>
              <a:srgbClr val="3F8F3F"/>
            </a:solidFill>
            <a:prstDash val="solid"/>
            <a:tailEnd type="triangle"/>
          </a:ln>
        </p:spPr>
      </p:sp>
      <p:sp>
        <p:nvSpPr>
          <p:cNvPr id="112" name="Shape 88"/>
          <p:cNvSpPr/>
          <p:nvPr/>
        </p:nvSpPr>
        <p:spPr>
          <a:xfrm>
            <a:off x="11265408" y="3063240"/>
            <a:ext cx="100584" cy="0"/>
          </a:xfrm>
          <a:prstGeom prst="line">
            <a:avLst/>
          </a:prstGeom>
          <a:noFill/>
          <a:ln w="28575">
            <a:solidFill>
              <a:srgbClr val="7A4FA3"/>
            </a:solidFill>
            <a:prstDash val="solid"/>
            <a:tailEnd type="triangle"/>
          </a:ln>
        </p:spPr>
      </p:sp>
      <p:sp>
        <p:nvSpPr>
          <p:cNvPr id="113" name="Shape 89"/>
          <p:cNvSpPr/>
          <p:nvPr/>
        </p:nvSpPr>
        <p:spPr>
          <a:xfrm>
            <a:off x="2514600" y="6217920"/>
            <a:ext cx="9006840" cy="1417320"/>
          </a:xfrm>
          <a:prstGeom prst="roundRect">
            <a:avLst>
              <a:gd name="adj" fmla="val 3226"/>
            </a:avLst>
          </a:prstGeom>
          <a:solidFill>
            <a:srgbClr val="FFFFFF"/>
          </a:solidFill>
          <a:ln w="19050">
            <a:solidFill>
              <a:srgbClr val="D4A017"/>
            </a:solidFill>
            <a:prstDash val="solid"/>
          </a:ln>
        </p:spPr>
      </p:sp>
      <p:sp>
        <p:nvSpPr>
          <p:cNvPr id="114" name="Text 90"/>
          <p:cNvSpPr/>
          <p:nvPr/>
        </p:nvSpPr>
        <p:spPr>
          <a:xfrm>
            <a:off x="2514600" y="6272784"/>
            <a:ext cx="9006840" cy="365760"/>
          </a:xfrm>
          <a:prstGeom prst="rect">
            <a:avLst/>
          </a:prstGeom>
          <a:noFill/>
          <a:ln/>
        </p:spPr>
        <p:txBody>
          <a:bodyPr wrap="square" rtlCol="0" anchor="ctr"/>
          <a:lstStyle/>
          <a:p>
            <a:pPr marL="0" indent="0" algn="ctr">
              <a:buNone/>
            </a:pPr>
            <a:r>
              <a:rPr lang="en-US" sz="1500" b="1" dirty="0">
                <a:solidFill>
                  <a:srgbClr val="111111"/>
                </a:solidFill>
                <a:latin typeface="Times New Roman" panose="02020603050405020304" pitchFamily="18" charset="0"/>
                <a:ea typeface="Calibri" pitchFamily="34" charset="-122"/>
                <a:cs typeface="Times New Roman" panose="02020603050405020304" pitchFamily="18" charset="0"/>
              </a:rPr>
              <a:t>5. QUALITY EVALUATION</a:t>
            </a:r>
            <a:endParaRPr lang="en-US" sz="1500" dirty="0">
              <a:latin typeface="Times New Roman" panose="02020603050405020304" pitchFamily="18" charset="0"/>
              <a:cs typeface="Times New Roman" panose="02020603050405020304" pitchFamily="18" charset="0"/>
            </a:endParaRPr>
          </a:p>
        </p:txBody>
      </p:sp>
      <p:sp>
        <p:nvSpPr>
          <p:cNvPr id="115" name="Shape 91"/>
          <p:cNvSpPr/>
          <p:nvPr/>
        </p:nvSpPr>
        <p:spPr>
          <a:xfrm>
            <a:off x="2679192" y="6693408"/>
            <a:ext cx="1371600" cy="795528"/>
          </a:xfrm>
          <a:prstGeom prst="roundRect">
            <a:avLst>
              <a:gd name="adj" fmla="val 6897"/>
            </a:avLst>
          </a:prstGeom>
          <a:solidFill>
            <a:srgbClr val="FFFFFF"/>
          </a:solidFill>
          <a:ln w="15875">
            <a:solidFill>
              <a:srgbClr val="D4A017"/>
            </a:solidFill>
            <a:prstDash val="solid"/>
          </a:ln>
        </p:spPr>
      </p:sp>
      <p:pic>
        <p:nvPicPr>
          <p:cNvPr id="116" name="Image 22" descr="icons/sun.png"/>
          <p:cNvPicPr>
            <a:picLocks noChangeAspect="1"/>
          </p:cNvPicPr>
          <p:nvPr/>
        </p:nvPicPr>
        <p:blipFill>
          <a:blip r:embed="rId10"/>
          <a:stretch>
            <a:fillRect/>
          </a:stretch>
        </p:blipFill>
        <p:spPr>
          <a:xfrm>
            <a:off x="3209544" y="6803136"/>
            <a:ext cx="310896" cy="310896"/>
          </a:xfrm>
          <a:prstGeom prst="rect">
            <a:avLst/>
          </a:prstGeom>
        </p:spPr>
      </p:pic>
      <p:sp>
        <p:nvSpPr>
          <p:cNvPr id="117" name="Text 92"/>
          <p:cNvSpPr/>
          <p:nvPr/>
        </p:nvSpPr>
        <p:spPr>
          <a:xfrm>
            <a:off x="2679192"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Brightness</a:t>
            </a:r>
            <a:endParaRPr lang="en-US" sz="1000" dirty="0"/>
          </a:p>
          <a:p>
            <a:pPr marL="0" indent="0" algn="ctr">
              <a:buNone/>
            </a:pPr>
            <a:r>
              <a:rPr lang="en-US" sz="1000" b="1" dirty="0">
                <a:solidFill>
                  <a:srgbClr val="000000"/>
                </a:solidFill>
                <a:latin typeface="Calibri" pitchFamily="34" charset="0"/>
                <a:ea typeface="Calibri" pitchFamily="34" charset="-122"/>
                <a:cs typeface="Calibri" pitchFamily="34" charset="-120"/>
              </a:rPr>
              <a:t>Measurement</a:t>
            </a:r>
            <a:endParaRPr lang="en-US" sz="1000" dirty="0"/>
          </a:p>
        </p:txBody>
      </p:sp>
      <p:sp>
        <p:nvSpPr>
          <p:cNvPr id="118" name="Shape 93"/>
          <p:cNvSpPr/>
          <p:nvPr/>
        </p:nvSpPr>
        <p:spPr>
          <a:xfrm>
            <a:off x="4169664" y="6693408"/>
            <a:ext cx="1371600" cy="795528"/>
          </a:xfrm>
          <a:prstGeom prst="roundRect">
            <a:avLst>
              <a:gd name="adj" fmla="val 6897"/>
            </a:avLst>
          </a:prstGeom>
          <a:solidFill>
            <a:srgbClr val="FFFFFF"/>
          </a:solidFill>
          <a:ln w="15875">
            <a:solidFill>
              <a:srgbClr val="D4A017"/>
            </a:solidFill>
            <a:prstDash val="solid"/>
          </a:ln>
        </p:spPr>
      </p:sp>
      <p:sp>
        <p:nvSpPr>
          <p:cNvPr id="119" name="Shape 94"/>
          <p:cNvSpPr/>
          <p:nvPr/>
        </p:nvSpPr>
        <p:spPr>
          <a:xfrm>
            <a:off x="4709160" y="6839712"/>
            <a:ext cx="292608" cy="292608"/>
          </a:xfrm>
          <a:prstGeom prst="ellipse">
            <a:avLst/>
          </a:prstGeom>
          <a:solidFill>
            <a:srgbClr val="FFFFFF"/>
          </a:solidFill>
          <a:ln w="19050">
            <a:solidFill>
              <a:srgbClr val="1A1A1A"/>
            </a:solidFill>
            <a:prstDash val="solid"/>
          </a:ln>
        </p:spPr>
      </p:sp>
      <p:sp>
        <p:nvSpPr>
          <p:cNvPr id="120" name="Shape 95"/>
          <p:cNvSpPr/>
          <p:nvPr/>
        </p:nvSpPr>
        <p:spPr>
          <a:xfrm>
            <a:off x="4709160" y="6839712"/>
            <a:ext cx="292608" cy="292608"/>
          </a:xfrm>
          <a:prstGeom prst="pie">
            <a:avLst>
              <a:gd name="adj1" fmla="val 5400000"/>
              <a:gd name="adj2" fmla="val 16200000"/>
            </a:avLst>
          </a:prstGeom>
          <a:solidFill>
            <a:srgbClr val="1A1A1A"/>
          </a:solidFill>
          <a:ln/>
        </p:spPr>
      </p:sp>
      <p:sp>
        <p:nvSpPr>
          <p:cNvPr id="121" name="Text 96"/>
          <p:cNvSpPr/>
          <p:nvPr/>
        </p:nvSpPr>
        <p:spPr>
          <a:xfrm>
            <a:off x="4169664"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Contrast</a:t>
            </a:r>
            <a:endParaRPr lang="en-US" sz="1000" dirty="0"/>
          </a:p>
          <a:p>
            <a:pPr marL="0" indent="0" algn="ctr">
              <a:buNone/>
            </a:pPr>
            <a:r>
              <a:rPr lang="en-US" sz="1000" b="1" dirty="0">
                <a:solidFill>
                  <a:srgbClr val="000000"/>
                </a:solidFill>
                <a:latin typeface="Calibri" pitchFamily="34" charset="0"/>
                <a:ea typeface="Calibri" pitchFamily="34" charset="-122"/>
                <a:cs typeface="Calibri" pitchFamily="34" charset="-120"/>
              </a:rPr>
              <a:t>Measurement</a:t>
            </a:r>
            <a:endParaRPr lang="en-US" sz="1000" dirty="0"/>
          </a:p>
        </p:txBody>
      </p:sp>
      <p:sp>
        <p:nvSpPr>
          <p:cNvPr id="122" name="Shape 97"/>
          <p:cNvSpPr/>
          <p:nvPr/>
        </p:nvSpPr>
        <p:spPr>
          <a:xfrm>
            <a:off x="5660136" y="6693408"/>
            <a:ext cx="1371600" cy="795528"/>
          </a:xfrm>
          <a:prstGeom prst="roundRect">
            <a:avLst>
              <a:gd name="adj" fmla="val 6897"/>
            </a:avLst>
          </a:prstGeom>
          <a:solidFill>
            <a:srgbClr val="FFFFFF"/>
          </a:solidFill>
          <a:ln w="15875">
            <a:solidFill>
              <a:srgbClr val="D4A017"/>
            </a:solidFill>
            <a:prstDash val="solid"/>
          </a:ln>
        </p:spPr>
      </p:sp>
      <p:pic>
        <p:nvPicPr>
          <p:cNvPr id="123" name="Image 23" descr="icons/crosshair.png"/>
          <p:cNvPicPr>
            <a:picLocks noChangeAspect="1"/>
          </p:cNvPicPr>
          <p:nvPr/>
        </p:nvPicPr>
        <p:blipFill>
          <a:blip r:embed="rId18"/>
          <a:stretch>
            <a:fillRect/>
          </a:stretch>
        </p:blipFill>
        <p:spPr>
          <a:xfrm>
            <a:off x="6190488" y="6803136"/>
            <a:ext cx="310896" cy="310896"/>
          </a:xfrm>
          <a:prstGeom prst="rect">
            <a:avLst/>
          </a:prstGeom>
        </p:spPr>
      </p:pic>
      <p:sp>
        <p:nvSpPr>
          <p:cNvPr id="124" name="Text 98"/>
          <p:cNvSpPr/>
          <p:nvPr/>
        </p:nvSpPr>
        <p:spPr>
          <a:xfrm>
            <a:off x="5660136"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Sharpness</a:t>
            </a:r>
            <a:endParaRPr lang="en-US" sz="1000" dirty="0"/>
          </a:p>
          <a:p>
            <a:pPr marL="0" indent="0" algn="ctr">
              <a:buNone/>
            </a:pPr>
            <a:r>
              <a:rPr lang="en-US" sz="1000" b="1" dirty="0">
                <a:solidFill>
                  <a:srgbClr val="000000"/>
                </a:solidFill>
                <a:latin typeface="Calibri" pitchFamily="34" charset="0"/>
                <a:ea typeface="Calibri" pitchFamily="34" charset="-122"/>
                <a:cs typeface="Calibri" pitchFamily="34" charset="-120"/>
              </a:rPr>
              <a:t>Check</a:t>
            </a:r>
            <a:endParaRPr lang="en-US" sz="1000" dirty="0"/>
          </a:p>
        </p:txBody>
      </p:sp>
      <p:sp>
        <p:nvSpPr>
          <p:cNvPr id="125" name="Shape 99"/>
          <p:cNvSpPr/>
          <p:nvPr/>
        </p:nvSpPr>
        <p:spPr>
          <a:xfrm>
            <a:off x="7150608" y="6693408"/>
            <a:ext cx="1371600" cy="795528"/>
          </a:xfrm>
          <a:prstGeom prst="roundRect">
            <a:avLst>
              <a:gd name="adj" fmla="val 6897"/>
            </a:avLst>
          </a:prstGeom>
          <a:solidFill>
            <a:srgbClr val="FFFFFF"/>
          </a:solidFill>
          <a:ln w="15875">
            <a:solidFill>
              <a:srgbClr val="D4A017"/>
            </a:solidFill>
            <a:prstDash val="solid"/>
          </a:ln>
        </p:spPr>
      </p:sp>
      <p:pic>
        <p:nvPicPr>
          <p:cNvPr id="126" name="Image 24" descr="icons/histogram.png"/>
          <p:cNvPicPr>
            <a:picLocks noChangeAspect="1"/>
          </p:cNvPicPr>
          <p:nvPr/>
        </p:nvPicPr>
        <p:blipFill>
          <a:blip r:embed="rId8"/>
          <a:stretch>
            <a:fillRect/>
          </a:stretch>
        </p:blipFill>
        <p:spPr>
          <a:xfrm>
            <a:off x="7680960" y="6803136"/>
            <a:ext cx="310896" cy="310896"/>
          </a:xfrm>
          <a:prstGeom prst="rect">
            <a:avLst/>
          </a:prstGeom>
        </p:spPr>
      </p:pic>
      <p:sp>
        <p:nvSpPr>
          <p:cNvPr id="127" name="Text 100"/>
          <p:cNvSpPr/>
          <p:nvPr/>
        </p:nvSpPr>
        <p:spPr>
          <a:xfrm>
            <a:off x="7150608"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PSNR</a:t>
            </a:r>
            <a:endParaRPr lang="en-US" sz="1000" dirty="0"/>
          </a:p>
        </p:txBody>
      </p:sp>
      <p:sp>
        <p:nvSpPr>
          <p:cNvPr id="128" name="Shape 101"/>
          <p:cNvSpPr/>
          <p:nvPr/>
        </p:nvSpPr>
        <p:spPr>
          <a:xfrm>
            <a:off x="8641080" y="6693408"/>
            <a:ext cx="1371600" cy="795528"/>
          </a:xfrm>
          <a:prstGeom prst="roundRect">
            <a:avLst>
              <a:gd name="adj" fmla="val 6897"/>
            </a:avLst>
          </a:prstGeom>
          <a:solidFill>
            <a:srgbClr val="FFFFFF"/>
          </a:solidFill>
          <a:ln w="15875">
            <a:solidFill>
              <a:srgbClr val="D4A017"/>
            </a:solidFill>
            <a:prstDash val="solid"/>
          </a:ln>
        </p:spPr>
      </p:sp>
      <p:pic>
        <p:nvPicPr>
          <p:cNvPr id="129" name="Image 25" descr="icons/wave.png"/>
          <p:cNvPicPr>
            <a:picLocks noChangeAspect="1"/>
          </p:cNvPicPr>
          <p:nvPr/>
        </p:nvPicPr>
        <p:blipFill>
          <a:blip r:embed="rId19"/>
          <a:stretch>
            <a:fillRect/>
          </a:stretch>
        </p:blipFill>
        <p:spPr>
          <a:xfrm>
            <a:off x="9171432" y="6803136"/>
            <a:ext cx="310896" cy="310896"/>
          </a:xfrm>
          <a:prstGeom prst="rect">
            <a:avLst/>
          </a:prstGeom>
        </p:spPr>
      </p:pic>
      <p:sp>
        <p:nvSpPr>
          <p:cNvPr id="130" name="Text 102"/>
          <p:cNvSpPr/>
          <p:nvPr/>
        </p:nvSpPr>
        <p:spPr>
          <a:xfrm>
            <a:off x="8641080"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SSIM</a:t>
            </a:r>
            <a:endParaRPr lang="en-US" sz="1000" dirty="0"/>
          </a:p>
        </p:txBody>
      </p:sp>
      <p:sp>
        <p:nvSpPr>
          <p:cNvPr id="131" name="Shape 103"/>
          <p:cNvSpPr/>
          <p:nvPr/>
        </p:nvSpPr>
        <p:spPr>
          <a:xfrm>
            <a:off x="10131552" y="6693408"/>
            <a:ext cx="1371600" cy="795528"/>
          </a:xfrm>
          <a:prstGeom prst="roundRect">
            <a:avLst>
              <a:gd name="adj" fmla="val 6897"/>
            </a:avLst>
          </a:prstGeom>
          <a:solidFill>
            <a:srgbClr val="FFFFFF"/>
          </a:solidFill>
          <a:ln w="15875">
            <a:solidFill>
              <a:srgbClr val="D4A017"/>
            </a:solidFill>
            <a:prstDash val="solid"/>
          </a:ln>
        </p:spPr>
      </p:sp>
      <p:pic>
        <p:nvPicPr>
          <p:cNvPr id="132" name="Image 26" descr="icons/eye.png"/>
          <p:cNvPicPr>
            <a:picLocks noChangeAspect="1"/>
          </p:cNvPicPr>
          <p:nvPr/>
        </p:nvPicPr>
        <p:blipFill>
          <a:blip r:embed="rId20"/>
          <a:stretch>
            <a:fillRect/>
          </a:stretch>
        </p:blipFill>
        <p:spPr>
          <a:xfrm>
            <a:off x="10661904" y="6803136"/>
            <a:ext cx="310896" cy="310896"/>
          </a:xfrm>
          <a:prstGeom prst="rect">
            <a:avLst/>
          </a:prstGeom>
        </p:spPr>
      </p:pic>
      <p:sp>
        <p:nvSpPr>
          <p:cNvPr id="133" name="Text 104"/>
          <p:cNvSpPr/>
          <p:nvPr/>
        </p:nvSpPr>
        <p:spPr>
          <a:xfrm>
            <a:off x="10131552" y="7150608"/>
            <a:ext cx="1371600" cy="338328"/>
          </a:xfrm>
          <a:prstGeom prst="rect">
            <a:avLst/>
          </a:prstGeom>
          <a:noFill/>
          <a:ln/>
        </p:spPr>
        <p:txBody>
          <a:bodyPr wrap="square" rtlCol="0" anchor="t"/>
          <a:lstStyle/>
          <a:p>
            <a:pPr marL="0" indent="0" algn="ctr">
              <a:buNone/>
            </a:pPr>
            <a:r>
              <a:rPr lang="en-US" sz="1000" b="1" dirty="0">
                <a:solidFill>
                  <a:srgbClr val="000000"/>
                </a:solidFill>
                <a:latin typeface="Calibri" pitchFamily="34" charset="0"/>
                <a:ea typeface="Calibri" pitchFamily="34" charset="-122"/>
                <a:cs typeface="Calibri" pitchFamily="34" charset="-120"/>
              </a:rPr>
              <a:t>Visual</a:t>
            </a:r>
            <a:endParaRPr lang="en-US" sz="1000" dirty="0"/>
          </a:p>
          <a:p>
            <a:pPr marL="0" indent="0" algn="ctr">
              <a:buNone/>
            </a:pPr>
            <a:r>
              <a:rPr lang="en-US" sz="1000" b="1" dirty="0">
                <a:solidFill>
                  <a:srgbClr val="000000"/>
                </a:solidFill>
                <a:latin typeface="Calibri" pitchFamily="34" charset="0"/>
                <a:ea typeface="Calibri" pitchFamily="34" charset="-122"/>
                <a:cs typeface="Calibri" pitchFamily="34" charset="-120"/>
              </a:rPr>
              <a:t>Comparison</a:t>
            </a:r>
            <a:endParaRPr lang="en-US" sz="1000" dirty="0"/>
          </a:p>
        </p:txBody>
      </p:sp>
      <p:sp>
        <p:nvSpPr>
          <p:cNvPr id="134" name="Shape 105"/>
          <p:cNvSpPr/>
          <p:nvPr/>
        </p:nvSpPr>
        <p:spPr>
          <a:xfrm>
            <a:off x="1280160" y="6007608"/>
            <a:ext cx="0" cy="438912"/>
          </a:xfrm>
          <a:prstGeom prst="line">
            <a:avLst/>
          </a:prstGeom>
          <a:noFill/>
          <a:ln w="19050">
            <a:solidFill>
              <a:srgbClr val="1B4F8F"/>
            </a:solidFill>
            <a:prstDash val="dash"/>
            <a:tailEnd type="triangle"/>
          </a:ln>
        </p:spPr>
      </p:sp>
      <p:sp>
        <p:nvSpPr>
          <p:cNvPr id="135" name="Shape 106"/>
          <p:cNvSpPr/>
          <p:nvPr/>
        </p:nvSpPr>
        <p:spPr>
          <a:xfrm>
            <a:off x="2468880" y="6446520"/>
            <a:ext cx="18288" cy="0"/>
          </a:xfrm>
          <a:prstGeom prst="line">
            <a:avLst/>
          </a:prstGeom>
          <a:noFill/>
          <a:ln w="19050">
            <a:solidFill>
              <a:srgbClr val="1B4F8F"/>
            </a:solidFill>
            <a:prstDash val="dash"/>
            <a:tailEnd type="triangle"/>
          </a:ln>
        </p:spPr>
      </p:sp>
      <p:sp>
        <p:nvSpPr>
          <p:cNvPr id="136" name="Shape 107"/>
          <p:cNvSpPr/>
          <p:nvPr/>
        </p:nvSpPr>
        <p:spPr>
          <a:xfrm>
            <a:off x="1280160" y="6446520"/>
            <a:ext cx="1234440" cy="0"/>
          </a:xfrm>
          <a:prstGeom prst="line">
            <a:avLst/>
          </a:prstGeom>
          <a:noFill/>
          <a:ln w="19050">
            <a:solidFill>
              <a:srgbClr val="1B4F8F"/>
            </a:solidFill>
            <a:prstDash val="dash"/>
            <a:tailEnd type="triangle"/>
          </a:ln>
        </p:spPr>
      </p:sp>
      <p:sp>
        <p:nvSpPr>
          <p:cNvPr id="137" name="Shape 108"/>
          <p:cNvSpPr/>
          <p:nvPr/>
        </p:nvSpPr>
        <p:spPr>
          <a:xfrm flipH="1">
            <a:off x="11539728" y="6446520"/>
            <a:ext cx="1216152" cy="0"/>
          </a:xfrm>
          <a:prstGeom prst="line">
            <a:avLst/>
          </a:prstGeom>
          <a:noFill/>
          <a:ln w="19050">
            <a:solidFill>
              <a:srgbClr val="1B4F8F"/>
            </a:solidFill>
            <a:prstDash val="dash"/>
            <a:tailEnd type="triangle"/>
          </a:ln>
        </p:spPr>
      </p:sp>
      <p:sp>
        <p:nvSpPr>
          <p:cNvPr id="138" name="Shape 109"/>
          <p:cNvSpPr/>
          <p:nvPr/>
        </p:nvSpPr>
        <p:spPr>
          <a:xfrm>
            <a:off x="12618720" y="6007608"/>
            <a:ext cx="0" cy="438912"/>
          </a:xfrm>
          <a:prstGeom prst="line">
            <a:avLst/>
          </a:prstGeom>
          <a:noFill/>
          <a:ln w="19050">
            <a:solidFill>
              <a:srgbClr val="1B4F8F"/>
            </a:solidFill>
            <a:prstDash val="dash"/>
          </a:ln>
        </p:spPr>
      </p:sp>
      <p:sp>
        <p:nvSpPr>
          <p:cNvPr id="139" name="Shape 110"/>
          <p:cNvSpPr/>
          <p:nvPr/>
        </p:nvSpPr>
        <p:spPr>
          <a:xfrm>
            <a:off x="11539728" y="6446520"/>
            <a:ext cx="1078992" cy="0"/>
          </a:xfrm>
          <a:prstGeom prst="line">
            <a:avLst/>
          </a:prstGeom>
          <a:noFill/>
          <a:ln w="19050">
            <a:solidFill>
              <a:srgbClr val="1B4F8F"/>
            </a:solidFill>
            <a:prstDash val="dash"/>
            <a:tailEnd type="triangle"/>
          </a:ln>
        </p:spPr>
      </p:sp>
      <p:sp>
        <p:nvSpPr>
          <p:cNvPr id="140" name="Shape 111"/>
          <p:cNvSpPr/>
          <p:nvPr/>
        </p:nvSpPr>
        <p:spPr>
          <a:xfrm>
            <a:off x="7018020" y="7662672"/>
            <a:ext cx="0" cy="292608"/>
          </a:xfrm>
          <a:prstGeom prst="line">
            <a:avLst/>
          </a:prstGeom>
          <a:noFill/>
          <a:ln w="22225">
            <a:solidFill>
              <a:srgbClr val="1B4F8F"/>
            </a:solidFill>
            <a:prstDash val="solid"/>
            <a:tailEnd type="triangle"/>
          </a:ln>
        </p:spPr>
      </p:sp>
      <p:sp>
        <p:nvSpPr>
          <p:cNvPr id="141" name="Shape 112"/>
          <p:cNvSpPr/>
          <p:nvPr/>
        </p:nvSpPr>
        <p:spPr>
          <a:xfrm>
            <a:off x="2194560" y="8001000"/>
            <a:ext cx="9646920" cy="1600200"/>
          </a:xfrm>
          <a:prstGeom prst="roundRect">
            <a:avLst>
              <a:gd name="adj" fmla="val 2857"/>
            </a:avLst>
          </a:prstGeom>
          <a:solidFill>
            <a:srgbClr val="DCE9F7"/>
          </a:solidFill>
          <a:ln w="19050">
            <a:solidFill>
              <a:srgbClr val="1B4F8F"/>
            </a:solidFill>
            <a:prstDash val="solid"/>
          </a:ln>
        </p:spPr>
      </p:sp>
      <p:sp>
        <p:nvSpPr>
          <p:cNvPr id="142" name="Text 113"/>
          <p:cNvSpPr/>
          <p:nvPr/>
        </p:nvSpPr>
        <p:spPr>
          <a:xfrm>
            <a:off x="2194560" y="8055864"/>
            <a:ext cx="9646920" cy="320040"/>
          </a:xfrm>
          <a:prstGeom prst="rect">
            <a:avLst/>
          </a:prstGeom>
          <a:noFill/>
          <a:ln/>
        </p:spPr>
        <p:txBody>
          <a:bodyPr wrap="square" rtlCol="0" anchor="ctr"/>
          <a:lstStyle/>
          <a:p>
            <a:pPr marL="0" indent="0" algn="ctr">
              <a:buNone/>
            </a:pPr>
            <a:r>
              <a:rPr lang="en-US" sz="1300" b="1" dirty="0">
                <a:solidFill>
                  <a:srgbClr val="1B2A4A"/>
                </a:solidFill>
                <a:latin typeface="Times New Roman" panose="02020603050405020304" pitchFamily="18" charset="0"/>
                <a:ea typeface="Calibri" pitchFamily="34" charset="-122"/>
                <a:cs typeface="Times New Roman" panose="02020603050405020304" pitchFamily="18" charset="0"/>
              </a:rPr>
              <a:t>SYSTEM OUTPUT (ENHANCED PORTRAIT QUALITY)</a:t>
            </a:r>
            <a:endParaRPr lang="en-US" sz="1300" dirty="0">
              <a:latin typeface="Times New Roman" panose="02020603050405020304" pitchFamily="18" charset="0"/>
              <a:cs typeface="Times New Roman" panose="02020603050405020304" pitchFamily="18" charset="0"/>
            </a:endParaRPr>
          </a:p>
        </p:txBody>
      </p:sp>
      <p:pic>
        <p:nvPicPr>
          <p:cNvPr id="143" name="Image 27" descr="icons/face.png"/>
          <p:cNvPicPr>
            <a:picLocks noChangeAspect="1"/>
          </p:cNvPicPr>
          <p:nvPr/>
        </p:nvPicPr>
        <p:blipFill>
          <a:blip r:embed="rId9"/>
          <a:stretch>
            <a:fillRect/>
          </a:stretch>
        </p:blipFill>
        <p:spPr>
          <a:xfrm>
            <a:off x="3186684" y="8503920"/>
            <a:ext cx="347472" cy="347472"/>
          </a:xfrm>
          <a:prstGeom prst="rect">
            <a:avLst/>
          </a:prstGeom>
        </p:spPr>
      </p:pic>
      <p:sp>
        <p:nvSpPr>
          <p:cNvPr id="144" name="Text 114"/>
          <p:cNvSpPr/>
          <p:nvPr/>
        </p:nvSpPr>
        <p:spPr>
          <a:xfrm>
            <a:off x="262890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Clear Facial</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Details</a:t>
            </a:r>
            <a:endParaRPr lang="en-US" sz="1050" dirty="0"/>
          </a:p>
        </p:txBody>
      </p:sp>
      <p:sp>
        <p:nvSpPr>
          <p:cNvPr id="145" name="Shape 115"/>
          <p:cNvSpPr/>
          <p:nvPr/>
        </p:nvSpPr>
        <p:spPr>
          <a:xfrm>
            <a:off x="4649724" y="8513064"/>
            <a:ext cx="347472" cy="347472"/>
          </a:xfrm>
          <a:prstGeom prst="ellipse">
            <a:avLst/>
          </a:prstGeom>
          <a:solidFill>
            <a:srgbClr val="FFFFFF"/>
          </a:solidFill>
          <a:ln w="19050">
            <a:solidFill>
              <a:srgbClr val="1A1A1A"/>
            </a:solidFill>
            <a:prstDash val="solid"/>
          </a:ln>
        </p:spPr>
      </p:sp>
      <p:sp>
        <p:nvSpPr>
          <p:cNvPr id="146" name="Shape 116"/>
          <p:cNvSpPr/>
          <p:nvPr/>
        </p:nvSpPr>
        <p:spPr>
          <a:xfrm>
            <a:off x="4649724" y="8513064"/>
            <a:ext cx="347472" cy="347472"/>
          </a:xfrm>
          <a:prstGeom prst="pie">
            <a:avLst>
              <a:gd name="adj1" fmla="val 5400000"/>
              <a:gd name="adj2" fmla="val 16200000"/>
            </a:avLst>
          </a:prstGeom>
          <a:solidFill>
            <a:srgbClr val="1A1A1A"/>
          </a:solidFill>
          <a:ln/>
        </p:spPr>
      </p:sp>
      <p:sp>
        <p:nvSpPr>
          <p:cNvPr id="147" name="Text 117"/>
          <p:cNvSpPr/>
          <p:nvPr/>
        </p:nvSpPr>
        <p:spPr>
          <a:xfrm>
            <a:off x="409194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Reduced</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Shadows</a:t>
            </a:r>
            <a:endParaRPr lang="en-US" sz="1050" dirty="0"/>
          </a:p>
        </p:txBody>
      </p:sp>
      <p:pic>
        <p:nvPicPr>
          <p:cNvPr id="148" name="Image 28" descr="icons/colorwheel.png"/>
          <p:cNvPicPr>
            <a:picLocks noChangeAspect="1"/>
          </p:cNvPicPr>
          <p:nvPr/>
        </p:nvPicPr>
        <p:blipFill>
          <a:blip r:embed="rId14"/>
          <a:stretch>
            <a:fillRect/>
          </a:stretch>
        </p:blipFill>
        <p:spPr>
          <a:xfrm>
            <a:off x="6112764" y="8503920"/>
            <a:ext cx="347472" cy="347472"/>
          </a:xfrm>
          <a:prstGeom prst="rect">
            <a:avLst/>
          </a:prstGeom>
        </p:spPr>
      </p:pic>
      <p:sp>
        <p:nvSpPr>
          <p:cNvPr id="149" name="Text 118"/>
          <p:cNvSpPr/>
          <p:nvPr/>
        </p:nvSpPr>
        <p:spPr>
          <a:xfrm>
            <a:off x="555498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Natural</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Colors</a:t>
            </a:r>
            <a:endParaRPr lang="en-US" sz="1050" dirty="0"/>
          </a:p>
        </p:txBody>
      </p:sp>
      <p:sp>
        <p:nvSpPr>
          <p:cNvPr id="150" name="Shape 119"/>
          <p:cNvSpPr/>
          <p:nvPr/>
        </p:nvSpPr>
        <p:spPr>
          <a:xfrm>
            <a:off x="7575804" y="8513064"/>
            <a:ext cx="347472" cy="347472"/>
          </a:xfrm>
          <a:prstGeom prst="ellipse">
            <a:avLst/>
          </a:prstGeom>
          <a:solidFill>
            <a:srgbClr val="FFFFFF"/>
          </a:solidFill>
          <a:ln w="19050">
            <a:solidFill>
              <a:srgbClr val="1A1A1A"/>
            </a:solidFill>
            <a:prstDash val="solid"/>
          </a:ln>
        </p:spPr>
      </p:sp>
      <p:sp>
        <p:nvSpPr>
          <p:cNvPr id="151" name="Shape 120"/>
          <p:cNvSpPr/>
          <p:nvPr/>
        </p:nvSpPr>
        <p:spPr>
          <a:xfrm>
            <a:off x="7575804" y="8513064"/>
            <a:ext cx="347472" cy="347472"/>
          </a:xfrm>
          <a:prstGeom prst="pie">
            <a:avLst>
              <a:gd name="adj1" fmla="val 5400000"/>
              <a:gd name="adj2" fmla="val 16200000"/>
            </a:avLst>
          </a:prstGeom>
          <a:solidFill>
            <a:srgbClr val="1A1A1A"/>
          </a:solidFill>
          <a:ln/>
        </p:spPr>
      </p:sp>
      <p:sp>
        <p:nvSpPr>
          <p:cNvPr id="152" name="Text 121"/>
          <p:cNvSpPr/>
          <p:nvPr/>
        </p:nvSpPr>
        <p:spPr>
          <a:xfrm>
            <a:off x="701802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Better</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Contrast</a:t>
            </a:r>
            <a:endParaRPr lang="en-US" sz="1050" dirty="0"/>
          </a:p>
        </p:txBody>
      </p:sp>
      <p:pic>
        <p:nvPicPr>
          <p:cNvPr id="153" name="Image 29" descr="icons/sun.png"/>
          <p:cNvPicPr>
            <a:picLocks noChangeAspect="1"/>
          </p:cNvPicPr>
          <p:nvPr/>
        </p:nvPicPr>
        <p:blipFill>
          <a:blip r:embed="rId10"/>
          <a:stretch>
            <a:fillRect/>
          </a:stretch>
        </p:blipFill>
        <p:spPr>
          <a:xfrm>
            <a:off x="9038844" y="8503920"/>
            <a:ext cx="347472" cy="347472"/>
          </a:xfrm>
          <a:prstGeom prst="rect">
            <a:avLst/>
          </a:prstGeom>
        </p:spPr>
      </p:pic>
      <p:sp>
        <p:nvSpPr>
          <p:cNvPr id="154" name="Text 122"/>
          <p:cNvSpPr/>
          <p:nvPr/>
        </p:nvSpPr>
        <p:spPr>
          <a:xfrm>
            <a:off x="848106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Balanced</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Illumination</a:t>
            </a:r>
            <a:endParaRPr lang="en-US" sz="1050" dirty="0"/>
          </a:p>
        </p:txBody>
      </p:sp>
      <p:pic>
        <p:nvPicPr>
          <p:cNvPr id="155" name="Image 30" descr="icons/image.png"/>
          <p:cNvPicPr>
            <a:picLocks noChangeAspect="1"/>
          </p:cNvPicPr>
          <p:nvPr/>
        </p:nvPicPr>
        <p:blipFill>
          <a:blip r:embed="rId6"/>
          <a:stretch>
            <a:fillRect/>
          </a:stretch>
        </p:blipFill>
        <p:spPr>
          <a:xfrm>
            <a:off x="10501884" y="8503920"/>
            <a:ext cx="347472" cy="347472"/>
          </a:xfrm>
          <a:prstGeom prst="rect">
            <a:avLst/>
          </a:prstGeom>
        </p:spPr>
      </p:pic>
      <p:sp>
        <p:nvSpPr>
          <p:cNvPr id="156" name="Text 123"/>
          <p:cNvSpPr/>
          <p:nvPr/>
        </p:nvSpPr>
        <p:spPr>
          <a:xfrm>
            <a:off x="9944100" y="8915400"/>
            <a:ext cx="1463040" cy="548640"/>
          </a:xfrm>
          <a:prstGeom prst="rect">
            <a:avLst/>
          </a:prstGeom>
          <a:noFill/>
          <a:ln/>
        </p:spPr>
        <p:txBody>
          <a:bodyPr wrap="square" rtlCol="0" anchor="t"/>
          <a:lstStyle/>
          <a:p>
            <a:pPr marL="0" indent="0" algn="ctr">
              <a:buNone/>
            </a:pPr>
            <a:r>
              <a:rPr lang="en-US" sz="1050" b="1" dirty="0">
                <a:solidFill>
                  <a:srgbClr val="000000"/>
                </a:solidFill>
                <a:latin typeface="Calibri" pitchFamily="34" charset="0"/>
                <a:ea typeface="Calibri" pitchFamily="34" charset="-122"/>
                <a:cs typeface="Calibri" pitchFamily="34" charset="-120"/>
              </a:rPr>
              <a:t>High Quality</a:t>
            </a:r>
            <a:endParaRPr lang="en-US" sz="1050" dirty="0"/>
          </a:p>
          <a:p>
            <a:pPr marL="0" indent="0" algn="ctr">
              <a:buNone/>
            </a:pPr>
            <a:r>
              <a:rPr lang="en-US" sz="1050" b="1" dirty="0">
                <a:solidFill>
                  <a:srgbClr val="000000"/>
                </a:solidFill>
                <a:latin typeface="Calibri" pitchFamily="34" charset="0"/>
                <a:ea typeface="Calibri" pitchFamily="34" charset="-122"/>
                <a:cs typeface="Calibri" pitchFamily="34" charset="-120"/>
              </a:rPr>
              <a:t>Image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1C9A7056-89D2-34C8-F86F-0F88AB4FD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222250"/>
            <a:ext cx="11532796" cy="14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A44B856-ED07-DE16-FC1C-4E09275B83FA}"/>
              </a:ext>
            </a:extLst>
          </p:cNvPr>
          <p:cNvSpPr txBox="1"/>
          <p:nvPr/>
        </p:nvSpPr>
        <p:spPr>
          <a:xfrm>
            <a:off x="4826000" y="4037607"/>
            <a:ext cx="10769600" cy="923330"/>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Thank you</a:t>
            </a:r>
            <a:endParaRPr lang="en-I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874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385</Words>
  <Application>Microsoft Office PowerPoint</Application>
  <PresentationFormat>Custom</PresentationFormat>
  <Paragraphs>71</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Times New Roman</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yashu reddy</cp:lastModifiedBy>
  <cp:revision>3</cp:revision>
  <dcterms:created xsi:type="dcterms:W3CDTF">2026-08-05T04:30:29Z</dcterms:created>
  <dcterms:modified xsi:type="dcterms:W3CDTF">2026-08-05T05:03:55Z</dcterms:modified>
</cp:coreProperties>
</file>