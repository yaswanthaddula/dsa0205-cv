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60" r:id="rId4"/>
    <p:sldId id="258" r:id="rId5"/>
    <p:sldId id="259" r:id="rId6"/>
    <p:sldId id="261" r:id="rId7"/>
  </p:sldIdLst>
  <p:sldSz cx="12192000" cy="8128000"/>
  <p:notesSz cx="812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16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129C87-FD86-0BDC-5638-FE83F3D67068}"/>
              </a:ext>
            </a:extLst>
          </p:cNvPr>
          <p:cNvSpPr txBox="1"/>
          <p:nvPr/>
        </p:nvSpPr>
        <p:spPr>
          <a:xfrm>
            <a:off x="1162622" y="1827014"/>
            <a:ext cx="9489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AT3 (CO1, 10%): Design Trade-offs in Computer Vision System Architecture — A Comparative Application-Domain Presentation</a:t>
            </a:r>
          </a:p>
          <a:p>
            <a:pPr algn="ctr"/>
            <a:endParaRPr lang="en-IN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AUTONOMOUS VEHICLE PERCEPTION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1C85C-6326-D2A8-0111-929478D6B668}"/>
              </a:ext>
            </a:extLst>
          </p:cNvPr>
          <p:cNvSpPr txBox="1"/>
          <p:nvPr/>
        </p:nvSpPr>
        <p:spPr>
          <a:xfrm>
            <a:off x="6299200" y="6064121"/>
            <a:ext cx="5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Yaswanth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192324179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DSA0205-Computer Vision with Open CV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E7561-FD55-8678-D6CD-B8BDEE62F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7" y="321818"/>
            <a:ext cx="97091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56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190" y="63498"/>
            <a:ext cx="7461063" cy="43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A5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AUTONOMOUS VEHICLE PERCEPTION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87" y="476238"/>
            <a:ext cx="2103385" cy="5595798"/>
          </a:xfrm>
          <a:prstGeom prst="roundRect">
            <a:avLst>
              <a:gd name="adj" fmla="val 2608"/>
            </a:avLst>
          </a:prstGeom>
          <a:ln w="19050">
            <a:solidFill>
              <a:srgbClr val="1B3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687" y="476238"/>
            <a:ext cx="2103385" cy="333367"/>
          </a:xfrm>
          <a:prstGeom prst="roundRect">
            <a:avLst>
              <a:gd name="adj" fmla="val 16458"/>
            </a:avLst>
          </a:prstGeom>
          <a:solidFill>
            <a:srgbClr val="1B3B6F"/>
          </a:solidFill>
          <a:ln/>
        </p:spPr>
      </p:sp>
      <p:sp>
        <p:nvSpPr>
          <p:cNvPr id="5" name="Text 3"/>
          <p:cNvSpPr/>
          <p:nvPr/>
        </p:nvSpPr>
        <p:spPr>
          <a:xfrm>
            <a:off x="39687" y="476238"/>
            <a:ext cx="2103385" cy="333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INPUT SENSORS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48" y="793730"/>
            <a:ext cx="1992263" cy="104772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9520" y="1087093"/>
            <a:ext cx="82417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44589" y="1277588"/>
            <a:ext cx="619110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(Images)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5248" y="1936702"/>
            <a:ext cx="1992263" cy="936602"/>
          </a:xfrm>
          <a:prstGeom prst="roundRect">
            <a:avLst>
              <a:gd name="adj" fmla="val 5858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39520" y="2198950"/>
            <a:ext cx="82417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LiDAR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239520" y="2389445"/>
            <a:ext cx="824179" cy="24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(Point Cloud)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5248" y="2968551"/>
            <a:ext cx="1992263" cy="952476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39520" y="3182858"/>
            <a:ext cx="824179" cy="25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Radar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73996" y="3425739"/>
            <a:ext cx="889703" cy="431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(Objects &amp;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Velocity)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95248" y="4016275"/>
            <a:ext cx="1992263" cy="968351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19050">
            <a:solidFill>
              <a:srgbClr val="6C3FA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444589" y="4287413"/>
            <a:ext cx="619110" cy="20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GPS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444589" y="4477908"/>
            <a:ext cx="619110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(Position)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95248" y="5079873"/>
            <a:ext cx="1992263" cy="968351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444589" y="5351011"/>
            <a:ext cx="619110" cy="20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</a:p>
        </p:txBody>
      </p:sp>
      <p:sp>
        <p:nvSpPr>
          <p:cNvPr id="29" name="Text 22"/>
          <p:cNvSpPr/>
          <p:nvPr/>
        </p:nvSpPr>
        <p:spPr>
          <a:xfrm>
            <a:off x="1444589" y="5541506"/>
            <a:ext cx="619110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658996" y="714357"/>
            <a:ext cx="6191095" cy="3571786"/>
          </a:xfrm>
          <a:prstGeom prst="roundRect">
            <a:avLst>
              <a:gd name="adj" fmla="val 1536"/>
            </a:avLst>
          </a:prstGeom>
          <a:solidFill>
            <a:srgbClr val="FFF6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658996" y="761981"/>
            <a:ext cx="6191095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67E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PERCEPTION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2778056" y="1047724"/>
            <a:ext cx="5952976" cy="1547774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778056" y="1095348"/>
            <a:ext cx="595297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1. IMAGE ACQUISITION &amp; PREPROCESSING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2817742" y="1365216"/>
            <a:ext cx="857229" cy="1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Input Image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3690845" y="1944639"/>
            <a:ext cx="17462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38" name="Text 30"/>
          <p:cNvSpPr/>
          <p:nvPr/>
        </p:nvSpPr>
        <p:spPr>
          <a:xfrm>
            <a:off x="3889278" y="1365216"/>
            <a:ext cx="857229" cy="1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Resize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4762381" y="1944639"/>
            <a:ext cx="17462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41" name="Text 32"/>
          <p:cNvSpPr/>
          <p:nvPr/>
        </p:nvSpPr>
        <p:spPr>
          <a:xfrm>
            <a:off x="4960813" y="1365216"/>
            <a:ext cx="857229" cy="1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Grayscale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5833917" y="1944639"/>
            <a:ext cx="17462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44" name="Text 34"/>
          <p:cNvSpPr/>
          <p:nvPr/>
        </p:nvSpPr>
        <p:spPr>
          <a:xfrm>
            <a:off x="6032349" y="1365216"/>
            <a:ext cx="857229" cy="1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Gaussian Blur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6905452" y="1944639"/>
            <a:ext cx="17462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47" name="Text 36"/>
          <p:cNvSpPr/>
          <p:nvPr/>
        </p:nvSpPr>
        <p:spPr>
          <a:xfrm>
            <a:off x="7103885" y="1365216"/>
            <a:ext cx="857229" cy="158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Edge 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37"/>
          <p:cNvSpPr/>
          <p:nvPr/>
        </p:nvSpPr>
        <p:spPr>
          <a:xfrm>
            <a:off x="2778056" y="2658996"/>
            <a:ext cx="5952976" cy="1547774"/>
          </a:xfrm>
          <a:prstGeom prst="roundRect">
            <a:avLst>
              <a:gd name="adj" fmla="val 3545"/>
            </a:avLst>
          </a:prstGeom>
          <a:solidFill>
            <a:srgbClr val="F2F8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2778056" y="2706620"/>
            <a:ext cx="595297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 PERCEPTION TASKS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2801867" y="2952676"/>
            <a:ext cx="1047724" cy="119059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2841554" y="3000300"/>
            <a:ext cx="9683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Image 10" descr="assets/t_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551" y="3270168"/>
            <a:ext cx="714357" cy="761981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3897215" y="2952676"/>
            <a:ext cx="1047724" cy="119059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3936902" y="3000300"/>
            <a:ext cx="9683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Vehicle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Image 11" descr="assets/t_vehi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898" y="3270168"/>
            <a:ext cx="714357" cy="761981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4992563" y="2952676"/>
            <a:ext cx="1047724" cy="119059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5032249" y="3000300"/>
            <a:ext cx="9683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Pedestrian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Image 12" descr="assets/t_pedestr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246" y="3270168"/>
            <a:ext cx="714357" cy="761981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6087910" y="2952676"/>
            <a:ext cx="1047724" cy="119059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46"/>
          <p:cNvSpPr/>
          <p:nvPr/>
        </p:nvSpPr>
        <p:spPr>
          <a:xfrm>
            <a:off x="6127597" y="3000300"/>
            <a:ext cx="9683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Traffic 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Image 13" descr="assets/t_traffic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594" y="3270168"/>
            <a:ext cx="714357" cy="761981"/>
          </a:xfrm>
          <a:prstGeom prst="rect">
            <a:avLst/>
          </a:prstGeom>
        </p:spPr>
      </p:pic>
      <p:sp>
        <p:nvSpPr>
          <p:cNvPr id="63" name="Shape 47"/>
          <p:cNvSpPr/>
          <p:nvPr/>
        </p:nvSpPr>
        <p:spPr>
          <a:xfrm>
            <a:off x="7183258" y="2952676"/>
            <a:ext cx="1047724" cy="1190595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48"/>
          <p:cNvSpPr/>
          <p:nvPr/>
        </p:nvSpPr>
        <p:spPr>
          <a:xfrm>
            <a:off x="7222944" y="3000300"/>
            <a:ext cx="9683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Traffic Light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Image 14" descr="assets/t_traffic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941" y="3270168"/>
            <a:ext cx="714357" cy="761981"/>
          </a:xfrm>
          <a:prstGeom prst="rect">
            <a:avLst/>
          </a:prstGeom>
        </p:spPr>
      </p:pic>
      <p:sp>
        <p:nvSpPr>
          <p:cNvPr id="66" name="Shape 49"/>
          <p:cNvSpPr/>
          <p:nvPr/>
        </p:nvSpPr>
        <p:spPr>
          <a:xfrm>
            <a:off x="2897115" y="4524262"/>
            <a:ext cx="4524262" cy="1508087"/>
          </a:xfrm>
          <a:prstGeom prst="roundRect">
            <a:avLst>
              <a:gd name="adj" fmla="val 3638"/>
            </a:avLst>
          </a:prstGeom>
          <a:solidFill>
            <a:srgbClr val="EAF6E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7" name="Text 50"/>
          <p:cNvSpPr/>
          <p:nvPr/>
        </p:nvSpPr>
        <p:spPr>
          <a:xfrm>
            <a:off x="2897115" y="4571886"/>
            <a:ext cx="4524262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LOCALIZATION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51"/>
          <p:cNvSpPr/>
          <p:nvPr/>
        </p:nvSpPr>
        <p:spPr>
          <a:xfrm>
            <a:off x="3095548" y="4841754"/>
            <a:ext cx="123028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Map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52"/>
          <p:cNvSpPr/>
          <p:nvPr/>
        </p:nvSpPr>
        <p:spPr>
          <a:xfrm>
            <a:off x="3095548" y="5111622"/>
            <a:ext cx="1230282" cy="793730"/>
          </a:xfrm>
          <a:prstGeom prst="roundRect">
            <a:avLst>
              <a:gd name="adj" fmla="val 6912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0" name="Image 15" descr="assets/t_mapda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5234" y="5151309"/>
            <a:ext cx="1150909" cy="714357"/>
          </a:xfrm>
          <a:prstGeom prst="rect">
            <a:avLst/>
          </a:prstGeom>
        </p:spPr>
      </p:pic>
      <p:sp>
        <p:nvSpPr>
          <p:cNvPr id="71" name="Shape 53"/>
          <p:cNvSpPr/>
          <p:nvPr/>
        </p:nvSpPr>
        <p:spPr>
          <a:xfrm>
            <a:off x="4349641" y="5437052"/>
            <a:ext cx="14287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72" name="Text 54"/>
          <p:cNvSpPr/>
          <p:nvPr/>
        </p:nvSpPr>
        <p:spPr>
          <a:xfrm>
            <a:off x="4563948" y="4841754"/>
            <a:ext cx="123028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Map Matching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55"/>
          <p:cNvSpPr/>
          <p:nvPr/>
        </p:nvSpPr>
        <p:spPr>
          <a:xfrm>
            <a:off x="4563948" y="5111622"/>
            <a:ext cx="1230282" cy="793730"/>
          </a:xfrm>
          <a:prstGeom prst="roundRect">
            <a:avLst>
              <a:gd name="adj" fmla="val 6912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4" name="Image 16" descr="assets/t_mapm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3635" y="5151309"/>
            <a:ext cx="1150909" cy="714357"/>
          </a:xfrm>
          <a:prstGeom prst="rect">
            <a:avLst/>
          </a:prstGeom>
        </p:spPr>
      </p:pic>
      <p:sp>
        <p:nvSpPr>
          <p:cNvPr id="75" name="Shape 56"/>
          <p:cNvSpPr/>
          <p:nvPr/>
        </p:nvSpPr>
        <p:spPr>
          <a:xfrm>
            <a:off x="5818042" y="5437052"/>
            <a:ext cx="142871" cy="158746"/>
          </a:xfrm>
          <a:prstGeom prst="rightArrow">
            <a:avLst/>
          </a:prstGeom>
          <a:solidFill>
            <a:srgbClr val="0D2A55"/>
          </a:solidFill>
          <a:ln/>
        </p:spPr>
      </p:sp>
      <p:sp>
        <p:nvSpPr>
          <p:cNvPr id="76" name="Text 57"/>
          <p:cNvSpPr/>
          <p:nvPr/>
        </p:nvSpPr>
        <p:spPr>
          <a:xfrm>
            <a:off x="6032349" y="4841754"/>
            <a:ext cx="123028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Vehicle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Localization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58"/>
          <p:cNvSpPr/>
          <p:nvPr/>
        </p:nvSpPr>
        <p:spPr>
          <a:xfrm>
            <a:off x="6032349" y="5127496"/>
            <a:ext cx="1230282" cy="777855"/>
          </a:xfrm>
          <a:prstGeom prst="roundRect">
            <a:avLst>
              <a:gd name="adj" fmla="val 6912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8" name="Image 17" descr="assets/t_vehiclel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036" y="5278306"/>
            <a:ext cx="1150909" cy="587360"/>
          </a:xfrm>
          <a:prstGeom prst="rect">
            <a:avLst/>
          </a:prstGeom>
        </p:spPr>
      </p:pic>
      <p:sp>
        <p:nvSpPr>
          <p:cNvPr id="79" name="Shape 59"/>
          <p:cNvSpPr/>
          <p:nvPr/>
        </p:nvSpPr>
        <p:spPr>
          <a:xfrm>
            <a:off x="9089554" y="714357"/>
            <a:ext cx="2975144" cy="3143233"/>
          </a:xfrm>
          <a:prstGeom prst="roundRect">
            <a:avLst>
              <a:gd name="adj" fmla="val 1795"/>
            </a:avLst>
          </a:prstGeom>
          <a:solidFill>
            <a:srgbClr val="EEF3FC"/>
          </a:solidFill>
          <a:ln w="19050">
            <a:solidFill>
              <a:srgbClr val="2255A4"/>
            </a:solidFill>
            <a:prstDash val="solid"/>
          </a:ln>
        </p:spPr>
      </p:sp>
      <p:sp>
        <p:nvSpPr>
          <p:cNvPr id="80" name="Text 60"/>
          <p:cNvSpPr/>
          <p:nvPr/>
        </p:nvSpPr>
        <p:spPr>
          <a:xfrm>
            <a:off x="9008837" y="761981"/>
            <a:ext cx="305586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55A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PLANNING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61"/>
          <p:cNvSpPr/>
          <p:nvPr/>
        </p:nvSpPr>
        <p:spPr>
          <a:xfrm>
            <a:off x="9127897" y="1111222"/>
            <a:ext cx="2817742" cy="61911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83" name="Text 62"/>
          <p:cNvSpPr/>
          <p:nvPr/>
        </p:nvSpPr>
        <p:spPr>
          <a:xfrm>
            <a:off x="9921627" y="1111222"/>
            <a:ext cx="1865266" cy="61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Route 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63"/>
          <p:cNvSpPr/>
          <p:nvPr/>
        </p:nvSpPr>
        <p:spPr>
          <a:xfrm>
            <a:off x="9127897" y="1785893"/>
            <a:ext cx="2817742" cy="61911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86" name="Text 64"/>
          <p:cNvSpPr/>
          <p:nvPr/>
        </p:nvSpPr>
        <p:spPr>
          <a:xfrm>
            <a:off x="9921627" y="1785893"/>
            <a:ext cx="1865266" cy="61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Path 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65"/>
          <p:cNvSpPr/>
          <p:nvPr/>
        </p:nvSpPr>
        <p:spPr>
          <a:xfrm>
            <a:off x="9127897" y="2460563"/>
            <a:ext cx="2817742" cy="61911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89" name="Text 66"/>
          <p:cNvSpPr/>
          <p:nvPr/>
        </p:nvSpPr>
        <p:spPr>
          <a:xfrm>
            <a:off x="9921627" y="2460563"/>
            <a:ext cx="1865266" cy="61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Obstacle Avoidance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67"/>
          <p:cNvSpPr/>
          <p:nvPr/>
        </p:nvSpPr>
        <p:spPr>
          <a:xfrm>
            <a:off x="9127897" y="3135234"/>
            <a:ext cx="2817742" cy="61911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92" name="Text 68"/>
          <p:cNvSpPr/>
          <p:nvPr/>
        </p:nvSpPr>
        <p:spPr>
          <a:xfrm>
            <a:off x="9921627" y="3135234"/>
            <a:ext cx="1865266" cy="61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Speed 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69"/>
          <p:cNvSpPr/>
          <p:nvPr/>
        </p:nvSpPr>
        <p:spPr>
          <a:xfrm>
            <a:off x="9008837" y="4008337"/>
            <a:ext cx="3055861" cy="1984325"/>
          </a:xfrm>
          <a:prstGeom prst="roundRect">
            <a:avLst>
              <a:gd name="adj" fmla="val 2765"/>
            </a:avLst>
          </a:prstGeom>
          <a:solidFill>
            <a:srgbClr val="F3EEF9"/>
          </a:solidFill>
          <a:ln w="19050">
            <a:solidFill>
              <a:srgbClr val="6C3FA8"/>
            </a:solidFill>
            <a:prstDash val="solid"/>
          </a:ln>
        </p:spPr>
      </p:sp>
      <p:sp>
        <p:nvSpPr>
          <p:cNvPr id="94" name="Text 70"/>
          <p:cNvSpPr/>
          <p:nvPr/>
        </p:nvSpPr>
        <p:spPr>
          <a:xfrm>
            <a:off x="9008837" y="4048024"/>
            <a:ext cx="3055861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3FA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71"/>
          <p:cNvSpPr/>
          <p:nvPr/>
        </p:nvSpPr>
        <p:spPr>
          <a:xfrm>
            <a:off x="9127897" y="4349641"/>
            <a:ext cx="857229" cy="9366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96" name="Text 72"/>
          <p:cNvSpPr/>
          <p:nvPr/>
        </p:nvSpPr>
        <p:spPr>
          <a:xfrm>
            <a:off x="9089554" y="4413140"/>
            <a:ext cx="857229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Steering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Controller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Image 22" descr="assets/t_stee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329" y="4746506"/>
            <a:ext cx="555611" cy="436552"/>
          </a:xfrm>
          <a:prstGeom prst="rect">
            <a:avLst/>
          </a:prstGeom>
        </p:spPr>
      </p:pic>
      <p:sp>
        <p:nvSpPr>
          <p:cNvPr id="98" name="Shape 73"/>
          <p:cNvSpPr/>
          <p:nvPr/>
        </p:nvSpPr>
        <p:spPr>
          <a:xfrm>
            <a:off x="10040686" y="4349641"/>
            <a:ext cx="857229" cy="9366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99" name="Text 74"/>
          <p:cNvSpPr/>
          <p:nvPr/>
        </p:nvSpPr>
        <p:spPr>
          <a:xfrm>
            <a:off x="10040686" y="4381390"/>
            <a:ext cx="857229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Speed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Controller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Image 23" descr="assets/t_speedctr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1495" y="4746506"/>
            <a:ext cx="555611" cy="436552"/>
          </a:xfrm>
          <a:prstGeom prst="rect">
            <a:avLst/>
          </a:prstGeom>
        </p:spPr>
      </p:pic>
      <p:sp>
        <p:nvSpPr>
          <p:cNvPr id="101" name="Shape 75"/>
          <p:cNvSpPr/>
          <p:nvPr/>
        </p:nvSpPr>
        <p:spPr>
          <a:xfrm>
            <a:off x="10953476" y="4349641"/>
            <a:ext cx="857229" cy="9366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102" name="Text 76"/>
          <p:cNvSpPr/>
          <p:nvPr/>
        </p:nvSpPr>
        <p:spPr>
          <a:xfrm>
            <a:off x="10953476" y="4381390"/>
            <a:ext cx="857229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Brake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Controller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Image 24" descr="assets/t_brak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4285" y="4746506"/>
            <a:ext cx="555611" cy="436552"/>
          </a:xfrm>
          <a:prstGeom prst="rect">
            <a:avLst/>
          </a:prstGeom>
        </p:spPr>
      </p:pic>
      <p:sp>
        <p:nvSpPr>
          <p:cNvPr id="104" name="Shape 77"/>
          <p:cNvSpPr/>
          <p:nvPr/>
        </p:nvSpPr>
        <p:spPr>
          <a:xfrm>
            <a:off x="9127897" y="5381490"/>
            <a:ext cx="2682808" cy="492113"/>
          </a:xfrm>
          <a:prstGeom prst="roundRect">
            <a:avLst>
              <a:gd name="adj" fmla="val 11149"/>
            </a:avLst>
          </a:prstGeom>
          <a:solidFill>
            <a:srgbClr val="FFFFFF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105" name="Text 78"/>
          <p:cNvSpPr/>
          <p:nvPr/>
        </p:nvSpPr>
        <p:spPr>
          <a:xfrm>
            <a:off x="9127897" y="5381490"/>
            <a:ext cx="2682808" cy="492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Actuation Commands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(Steer, Accelerate, Brake)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80"/>
          <p:cNvSpPr/>
          <p:nvPr/>
        </p:nvSpPr>
        <p:spPr>
          <a:xfrm>
            <a:off x="39687" y="6302217"/>
            <a:ext cx="2079573" cy="20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A5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LEGEND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hape 81"/>
          <p:cNvSpPr/>
          <p:nvPr/>
        </p:nvSpPr>
        <p:spPr>
          <a:xfrm>
            <a:off x="174621" y="6556211"/>
            <a:ext cx="269868" cy="142871"/>
          </a:xfrm>
          <a:prstGeom prst="roundRect">
            <a:avLst>
              <a:gd name="adj" fmla="val 38401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09" name="Text 82"/>
          <p:cNvSpPr/>
          <p:nvPr/>
        </p:nvSpPr>
        <p:spPr>
          <a:xfrm>
            <a:off x="515925" y="6532399"/>
            <a:ext cx="14287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Perception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83"/>
          <p:cNvSpPr/>
          <p:nvPr/>
        </p:nvSpPr>
        <p:spPr>
          <a:xfrm>
            <a:off x="174621" y="6794330"/>
            <a:ext cx="269868" cy="142871"/>
          </a:xfrm>
          <a:prstGeom prst="roundRect">
            <a:avLst>
              <a:gd name="adj" fmla="val 3840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1" name="Text 84"/>
          <p:cNvSpPr/>
          <p:nvPr/>
        </p:nvSpPr>
        <p:spPr>
          <a:xfrm>
            <a:off x="515925" y="6770518"/>
            <a:ext cx="14287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Localization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85"/>
          <p:cNvSpPr/>
          <p:nvPr/>
        </p:nvSpPr>
        <p:spPr>
          <a:xfrm>
            <a:off x="174621" y="7032449"/>
            <a:ext cx="269868" cy="142871"/>
          </a:xfrm>
          <a:prstGeom prst="roundRect">
            <a:avLst>
              <a:gd name="adj" fmla="val 38401"/>
            </a:avLst>
          </a:prstGeom>
          <a:solidFill>
            <a:srgbClr val="FFFFFF"/>
          </a:solidFill>
          <a:ln w="19050">
            <a:solidFill>
              <a:srgbClr val="2255A4"/>
            </a:solidFill>
            <a:prstDash val="solid"/>
          </a:ln>
        </p:spPr>
      </p:sp>
      <p:sp>
        <p:nvSpPr>
          <p:cNvPr id="113" name="Text 86"/>
          <p:cNvSpPr/>
          <p:nvPr/>
        </p:nvSpPr>
        <p:spPr>
          <a:xfrm>
            <a:off x="515925" y="7008637"/>
            <a:ext cx="14287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Planning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hape 87"/>
          <p:cNvSpPr/>
          <p:nvPr/>
        </p:nvSpPr>
        <p:spPr>
          <a:xfrm>
            <a:off x="174621" y="7270568"/>
            <a:ext cx="269868" cy="142871"/>
          </a:xfrm>
          <a:prstGeom prst="roundRect">
            <a:avLst>
              <a:gd name="adj" fmla="val 38401"/>
            </a:avLst>
          </a:prstGeom>
          <a:solidFill>
            <a:srgbClr val="FFFFFF"/>
          </a:solidFill>
          <a:ln w="19050">
            <a:solidFill>
              <a:srgbClr val="6C3FA8"/>
            </a:solidFill>
            <a:prstDash val="solid"/>
          </a:ln>
        </p:spPr>
      </p:sp>
      <p:sp>
        <p:nvSpPr>
          <p:cNvPr id="115" name="Text 88"/>
          <p:cNvSpPr/>
          <p:nvPr/>
        </p:nvSpPr>
        <p:spPr>
          <a:xfrm>
            <a:off x="515925" y="7246756"/>
            <a:ext cx="14287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Shape 89"/>
          <p:cNvSpPr/>
          <p:nvPr/>
        </p:nvSpPr>
        <p:spPr>
          <a:xfrm>
            <a:off x="174621" y="7540436"/>
            <a:ext cx="269868" cy="0"/>
          </a:xfrm>
          <a:prstGeom prst="line">
            <a:avLst/>
          </a:prstGeom>
          <a:noFill/>
          <a:ln w="19050">
            <a:solidFill>
              <a:srgbClr val="0D2A55"/>
            </a:solidFill>
            <a:prstDash val="dash"/>
          </a:ln>
        </p:spPr>
      </p:sp>
      <p:sp>
        <p:nvSpPr>
          <p:cNvPr id="117" name="Text 90"/>
          <p:cNvSpPr/>
          <p:nvPr/>
        </p:nvSpPr>
        <p:spPr>
          <a:xfrm>
            <a:off x="515925" y="7461063"/>
            <a:ext cx="1428714" cy="174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Sensor Data 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Image 25" descr="assets/t_ca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8056" y="6810205"/>
            <a:ext cx="3174921" cy="1111222"/>
          </a:xfrm>
          <a:prstGeom prst="rect">
            <a:avLst/>
          </a:prstGeom>
        </p:spPr>
      </p:pic>
      <p:sp>
        <p:nvSpPr>
          <p:cNvPr id="119" name="Shape 91"/>
          <p:cNvSpPr/>
          <p:nvPr/>
        </p:nvSpPr>
        <p:spPr>
          <a:xfrm>
            <a:off x="7262631" y="6254594"/>
            <a:ext cx="4802067" cy="1587460"/>
          </a:xfrm>
          <a:prstGeom prst="roundRect">
            <a:avLst>
              <a:gd name="adj" fmla="val 3456"/>
            </a:avLst>
          </a:prstGeom>
          <a:solidFill>
            <a:srgbClr val="F7F9FC"/>
          </a:solidFill>
          <a:ln w="19050">
            <a:solidFill>
              <a:srgbClr val="1B3B6F"/>
            </a:solidFill>
            <a:prstDash val="solid"/>
          </a:ln>
        </p:spPr>
      </p:sp>
      <p:sp>
        <p:nvSpPr>
          <p:cNvPr id="120" name="Text 92"/>
          <p:cNvSpPr/>
          <p:nvPr/>
        </p:nvSpPr>
        <p:spPr>
          <a:xfrm>
            <a:off x="7262631" y="6302217"/>
            <a:ext cx="4802067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A5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VEHICLE OUTPUT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1" name="Image 26" descr="assets/t_lanekee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1377" y="6572086"/>
            <a:ext cx="793730" cy="634984"/>
          </a:xfrm>
          <a:prstGeom prst="rect">
            <a:avLst/>
          </a:prstGeom>
        </p:spPr>
      </p:pic>
      <p:sp>
        <p:nvSpPr>
          <p:cNvPr id="122" name="Text 93"/>
          <p:cNvSpPr/>
          <p:nvPr/>
        </p:nvSpPr>
        <p:spPr>
          <a:xfrm>
            <a:off x="7342004" y="7207070"/>
            <a:ext cx="952476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Keeping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" name="Image 27" descr="assets/t_obstacleavoi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73853" y="6572086"/>
            <a:ext cx="793730" cy="634984"/>
          </a:xfrm>
          <a:prstGeom prst="rect">
            <a:avLst/>
          </a:prstGeom>
        </p:spPr>
      </p:pic>
      <p:sp>
        <p:nvSpPr>
          <p:cNvPr id="124" name="Text 94"/>
          <p:cNvSpPr/>
          <p:nvPr/>
        </p:nvSpPr>
        <p:spPr>
          <a:xfrm>
            <a:off x="8294480" y="7207070"/>
            <a:ext cx="952476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Obstacle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Avoidance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5" name="Image 28" descr="assets/t_speedcontro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6329" y="6572086"/>
            <a:ext cx="793730" cy="634984"/>
          </a:xfrm>
          <a:prstGeom prst="rect">
            <a:avLst/>
          </a:prstGeom>
        </p:spPr>
      </p:pic>
      <p:sp>
        <p:nvSpPr>
          <p:cNvPr id="126" name="Text 95"/>
          <p:cNvSpPr/>
          <p:nvPr/>
        </p:nvSpPr>
        <p:spPr>
          <a:xfrm>
            <a:off x="9246956" y="7207070"/>
            <a:ext cx="952476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Speed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7" name="Image 29" descr="assets/t_traffics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39119" y="6572086"/>
            <a:ext cx="793730" cy="634984"/>
          </a:xfrm>
          <a:prstGeom prst="rect">
            <a:avLst/>
          </a:prstGeom>
        </p:spPr>
      </p:pic>
      <p:sp>
        <p:nvSpPr>
          <p:cNvPr id="128" name="Text 96"/>
          <p:cNvSpPr/>
          <p:nvPr/>
        </p:nvSpPr>
        <p:spPr>
          <a:xfrm>
            <a:off x="10159746" y="7207070"/>
            <a:ext cx="952476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Traffic Sign &amp;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Light Recognition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Image 30" descr="assets/t_safenav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50341" y="6572086"/>
            <a:ext cx="793730" cy="634984"/>
          </a:xfrm>
          <a:prstGeom prst="rect">
            <a:avLst/>
          </a:prstGeom>
        </p:spPr>
      </p:pic>
      <p:sp>
        <p:nvSpPr>
          <p:cNvPr id="130" name="Text 97"/>
          <p:cNvSpPr/>
          <p:nvPr/>
        </p:nvSpPr>
        <p:spPr>
          <a:xfrm>
            <a:off x="11270968" y="7207070"/>
            <a:ext cx="952476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Safe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Navigation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Shape 99"/>
          <p:cNvSpPr/>
          <p:nvPr/>
        </p:nvSpPr>
        <p:spPr>
          <a:xfrm>
            <a:off x="8873902" y="2500249"/>
            <a:ext cx="215651" cy="7937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sp>
        <p:nvSpPr>
          <p:cNvPr id="133" name="Shape 100"/>
          <p:cNvSpPr/>
          <p:nvPr/>
        </p:nvSpPr>
        <p:spPr>
          <a:xfrm>
            <a:off x="5397365" y="4309955"/>
            <a:ext cx="0" cy="190495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sp>
        <p:nvSpPr>
          <p:cNvPr id="134" name="Shape 101"/>
          <p:cNvSpPr/>
          <p:nvPr/>
        </p:nvSpPr>
        <p:spPr>
          <a:xfrm>
            <a:off x="7437252" y="5278306"/>
            <a:ext cx="1547774" cy="0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sp>
        <p:nvSpPr>
          <p:cNvPr id="135" name="Shape 102"/>
          <p:cNvSpPr/>
          <p:nvPr/>
        </p:nvSpPr>
        <p:spPr>
          <a:xfrm>
            <a:off x="10532799" y="3905152"/>
            <a:ext cx="0" cy="87310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sp>
        <p:nvSpPr>
          <p:cNvPr id="136" name="Shape 103"/>
          <p:cNvSpPr/>
          <p:nvPr/>
        </p:nvSpPr>
        <p:spPr>
          <a:xfrm>
            <a:off x="10532799" y="6016475"/>
            <a:ext cx="0" cy="214307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sp>
        <p:nvSpPr>
          <p:cNvPr id="137" name="Shape 104"/>
          <p:cNvSpPr/>
          <p:nvPr/>
        </p:nvSpPr>
        <p:spPr>
          <a:xfrm>
            <a:off x="5992663" y="7365816"/>
            <a:ext cx="1246156" cy="0"/>
          </a:xfrm>
          <a:prstGeom prst="line">
            <a:avLst/>
          </a:prstGeom>
          <a:noFill/>
          <a:ln w="28575">
            <a:solidFill>
              <a:srgbClr val="0D2A55"/>
            </a:solidFill>
            <a:prstDash val="solid"/>
            <a:tailEnd type="triangle"/>
          </a:ln>
        </p:spPr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10219C2E-AD21-93FA-9610-B15973E5593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35686" y="1640212"/>
            <a:ext cx="753891" cy="780665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79A827B3-8A3B-2C7A-FD10-A6F000FE5C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5634" y="1639053"/>
            <a:ext cx="1055661" cy="781824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5E8F4A14-B9A5-3821-115C-3EE8301C521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09803" y="1546846"/>
            <a:ext cx="873105" cy="934302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CC219F3B-1ABE-E734-FF24-49B58A81B51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9591" y="1563650"/>
            <a:ext cx="888979" cy="896914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1EB2EC78-3203-C6C3-A225-DF7C4983937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55584" y="1551943"/>
            <a:ext cx="846584" cy="920593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F9E17DB-34D2-0724-A654-5951BBDFBA2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9326" y="888977"/>
            <a:ext cx="931896" cy="89691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D5BAD670-9699-54C9-176B-14069A11580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1885" y="1953996"/>
            <a:ext cx="838243" cy="844593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A44A8499-6809-DC41-AF0A-6A9B623BAEE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4148" y="3032049"/>
            <a:ext cx="939848" cy="825542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D4D060D3-9EE8-6E5E-5B00-666BCA2A191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0861" y="4143271"/>
            <a:ext cx="819192" cy="749339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737B7A73-C727-6DB7-F06F-82A75C49054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0861" y="5148069"/>
            <a:ext cx="958899" cy="844593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09C923B2-BB4F-02E4-AC09-31B31A3A715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37002" y="6495701"/>
            <a:ext cx="387370" cy="247663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D1B4555E-3EC8-6D3A-F6B7-DD303A9FF58D}"/>
              </a:ext>
            </a:extLst>
          </p:cNvPr>
          <p:cNvSpPr txBox="1"/>
          <p:nvPr/>
        </p:nvSpPr>
        <p:spPr>
          <a:xfrm>
            <a:off x="1202372" y="5557381"/>
            <a:ext cx="9645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&amp; Orientation</a:t>
            </a: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7EB2C3BF-12DD-644E-A557-0A981CB59228}"/>
              </a:ext>
            </a:extLst>
          </p:cNvPr>
          <p:cNvCxnSpPr>
            <a:cxnSpLocks/>
          </p:cNvCxnSpPr>
          <p:nvPr/>
        </p:nvCxnSpPr>
        <p:spPr>
          <a:xfrm>
            <a:off x="1749370" y="927055"/>
            <a:ext cx="914400" cy="914400"/>
          </a:xfrm>
          <a:prstGeom prst="bentConnector3">
            <a:avLst>
              <a:gd name="adj1" fmla="val 6777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CC88148F-1A02-DFB1-BED3-922FED0CD4A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087511" y="2420877"/>
            <a:ext cx="302170" cy="1023912"/>
          </a:xfrm>
          <a:prstGeom prst="bent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294BDCCE-1937-A762-3AA2-0E318DF06399}"/>
              </a:ext>
            </a:extLst>
          </p:cNvPr>
          <p:cNvCxnSpPr>
            <a:cxnSpLocks/>
          </p:cNvCxnSpPr>
          <p:nvPr/>
        </p:nvCxnSpPr>
        <p:spPr>
          <a:xfrm flipV="1">
            <a:off x="2166883" y="2103385"/>
            <a:ext cx="476238" cy="35717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5F79018C-E28A-476E-E580-D28E88145D90}"/>
              </a:ext>
            </a:extLst>
          </p:cNvPr>
          <p:cNvCxnSpPr>
            <a:endCxn id="66" idx="1"/>
          </p:cNvCxnSpPr>
          <p:nvPr/>
        </p:nvCxnSpPr>
        <p:spPr>
          <a:xfrm>
            <a:off x="2119260" y="4524262"/>
            <a:ext cx="777855" cy="754044"/>
          </a:xfrm>
          <a:prstGeom prst="bentConnector3">
            <a:avLst/>
          </a:prstGeom>
          <a:ln w="9525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5FCE075-4606-3A26-D65C-C26ACEA1AF46}"/>
              </a:ext>
            </a:extLst>
          </p:cNvPr>
          <p:cNvCxnSpPr>
            <a:cxnSpLocks/>
          </p:cNvCxnSpPr>
          <p:nvPr/>
        </p:nvCxnSpPr>
        <p:spPr>
          <a:xfrm>
            <a:off x="2166883" y="5595798"/>
            <a:ext cx="2333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416348CF-C2B9-8FCD-D224-4056FC8F7DA7}"/>
              </a:ext>
            </a:extLst>
          </p:cNvPr>
          <p:cNvCxnSpPr>
            <a:cxnSpLocks/>
          </p:cNvCxnSpPr>
          <p:nvPr/>
        </p:nvCxnSpPr>
        <p:spPr>
          <a:xfrm>
            <a:off x="2166883" y="6065853"/>
            <a:ext cx="2682808" cy="4839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5FA9FF9-D66F-42C3-11CC-6A04D601BB60}"/>
              </a:ext>
            </a:extLst>
          </p:cNvPr>
          <p:cNvCxnSpPr>
            <a:cxnSpLocks/>
          </p:cNvCxnSpPr>
          <p:nvPr/>
        </p:nvCxnSpPr>
        <p:spPr>
          <a:xfrm flipH="1" flipV="1">
            <a:off x="2378527" y="3921027"/>
            <a:ext cx="11154" cy="167477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90B27F95-006F-560B-2184-3179B8EEBB3B}"/>
              </a:ext>
            </a:extLst>
          </p:cNvPr>
          <p:cNvCxnSpPr>
            <a:cxnSpLocks/>
          </p:cNvCxnSpPr>
          <p:nvPr/>
        </p:nvCxnSpPr>
        <p:spPr>
          <a:xfrm>
            <a:off x="2378527" y="3921027"/>
            <a:ext cx="399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EAEA1A2-AF65-6403-CDF8-F6BF973E3C4E}"/>
              </a:ext>
            </a:extLst>
          </p:cNvPr>
          <p:cNvCxnSpPr>
            <a:cxnSpLocks/>
          </p:cNvCxnSpPr>
          <p:nvPr/>
        </p:nvCxnSpPr>
        <p:spPr>
          <a:xfrm>
            <a:off x="2400229" y="5595798"/>
            <a:ext cx="0" cy="30955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49DA6C01-03A4-C277-DC7F-78FA627708BC}"/>
              </a:ext>
            </a:extLst>
          </p:cNvPr>
          <p:cNvCxnSpPr/>
          <p:nvPr/>
        </p:nvCxnSpPr>
        <p:spPr>
          <a:xfrm flipV="1">
            <a:off x="2400229" y="5905351"/>
            <a:ext cx="49688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2" name="Arrow: Up 241">
            <a:extLst>
              <a:ext uri="{FF2B5EF4-FFF2-40B4-BE49-F238E27FC236}">
                <a16:creationId xmlns:a16="http://schemas.microsoft.com/office/drawing/2014/main" id="{DDBA5956-E5B2-A70B-1C28-9BDD3AE8A151}"/>
              </a:ext>
            </a:extLst>
          </p:cNvPr>
          <p:cNvSpPr/>
          <p:nvPr/>
        </p:nvSpPr>
        <p:spPr>
          <a:xfrm>
            <a:off x="4992564" y="6065853"/>
            <a:ext cx="331808" cy="4146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4" name="Picture 243">
            <a:extLst>
              <a:ext uri="{FF2B5EF4-FFF2-40B4-BE49-F238E27FC236}">
                <a16:creationId xmlns:a16="http://schemas.microsoft.com/office/drawing/2014/main" id="{5FA2131A-AB22-171D-39BD-2E694CBCE84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06798" y="6573667"/>
            <a:ext cx="285765" cy="139707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EABDB59D-5521-D1E8-8AC9-2CFD93AA0F5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89252" y="3240756"/>
            <a:ext cx="606201" cy="513588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C488F56A-BF3E-75BA-24B2-8D2EC2C6367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213581" y="2604904"/>
            <a:ext cx="501676" cy="387370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9C634774-40F4-F014-1870-D65B774D5C3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251680" y="1938276"/>
            <a:ext cx="495325" cy="330217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F8B8ECA2-CDAA-5546-D98D-D3A5CC00C92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27897" y="1207892"/>
            <a:ext cx="744253" cy="44164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4141EDA-F29D-91D0-5563-68905BA25750}"/>
              </a:ext>
            </a:extLst>
          </p:cNvPr>
          <p:cNvCxnSpPr>
            <a:cxnSpLocks/>
          </p:cNvCxnSpPr>
          <p:nvPr/>
        </p:nvCxnSpPr>
        <p:spPr>
          <a:xfrm flipV="1">
            <a:off x="7412634" y="3727792"/>
            <a:ext cx="1687482" cy="1096698"/>
          </a:xfrm>
          <a:prstGeom prst="bentConnector3">
            <a:avLst>
              <a:gd name="adj1" fmla="val 6565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F251F8-A013-5DC0-BA1A-30E5FF082B26}"/>
              </a:ext>
            </a:extLst>
          </p:cNvPr>
          <p:cNvSpPr txBox="1"/>
          <p:nvPr/>
        </p:nvSpPr>
        <p:spPr>
          <a:xfrm>
            <a:off x="2397760" y="1440934"/>
            <a:ext cx="7721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Autonomous Vehicle Perception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EE9B6-BD51-2607-196D-04B29851B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7" y="321818"/>
            <a:ext cx="97091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D16AC1-EBCC-29C9-F4E8-C125BCEB92B7}"/>
              </a:ext>
            </a:extLst>
          </p:cNvPr>
          <p:cNvSpPr txBox="1"/>
          <p:nvPr/>
        </p:nvSpPr>
        <p:spPr>
          <a:xfrm>
            <a:off x="2072640" y="2783840"/>
            <a:ext cx="8902637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sensors to collect environmental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Camera, LiDAR, Radar, GPS, and IMU provide different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are pre-processed to improve quality.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module detects lanes, vehicles, pedestrians, and traffic signs.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identifies the vehicle's position.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decides the safest route.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module executes steering, braking, and acceleration.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ensures safe autonomous navigation.</a:t>
            </a:r>
          </a:p>
        </p:txBody>
      </p:sp>
    </p:spTree>
    <p:extLst>
      <p:ext uri="{BB962C8B-B14F-4D97-AF65-F5344CB8AC3E}">
        <p14:creationId xmlns:p14="http://schemas.microsoft.com/office/powerpoint/2010/main" val="359969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4C49D8-1AAE-7D5F-E881-4B8C0AC0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7" y="321818"/>
            <a:ext cx="97091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319473-E2B7-C914-8F95-E6E5AE9FF465}"/>
              </a:ext>
            </a:extLst>
          </p:cNvPr>
          <p:cNvSpPr txBox="1"/>
          <p:nvPr/>
        </p:nvSpPr>
        <p:spPr>
          <a:xfrm>
            <a:off x="1960880" y="1261618"/>
            <a:ext cx="8801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Choice vs Real-Time Constraints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AD076C-45E3-C3A9-B2EF-272CC2E1974F}"/>
              </a:ext>
            </a:extLst>
          </p:cNvPr>
          <p:cNvSpPr txBox="1"/>
          <p:nvPr/>
        </p:nvSpPr>
        <p:spPr>
          <a:xfrm>
            <a:off x="768286" y="2219903"/>
            <a:ext cx="6181153" cy="558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Choice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📷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road images and traffic signs.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low-light conditions.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3D distance.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sensor.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📶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in rain and fog.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image resolution.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🛰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+ IMU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location, speed, and vehicle orientation.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localization accuracy.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E984B-66BC-692C-40C8-1C3D525ADBF4}"/>
              </a:ext>
            </a:extLst>
          </p:cNvPr>
          <p:cNvSpPr txBox="1"/>
          <p:nvPr/>
        </p:nvSpPr>
        <p:spPr>
          <a:xfrm>
            <a:off x="6756400" y="3263442"/>
            <a:ext cx="50533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image quality improves detection but increases processing time.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enables quick decisions but may reduce accuracy.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improves reliability but requires more computational power.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344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8FBB5-0D5B-A324-CC5D-CC83B47D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7" y="321818"/>
            <a:ext cx="97091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108824-40B3-1966-9404-22C52ED11879}"/>
              </a:ext>
            </a:extLst>
          </p:cNvPr>
          <p:cNvSpPr txBox="1"/>
          <p:nvPr/>
        </p:nvSpPr>
        <p:spPr>
          <a:xfrm>
            <a:off x="2783840" y="1545606"/>
            <a:ext cx="705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Constraint Trade-offs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876E8-C1AF-3B39-0AF4-38D986E826B8}"/>
              </a:ext>
            </a:extLst>
          </p:cNvPr>
          <p:cNvSpPr txBox="1"/>
          <p:nvPr/>
        </p:nvSpPr>
        <p:spPr>
          <a:xfrm>
            <a:off x="1407160" y="2394646"/>
            <a:ext cx="10088880" cy="470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images improve accuracy but increase processing time.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performance decreases in low-light conditions.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provides accurate depth but is expensive.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performs well in bad weather but offers lower image detail.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improves reliability but requires higher computation.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sensors improve perception accuracy.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enhances object detection.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balance between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speed, and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 perception enables safe and intelligent driving.</a:t>
            </a:r>
          </a:p>
        </p:txBody>
      </p:sp>
    </p:spTree>
    <p:extLst>
      <p:ext uri="{BB962C8B-B14F-4D97-AF65-F5344CB8AC3E}">
        <p14:creationId xmlns:p14="http://schemas.microsoft.com/office/powerpoint/2010/main" val="253792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DFF83-926B-5EF3-C14B-3C4A3B8D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7" y="321818"/>
            <a:ext cx="97091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6A2187-9C8E-53D5-C307-64ACBB47FB7A}"/>
              </a:ext>
            </a:extLst>
          </p:cNvPr>
          <p:cNvSpPr txBox="1"/>
          <p:nvPr/>
        </p:nvSpPr>
        <p:spPr>
          <a:xfrm>
            <a:off x="4090607" y="3617724"/>
            <a:ext cx="934091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1355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402</Words>
  <Application>Microsoft Office PowerPoint</Application>
  <PresentationFormat>Custom</PresentationFormat>
  <Paragraphs>114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yashu reddy</cp:lastModifiedBy>
  <cp:revision>6</cp:revision>
  <dcterms:created xsi:type="dcterms:W3CDTF">2026-07-15T05:31:51Z</dcterms:created>
  <dcterms:modified xsi:type="dcterms:W3CDTF">2026-07-17T05:13:48Z</dcterms:modified>
</cp:coreProperties>
</file>